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D9488"/>
          </a:solidFill>
          <a:ln w="12700">
            <a:solidFill>
              <a:srgbClr val="000000"/>
            </a:solidFill>
            <a:prstDash val="solid"/>
          </a:ln>
        </p:spPr>
      </p:sp>
      <p:sp>
        <p:nvSpPr>
          <p:cNvPr id="3" name="Shape 1"/>
          <p:cNvSpPr/>
          <p:nvPr/>
        </p:nvSpPr>
        <p:spPr>
          <a:xfrm>
            <a:off x="6217920" y="-1097280"/>
            <a:ext cx="4114800" cy="4114800"/>
          </a:xfrm>
          <a:prstGeom prst="ellipse">
            <a:avLst/>
          </a:prstGeom>
          <a:solidFill>
            <a:srgbClr val="0D9488">
              <a:alpha val="12000"/>
            </a:srgbClr>
          </a:solidFill>
          <a:ln w="12700">
            <a:solidFill>
              <a:srgbClr val="000000"/>
            </a:solidFill>
            <a:prstDash val="solid"/>
          </a:ln>
        </p:spPr>
      </p:sp>
      <p:sp>
        <p:nvSpPr>
          <p:cNvPr id="4" name="Shape 2"/>
          <p:cNvSpPr/>
          <p:nvPr/>
        </p:nvSpPr>
        <p:spPr>
          <a:xfrm>
            <a:off x="6858000" y="2011680"/>
            <a:ext cx="2743200" cy="2743200"/>
          </a:xfrm>
          <a:prstGeom prst="ellipse">
            <a:avLst/>
          </a:prstGeom>
          <a:solidFill>
            <a:srgbClr val="0D9488">
              <a:alpha val="8000"/>
            </a:srgbClr>
          </a:solidFill>
          <a:ln w="12700">
            <a:solidFill>
              <a:srgbClr val="000000"/>
            </a:solidFill>
            <a:prstDash val="solid"/>
          </a:ln>
        </p:spPr>
      </p:sp>
      <p:sp>
        <p:nvSpPr>
          <p:cNvPr id="5" name="Shape 3"/>
          <p:cNvSpPr/>
          <p:nvPr/>
        </p:nvSpPr>
        <p:spPr>
          <a:xfrm>
            <a:off x="502920" y="502920"/>
            <a:ext cx="2377440" cy="274320"/>
          </a:xfrm>
          <a:prstGeom prst="rect">
            <a:avLst>
              <a:gd name="adj" fmla="val 13333"/>
            </a:avLst>
          </a:prstGeom>
          <a:solidFill>
            <a:srgbClr val="0D9488"/>
          </a:solidFill>
          <a:ln w="12700">
            <a:solidFill>
              <a:srgbClr val="000000"/>
            </a:solidFill>
            <a:prstDash val="solid"/>
          </a:ln>
        </p:spPr>
      </p:sp>
      <p:sp>
        <p:nvSpPr>
          <p:cNvPr id="6" name="Text 4"/>
          <p:cNvSpPr/>
          <p:nvPr/>
        </p:nvSpPr>
        <p:spPr>
          <a:xfrm>
            <a:off x="502920" y="502920"/>
            <a:ext cx="2377440" cy="274320"/>
          </a:xfrm>
          <a:prstGeom prst="rect">
            <a:avLst/>
          </a:prstGeom>
          <a:noFill/>
          <a:ln/>
        </p:spPr>
        <p:txBody>
          <a:bodyPr wrap="square" lIns="0" tIns="0" rIns="0" bIns="0" rtlCol="0" anchor="ctr"/>
          <a:lstStyle/>
          <a:p>
            <a:pPr algn="ctr" indent="0" marL="0">
              <a:buNone/>
            </a:pPr>
            <a:r>
              <a:rPr lang="en-US" sz="800" b="1" dirty="0">
                <a:solidFill>
                  <a:srgbClr val="FFFFFF"/>
                </a:solidFill>
              </a:rPr>
              <a:t>SESSION DE FORMATION</a:t>
            </a:r>
            <a:endParaRPr lang="en-US" sz="800" dirty="0"/>
          </a:p>
        </p:txBody>
      </p:sp>
      <p:sp>
        <p:nvSpPr>
          <p:cNvPr id="7" name="Text 5"/>
          <p:cNvSpPr/>
          <p:nvPr/>
        </p:nvSpPr>
        <p:spPr>
          <a:xfrm>
            <a:off x="502920" y="960120"/>
            <a:ext cx="6858000" cy="1371600"/>
          </a:xfrm>
          <a:prstGeom prst="rect">
            <a:avLst/>
          </a:prstGeom>
          <a:noFill/>
          <a:ln/>
        </p:spPr>
        <p:txBody>
          <a:bodyPr wrap="square" rtlCol="0" anchor="ctr"/>
          <a:lstStyle/>
          <a:p>
            <a:pPr algn="l" indent="0" marL="0">
              <a:buNone/>
            </a:pPr>
            <a:r>
              <a:rPr lang="en-US" sz="3800" b="1" dirty="0">
                <a:solidFill>
                  <a:srgbClr val="FFFFFF"/>
                </a:solidFill>
              </a:rPr>
              <a:t>Un outil IA pour l'assistance</a:t>
            </a:r>
            <a:endParaRPr lang="en-US" sz="3800" dirty="0"/>
          </a:p>
          <a:p>
            <a:pPr algn="l" indent="0" marL="0">
              <a:buNone/>
            </a:pPr>
            <a:r>
              <a:rPr lang="en-US" sz="3800" b="1" dirty="0">
                <a:solidFill>
                  <a:srgbClr val="FFFFFF"/>
                </a:solidFill>
              </a:rPr>
              <a:t>technique STM32</a:t>
            </a:r>
            <a:endParaRPr lang="en-US" sz="3800" dirty="0"/>
          </a:p>
        </p:txBody>
      </p:sp>
      <p:sp>
        <p:nvSpPr>
          <p:cNvPr id="8" name="Text 6"/>
          <p:cNvSpPr/>
          <p:nvPr/>
        </p:nvSpPr>
        <p:spPr>
          <a:xfrm>
            <a:off x="502920" y="2423160"/>
            <a:ext cx="6858000" cy="822960"/>
          </a:xfrm>
          <a:prstGeom prst="rect">
            <a:avLst/>
          </a:prstGeom>
          <a:noFill/>
          <a:ln/>
        </p:spPr>
        <p:txBody>
          <a:bodyPr wrap="square" rtlCol="0" anchor="ctr"/>
          <a:lstStyle/>
          <a:p>
            <a:pPr algn="l" indent="0" marL="0">
              <a:buNone/>
            </a:pPr>
            <a:r>
              <a:rPr lang="en-US" sz="1400" dirty="0">
                <a:solidFill>
                  <a:srgbClr val="99F6E4"/>
                </a:solidFill>
              </a:rPr>
              <a:t>De la donnée GitHub brute à une réponse technique précise :</a:t>
            </a:r>
            <a:endParaRPr lang="en-US" sz="1400" dirty="0"/>
          </a:p>
          <a:p>
            <a:pPr algn="l" indent="0" marL="0">
              <a:buNone/>
            </a:pPr>
            <a:r>
              <a:rPr lang="en-US" sz="1400" dirty="0">
                <a:solidFill>
                  <a:srgbClr val="99F6E4"/>
                </a:solidFill>
              </a:rPr>
              <a:t>comprendre comment ça marche, étape par étape.</a:t>
            </a:r>
            <a:endParaRPr lang="en-US" sz="1400" dirty="0"/>
          </a:p>
        </p:txBody>
      </p:sp>
      <p:sp>
        <p:nvSpPr>
          <p:cNvPr id="9" name="Shape 7"/>
          <p:cNvSpPr/>
          <p:nvPr/>
        </p:nvSpPr>
        <p:spPr>
          <a:xfrm>
            <a:off x="0" y="4709160"/>
            <a:ext cx="9144000" cy="434340"/>
          </a:xfrm>
          <a:prstGeom prst="rect">
            <a:avLst/>
          </a:prstGeom>
          <a:solidFill>
            <a:srgbClr val="152232"/>
          </a:solidFill>
          <a:ln w="12700">
            <a:solidFill>
              <a:srgbClr val="000000"/>
            </a:solidFill>
            <a:prstDash val="solid"/>
          </a:ln>
        </p:spPr>
      </p:sp>
      <p:sp>
        <p:nvSpPr>
          <p:cNvPr id="10" name="Text 8"/>
          <p:cNvSpPr/>
          <p:nvPr/>
        </p:nvSpPr>
        <p:spPr>
          <a:xfrm>
            <a:off x="502920" y="4736592"/>
            <a:ext cx="8412480" cy="292608"/>
          </a:xfrm>
          <a:prstGeom prst="rect">
            <a:avLst/>
          </a:prstGeom>
          <a:noFill/>
          <a:ln/>
        </p:spPr>
        <p:txBody>
          <a:bodyPr wrap="square" lIns="0" tIns="0" rIns="0" bIns="0" rtlCol="0" anchor="ctr"/>
          <a:lstStyle/>
          <a:p>
            <a:pPr algn="l" indent="0" marL="0">
              <a:buNone/>
            </a:pPr>
            <a:r>
              <a:rPr lang="en-US" sz="900" dirty="0">
                <a:solidFill>
                  <a:srgbClr val="CBD5E1"/>
                </a:solidFill>
              </a:rPr>
              <a:t>STMicroelectronics Tunis   |   Abir GHARBI   |   Encadrant : AMAMOU Mohamed Ridha   |   Mai 2025</a:t>
            </a:r>
            <a:endParaRPr lang="en-US" sz="900" dirty="0"/>
          </a:p>
        </p:txBody>
      </p:sp>
      <p:pic>
        <p:nvPicPr>
          <p:cNvPr id="11" name="Image 0" descr="preencoded.png">    </p:cNvPr>
          <p:cNvPicPr>
            <a:picLocks noChangeAspect="1"/>
          </p:cNvPicPr>
          <p:nvPr/>
        </p:nvPicPr>
        <p:blipFill>
          <a:blip r:embed="rId1"/>
          <a:stretch>
            <a:fillRect/>
          </a:stretch>
        </p:blipFill>
        <p:spPr>
          <a:xfrm>
            <a:off x="7772400" y="3474720"/>
            <a:ext cx="502920" cy="502920"/>
          </a:xfrm>
          <a:prstGeom prst="rect">
            <a:avLst/>
          </a:prstGeom>
        </p:spPr>
      </p:pic>
      <p:sp>
        <p:nvSpPr>
          <p:cNvPr id="12" name="Text 9"/>
          <p:cNvSpPr/>
          <p:nvPr/>
        </p:nvSpPr>
        <p:spPr>
          <a:xfrm>
            <a:off x="6492240" y="3493008"/>
            <a:ext cx="2423160" cy="274320"/>
          </a:xfrm>
          <a:prstGeom prst="rect">
            <a:avLst/>
          </a:prstGeom>
          <a:noFill/>
          <a:ln/>
        </p:spPr>
        <p:txBody>
          <a:bodyPr wrap="square" lIns="0" tIns="0" rIns="0" bIns="0" rtlCol="0" anchor="ctr"/>
          <a:lstStyle/>
          <a:p>
            <a:pPr algn="r" indent="0" marL="0">
              <a:buNone/>
            </a:pPr>
            <a:r>
              <a:rPr lang="en-US" sz="900" dirty="0">
                <a:solidFill>
                  <a:srgbClr val="99F6E4"/>
                </a:solidFill>
              </a:rPr>
              <a:t>Audience : Equipe Support &amp; Maintenance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Au programme aujourd'hui</a:t>
            </a:r>
            <a:endParaRPr lang="en-US" sz="2600" dirty="0"/>
          </a:p>
        </p:txBody>
      </p:sp>
      <p:sp>
        <p:nvSpPr>
          <p:cNvPr id="3" name="Text 1"/>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8 étapes pour comprendre l'outil de A à Z</a:t>
            </a:r>
            <a:endParaRPr lang="en-US" sz="1200" dirty="0"/>
          </a:p>
        </p:txBody>
      </p:sp>
      <p:sp>
        <p:nvSpPr>
          <p:cNvPr id="4" name="Shape 2"/>
          <p:cNvSpPr/>
          <p:nvPr/>
        </p:nvSpPr>
        <p:spPr>
          <a:xfrm>
            <a:off x="457200" y="987552"/>
            <a:ext cx="8229600" cy="22860"/>
          </a:xfrm>
          <a:prstGeom prst="rect">
            <a:avLst/>
          </a:prstGeom>
          <a:solidFill>
            <a:srgbClr val="CBD5E1"/>
          </a:solidFill>
          <a:ln w="12700">
            <a:solidFill>
              <a:srgbClr val="000000"/>
            </a:solidFill>
            <a:prstDash val="solid"/>
          </a:ln>
        </p:spPr>
      </p:sp>
      <p:sp>
        <p:nvSpPr>
          <p:cNvPr id="5" name="Shape 3"/>
          <p:cNvSpPr/>
          <p:nvPr/>
        </p:nvSpPr>
        <p:spPr>
          <a:xfrm>
            <a:off x="365760" y="1188720"/>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188720"/>
            <a:ext cx="384048" cy="749808"/>
          </a:xfrm>
          <a:prstGeom prst="rect">
            <a:avLst/>
          </a:prstGeom>
          <a:solidFill>
            <a:srgbClr val="0D9488"/>
          </a:solidFill>
          <a:ln w="12700">
            <a:solidFill>
              <a:srgbClr val="000000"/>
            </a:solidFill>
            <a:prstDash val="solid"/>
          </a:ln>
        </p:spPr>
      </p:sp>
      <p:sp>
        <p:nvSpPr>
          <p:cNvPr id="7" name="Text 5"/>
          <p:cNvSpPr/>
          <p:nvPr/>
        </p:nvSpPr>
        <p:spPr>
          <a:xfrm>
            <a:off x="365760" y="1188720"/>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8" name="Text 6"/>
          <p:cNvSpPr/>
          <p:nvPr/>
        </p:nvSpPr>
        <p:spPr>
          <a:xfrm>
            <a:off x="841248" y="1261872"/>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Pourquoi cet outil ?</a:t>
            </a:r>
            <a:endParaRPr lang="en-US" sz="1200" dirty="0"/>
          </a:p>
        </p:txBody>
      </p:sp>
      <p:sp>
        <p:nvSpPr>
          <p:cNvPr id="9" name="Text 7"/>
          <p:cNvSpPr/>
          <p:nvPr/>
        </p:nvSpPr>
        <p:spPr>
          <a:xfrm>
            <a:off x="841248" y="1591056"/>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Le problème que ça résout au quotidien</a:t>
            </a:r>
            <a:endParaRPr lang="en-US" sz="900" dirty="0"/>
          </a:p>
        </p:txBody>
      </p:sp>
      <p:sp>
        <p:nvSpPr>
          <p:cNvPr id="10" name="Shape 8"/>
          <p:cNvSpPr/>
          <p:nvPr/>
        </p:nvSpPr>
        <p:spPr>
          <a:xfrm>
            <a:off x="365760" y="2084832"/>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65760" y="2084832"/>
            <a:ext cx="384048" cy="749808"/>
          </a:xfrm>
          <a:prstGeom prst="rect">
            <a:avLst/>
          </a:prstGeom>
          <a:solidFill>
            <a:srgbClr val="0D9488"/>
          </a:solidFill>
          <a:ln w="12700">
            <a:solidFill>
              <a:srgbClr val="000000"/>
            </a:solidFill>
            <a:prstDash val="solid"/>
          </a:ln>
        </p:spPr>
      </p:sp>
      <p:sp>
        <p:nvSpPr>
          <p:cNvPr id="12" name="Text 10"/>
          <p:cNvSpPr/>
          <p:nvPr/>
        </p:nvSpPr>
        <p:spPr>
          <a:xfrm>
            <a:off x="365760" y="2084832"/>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3" name="Text 11"/>
          <p:cNvSpPr/>
          <p:nvPr/>
        </p:nvSpPr>
        <p:spPr>
          <a:xfrm>
            <a:off x="841248" y="2157984"/>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C'est quoi l'IA ici ?</a:t>
            </a:r>
            <a:endParaRPr lang="en-US" sz="1200" dirty="0"/>
          </a:p>
        </p:txBody>
      </p:sp>
      <p:sp>
        <p:nvSpPr>
          <p:cNvPr id="14" name="Text 12"/>
          <p:cNvSpPr/>
          <p:nvPr/>
        </p:nvSpPr>
        <p:spPr>
          <a:xfrm>
            <a:off x="841248" y="2487168"/>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Explication simple : pas de magie, juste de la logique</a:t>
            </a:r>
            <a:endParaRPr lang="en-US" sz="900" dirty="0"/>
          </a:p>
        </p:txBody>
      </p:sp>
      <p:sp>
        <p:nvSpPr>
          <p:cNvPr id="15" name="Shape 13"/>
          <p:cNvSpPr/>
          <p:nvPr/>
        </p:nvSpPr>
        <p:spPr>
          <a:xfrm>
            <a:off x="365760" y="2980944"/>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365760" y="2980944"/>
            <a:ext cx="384048" cy="749808"/>
          </a:xfrm>
          <a:prstGeom prst="rect">
            <a:avLst/>
          </a:prstGeom>
          <a:solidFill>
            <a:srgbClr val="0D9488"/>
          </a:solidFill>
          <a:ln w="12700">
            <a:solidFill>
              <a:srgbClr val="000000"/>
            </a:solidFill>
            <a:prstDash val="solid"/>
          </a:ln>
        </p:spPr>
      </p:sp>
      <p:sp>
        <p:nvSpPr>
          <p:cNvPr id="17" name="Text 15"/>
          <p:cNvSpPr/>
          <p:nvPr/>
        </p:nvSpPr>
        <p:spPr>
          <a:xfrm>
            <a:off x="365760" y="2980944"/>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8" name="Text 16"/>
          <p:cNvSpPr/>
          <p:nvPr/>
        </p:nvSpPr>
        <p:spPr>
          <a:xfrm>
            <a:off x="841248" y="3054096"/>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Les données utilisées</a:t>
            </a:r>
            <a:endParaRPr lang="en-US" sz="1200" dirty="0"/>
          </a:p>
        </p:txBody>
      </p:sp>
      <p:sp>
        <p:nvSpPr>
          <p:cNvPr id="19" name="Text 17"/>
          <p:cNvSpPr/>
          <p:nvPr/>
        </p:nvSpPr>
        <p:spPr>
          <a:xfrm>
            <a:off x="841248" y="3383280"/>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D'où vient l'information, comment elle est organisée</a:t>
            </a:r>
            <a:endParaRPr lang="en-US" sz="900" dirty="0"/>
          </a:p>
        </p:txBody>
      </p:sp>
      <p:sp>
        <p:nvSpPr>
          <p:cNvPr id="20" name="Shape 18"/>
          <p:cNvSpPr/>
          <p:nvPr/>
        </p:nvSpPr>
        <p:spPr>
          <a:xfrm>
            <a:off x="365760" y="3877056"/>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365760" y="3877056"/>
            <a:ext cx="384048" cy="749808"/>
          </a:xfrm>
          <a:prstGeom prst="rect">
            <a:avLst/>
          </a:prstGeom>
          <a:solidFill>
            <a:srgbClr val="F59E0B"/>
          </a:solidFill>
          <a:ln w="12700">
            <a:solidFill>
              <a:srgbClr val="000000"/>
            </a:solidFill>
            <a:prstDash val="solid"/>
          </a:ln>
        </p:spPr>
      </p:sp>
      <p:sp>
        <p:nvSpPr>
          <p:cNvPr id="22" name="Text 20"/>
          <p:cNvSpPr/>
          <p:nvPr/>
        </p:nvSpPr>
        <p:spPr>
          <a:xfrm>
            <a:off x="365760" y="3877056"/>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3" name="Text 21"/>
          <p:cNvSpPr/>
          <p:nvPr/>
        </p:nvSpPr>
        <p:spPr>
          <a:xfrm>
            <a:off x="841248" y="3950208"/>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Le pipeline étape par étape</a:t>
            </a:r>
            <a:endParaRPr lang="en-US" sz="1200" dirty="0"/>
          </a:p>
        </p:txBody>
      </p:sp>
      <p:sp>
        <p:nvSpPr>
          <p:cNvPr id="24" name="Text 22"/>
          <p:cNvSpPr/>
          <p:nvPr/>
        </p:nvSpPr>
        <p:spPr>
          <a:xfrm>
            <a:off x="841248" y="4279392"/>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Nettoyer → Enrichir → Découper → Indexer</a:t>
            </a:r>
            <a:endParaRPr lang="en-US" sz="900" dirty="0"/>
          </a:p>
        </p:txBody>
      </p:sp>
      <p:sp>
        <p:nvSpPr>
          <p:cNvPr id="25" name="Shape 23"/>
          <p:cNvSpPr/>
          <p:nvPr/>
        </p:nvSpPr>
        <p:spPr>
          <a:xfrm>
            <a:off x="4800600" y="1188720"/>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4"/>
          <p:cNvSpPr/>
          <p:nvPr/>
        </p:nvSpPr>
        <p:spPr>
          <a:xfrm>
            <a:off x="4800600" y="1188720"/>
            <a:ext cx="384048" cy="749808"/>
          </a:xfrm>
          <a:prstGeom prst="rect">
            <a:avLst/>
          </a:prstGeom>
          <a:solidFill>
            <a:srgbClr val="F59E0B"/>
          </a:solidFill>
          <a:ln w="12700">
            <a:solidFill>
              <a:srgbClr val="000000"/>
            </a:solidFill>
            <a:prstDash val="solid"/>
          </a:ln>
        </p:spPr>
      </p:sp>
      <p:sp>
        <p:nvSpPr>
          <p:cNvPr id="27" name="Text 25"/>
          <p:cNvSpPr/>
          <p:nvPr/>
        </p:nvSpPr>
        <p:spPr>
          <a:xfrm>
            <a:off x="4800600" y="1188720"/>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28" name="Text 26"/>
          <p:cNvSpPr/>
          <p:nvPr/>
        </p:nvSpPr>
        <p:spPr>
          <a:xfrm>
            <a:off x="5276088" y="1261872"/>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Les résultats mesurés</a:t>
            </a:r>
            <a:endParaRPr lang="en-US" sz="1200" dirty="0"/>
          </a:p>
        </p:txBody>
      </p:sp>
      <p:sp>
        <p:nvSpPr>
          <p:cNvPr id="29" name="Text 27"/>
          <p:cNvSpPr/>
          <p:nvPr/>
        </p:nvSpPr>
        <p:spPr>
          <a:xfrm>
            <a:off x="5276088" y="1591056"/>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50 questions, 26 réponses — ce que ça nous dit</a:t>
            </a:r>
            <a:endParaRPr lang="en-US" sz="900" dirty="0"/>
          </a:p>
        </p:txBody>
      </p:sp>
      <p:sp>
        <p:nvSpPr>
          <p:cNvPr id="30" name="Shape 28"/>
          <p:cNvSpPr/>
          <p:nvPr/>
        </p:nvSpPr>
        <p:spPr>
          <a:xfrm>
            <a:off x="4800600" y="2084832"/>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4800600" y="2084832"/>
            <a:ext cx="384048" cy="749808"/>
          </a:xfrm>
          <a:prstGeom prst="rect">
            <a:avLst/>
          </a:prstGeom>
          <a:solidFill>
            <a:srgbClr val="F59E0B"/>
          </a:solidFill>
          <a:ln w="12700">
            <a:solidFill>
              <a:srgbClr val="000000"/>
            </a:solidFill>
            <a:prstDash val="solid"/>
          </a:ln>
        </p:spPr>
      </p:sp>
      <p:sp>
        <p:nvSpPr>
          <p:cNvPr id="32" name="Text 30"/>
          <p:cNvSpPr/>
          <p:nvPr/>
        </p:nvSpPr>
        <p:spPr>
          <a:xfrm>
            <a:off x="4800600" y="2084832"/>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33" name="Text 31"/>
          <p:cNvSpPr/>
          <p:nvPr/>
        </p:nvSpPr>
        <p:spPr>
          <a:xfrm>
            <a:off x="5276088" y="2157984"/>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Config A vs Config B</a:t>
            </a:r>
            <a:endParaRPr lang="en-US" sz="1200" dirty="0"/>
          </a:p>
        </p:txBody>
      </p:sp>
      <p:sp>
        <p:nvSpPr>
          <p:cNvPr id="34" name="Text 32"/>
          <p:cNvSpPr/>
          <p:nvPr/>
        </p:nvSpPr>
        <p:spPr>
          <a:xfrm>
            <a:off x="5276088" y="2487168"/>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Tester deux versions — laquelle répond mieux ?</a:t>
            </a:r>
            <a:endParaRPr lang="en-US" sz="900" dirty="0"/>
          </a:p>
        </p:txBody>
      </p:sp>
      <p:sp>
        <p:nvSpPr>
          <p:cNvPr id="35" name="Shape 33"/>
          <p:cNvSpPr/>
          <p:nvPr/>
        </p:nvSpPr>
        <p:spPr>
          <a:xfrm>
            <a:off x="4800600" y="2980944"/>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6" name="Shape 34"/>
          <p:cNvSpPr/>
          <p:nvPr/>
        </p:nvSpPr>
        <p:spPr>
          <a:xfrm>
            <a:off x="4800600" y="2980944"/>
            <a:ext cx="384048" cy="749808"/>
          </a:xfrm>
          <a:prstGeom prst="rect">
            <a:avLst/>
          </a:prstGeom>
          <a:solidFill>
            <a:srgbClr val="1B2A3B"/>
          </a:solidFill>
          <a:ln w="12700">
            <a:solidFill>
              <a:srgbClr val="000000"/>
            </a:solidFill>
            <a:prstDash val="solid"/>
          </a:ln>
        </p:spPr>
      </p:sp>
      <p:sp>
        <p:nvSpPr>
          <p:cNvPr id="37" name="Text 35"/>
          <p:cNvSpPr/>
          <p:nvPr/>
        </p:nvSpPr>
        <p:spPr>
          <a:xfrm>
            <a:off x="4800600" y="2980944"/>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38" name="Text 36"/>
          <p:cNvSpPr/>
          <p:nvPr/>
        </p:nvSpPr>
        <p:spPr>
          <a:xfrm>
            <a:off x="5276088" y="3054096"/>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Ce qu'il reste à faire</a:t>
            </a:r>
            <a:endParaRPr lang="en-US" sz="1200" dirty="0"/>
          </a:p>
        </p:txBody>
      </p:sp>
      <p:sp>
        <p:nvSpPr>
          <p:cNvPr id="39" name="Text 37"/>
          <p:cNvSpPr/>
          <p:nvPr/>
        </p:nvSpPr>
        <p:spPr>
          <a:xfrm>
            <a:off x="5276088" y="3383280"/>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Actions concrètes et priorités</a:t>
            </a:r>
            <a:endParaRPr lang="en-US" sz="900" dirty="0"/>
          </a:p>
        </p:txBody>
      </p:sp>
      <p:sp>
        <p:nvSpPr>
          <p:cNvPr id="40" name="Shape 38"/>
          <p:cNvSpPr/>
          <p:nvPr/>
        </p:nvSpPr>
        <p:spPr>
          <a:xfrm>
            <a:off x="4800600" y="3877056"/>
            <a:ext cx="4206240" cy="74980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41" name="Shape 39"/>
          <p:cNvSpPr/>
          <p:nvPr/>
        </p:nvSpPr>
        <p:spPr>
          <a:xfrm>
            <a:off x="4800600" y="3877056"/>
            <a:ext cx="384048" cy="749808"/>
          </a:xfrm>
          <a:prstGeom prst="rect">
            <a:avLst/>
          </a:prstGeom>
          <a:solidFill>
            <a:srgbClr val="1B2A3B"/>
          </a:solidFill>
          <a:ln w="12700">
            <a:solidFill>
              <a:srgbClr val="000000"/>
            </a:solidFill>
            <a:prstDash val="solid"/>
          </a:ln>
        </p:spPr>
      </p:sp>
      <p:sp>
        <p:nvSpPr>
          <p:cNvPr id="42" name="Text 40"/>
          <p:cNvSpPr/>
          <p:nvPr/>
        </p:nvSpPr>
        <p:spPr>
          <a:xfrm>
            <a:off x="4800600" y="3877056"/>
            <a:ext cx="384048" cy="749808"/>
          </a:xfrm>
          <a:prstGeom prst="rect">
            <a:avLst/>
          </a:prstGeom>
          <a:noFill/>
          <a:ln/>
        </p:spPr>
        <p:txBody>
          <a:bodyPr wrap="square" lIns="0" tIns="0" rIns="0" bIns="0" rtlCol="0" anchor="ctr"/>
          <a:lstStyle/>
          <a:p>
            <a:pPr algn="ctr" indent="0" marL="0">
              <a:buNone/>
            </a:pPr>
            <a:r>
              <a:rPr lang="en-US" sz="1300" b="1" dirty="0">
                <a:solidFill>
                  <a:srgbClr val="FFFFFF"/>
                </a:solidFill>
              </a:rPr>
              <a:t>08</a:t>
            </a:r>
            <a:endParaRPr lang="en-US" sz="1300" dirty="0"/>
          </a:p>
        </p:txBody>
      </p:sp>
      <p:sp>
        <p:nvSpPr>
          <p:cNvPr id="43" name="Text 41"/>
          <p:cNvSpPr/>
          <p:nvPr/>
        </p:nvSpPr>
        <p:spPr>
          <a:xfrm>
            <a:off x="5276088" y="3950208"/>
            <a:ext cx="3611880" cy="310896"/>
          </a:xfrm>
          <a:prstGeom prst="rect">
            <a:avLst/>
          </a:prstGeom>
          <a:noFill/>
          <a:ln/>
        </p:spPr>
        <p:txBody>
          <a:bodyPr wrap="square" lIns="0" tIns="0" rIns="0" bIns="0" rtlCol="0" anchor="ctr"/>
          <a:lstStyle/>
          <a:p>
            <a:pPr algn="l" indent="0" marL="0">
              <a:buNone/>
            </a:pPr>
            <a:r>
              <a:rPr lang="en-US" sz="1200" b="1" dirty="0">
                <a:solidFill>
                  <a:srgbClr val="1B2A3B"/>
                </a:solidFill>
              </a:rPr>
              <a:t>Discussion</a:t>
            </a:r>
            <a:endParaRPr lang="en-US" sz="1200" dirty="0"/>
          </a:p>
        </p:txBody>
      </p:sp>
      <p:sp>
        <p:nvSpPr>
          <p:cNvPr id="44" name="Text 42"/>
          <p:cNvSpPr/>
          <p:nvPr/>
        </p:nvSpPr>
        <p:spPr>
          <a:xfrm>
            <a:off x="5276088" y="4279392"/>
            <a:ext cx="3611880" cy="256032"/>
          </a:xfrm>
          <a:prstGeom prst="rect">
            <a:avLst/>
          </a:prstGeom>
          <a:noFill/>
          <a:ln/>
        </p:spPr>
        <p:txBody>
          <a:bodyPr wrap="square" lIns="0" tIns="0" rIns="0" bIns="0" rtlCol="0" anchor="ctr"/>
          <a:lstStyle/>
          <a:p>
            <a:pPr algn="l" indent="0" marL="0">
              <a:buNone/>
            </a:pPr>
            <a:r>
              <a:rPr lang="en-US" sz="900" dirty="0">
                <a:solidFill>
                  <a:srgbClr val="64748B"/>
                </a:solidFill>
              </a:rPr>
              <a:t>Vos questions, vos retours d'expérience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01 — POURQUOI CET OUTIL ?</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Le problème du quotidien</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Avant cet outil, retrouver l'info technique prenait du temps</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34440"/>
            <a:ext cx="4114800" cy="356616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34440"/>
            <a:ext cx="4114800" cy="365760"/>
          </a:xfrm>
          <a:prstGeom prst="rect">
            <a:avLst/>
          </a:prstGeom>
          <a:solidFill>
            <a:srgbClr val="EF4444"/>
          </a:solidFill>
          <a:ln w="12700">
            <a:solidFill>
              <a:srgbClr val="000000"/>
            </a:solidFill>
            <a:prstDash val="solid"/>
          </a:ln>
        </p:spPr>
      </p:sp>
      <p:sp>
        <p:nvSpPr>
          <p:cNvPr id="9" name="Text 7"/>
          <p:cNvSpPr/>
          <p:nvPr/>
        </p:nvSpPr>
        <p:spPr>
          <a:xfrm>
            <a:off x="457200" y="1234440"/>
            <a:ext cx="3931920" cy="365760"/>
          </a:xfrm>
          <a:prstGeom prst="rect">
            <a:avLst/>
          </a:prstGeom>
          <a:noFill/>
          <a:ln/>
        </p:spPr>
        <p:txBody>
          <a:bodyPr wrap="square" lIns="0" tIns="0" rIns="0" bIns="0" rtlCol="0" anchor="ctr"/>
          <a:lstStyle/>
          <a:p>
            <a:pPr indent="0" marL="0">
              <a:buNone/>
            </a:pPr>
            <a:r>
              <a:rPr lang="en-US" sz="1300" b="1" dirty="0">
                <a:solidFill>
                  <a:srgbClr val="FFFFFF"/>
                </a:solidFill>
              </a:rPr>
              <a:t>😓  La situation avant</a:t>
            </a:r>
            <a:endParaRPr lang="en-US" sz="1300" dirty="0"/>
          </a:p>
        </p:txBody>
      </p:sp>
      <p:pic>
        <p:nvPicPr>
          <p:cNvPr id="10" name="Image 0" descr="preencoded.png">    </p:cNvPr>
          <p:cNvPicPr>
            <a:picLocks noChangeAspect="1"/>
          </p:cNvPicPr>
          <p:nvPr/>
        </p:nvPicPr>
        <p:blipFill>
          <a:blip r:embed="rId1"/>
          <a:stretch>
            <a:fillRect/>
          </a:stretch>
        </p:blipFill>
        <p:spPr>
          <a:xfrm>
            <a:off x="502920" y="1719072"/>
            <a:ext cx="256032" cy="256032"/>
          </a:xfrm>
          <a:prstGeom prst="rect">
            <a:avLst/>
          </a:prstGeom>
        </p:spPr>
      </p:pic>
      <p:sp>
        <p:nvSpPr>
          <p:cNvPr id="11" name="Text 8"/>
          <p:cNvSpPr/>
          <p:nvPr/>
        </p:nvSpPr>
        <p:spPr>
          <a:xfrm>
            <a:off x="841248" y="1700784"/>
            <a:ext cx="3474720" cy="292608"/>
          </a:xfrm>
          <a:prstGeom prst="rect">
            <a:avLst/>
          </a:prstGeom>
          <a:noFill/>
          <a:ln/>
        </p:spPr>
        <p:txBody>
          <a:bodyPr wrap="square" lIns="0" tIns="0" rIns="0" bIns="0" rtlCol="0" anchor="ctr"/>
          <a:lstStyle/>
          <a:p>
            <a:pPr indent="0" marL="0">
              <a:buNone/>
            </a:pPr>
            <a:r>
              <a:rPr lang="en-US" sz="1100" dirty="0">
                <a:solidFill>
                  <a:srgbClr val="1B2A3B"/>
                </a:solidFill>
              </a:rPr>
              <a:t>Un client signale un bug DMA sur STM32H7</a:t>
            </a:r>
            <a:endParaRPr lang="en-US" sz="1100" dirty="0"/>
          </a:p>
        </p:txBody>
      </p:sp>
      <p:pic>
        <p:nvPicPr>
          <p:cNvPr id="12" name="Image 1" descr="preencoded.png">    </p:cNvPr>
          <p:cNvPicPr>
            <a:picLocks noChangeAspect="1"/>
          </p:cNvPicPr>
          <p:nvPr/>
        </p:nvPicPr>
        <p:blipFill>
          <a:blip r:embed="rId2"/>
          <a:stretch>
            <a:fillRect/>
          </a:stretch>
        </p:blipFill>
        <p:spPr>
          <a:xfrm>
            <a:off x="502920" y="2148840"/>
            <a:ext cx="256032" cy="256032"/>
          </a:xfrm>
          <a:prstGeom prst="rect">
            <a:avLst/>
          </a:prstGeom>
        </p:spPr>
      </p:pic>
      <p:sp>
        <p:nvSpPr>
          <p:cNvPr id="13" name="Text 9"/>
          <p:cNvSpPr/>
          <p:nvPr/>
        </p:nvSpPr>
        <p:spPr>
          <a:xfrm>
            <a:off x="841248" y="2130552"/>
            <a:ext cx="3474720" cy="292608"/>
          </a:xfrm>
          <a:prstGeom prst="rect">
            <a:avLst/>
          </a:prstGeom>
          <a:noFill/>
          <a:ln/>
        </p:spPr>
        <p:txBody>
          <a:bodyPr wrap="square" lIns="0" tIns="0" rIns="0" bIns="0" rtlCol="0" anchor="ctr"/>
          <a:lstStyle/>
          <a:p>
            <a:pPr indent="0" marL="0">
              <a:buNone/>
            </a:pPr>
            <a:r>
              <a:rPr lang="en-US" sz="1100" dirty="0">
                <a:solidFill>
                  <a:srgbClr val="1B2A3B"/>
                </a:solidFill>
              </a:rPr>
              <a:t>L'ingénieur cherche dans GitHub : 300+ issues</a:t>
            </a:r>
            <a:endParaRPr lang="en-US" sz="1100" dirty="0"/>
          </a:p>
        </p:txBody>
      </p:sp>
      <p:pic>
        <p:nvPicPr>
          <p:cNvPr id="14" name="Image 2" descr="preencoded.png">    </p:cNvPr>
          <p:cNvPicPr>
            <a:picLocks noChangeAspect="1"/>
          </p:cNvPicPr>
          <p:nvPr/>
        </p:nvPicPr>
        <p:blipFill>
          <a:blip r:embed="rId3"/>
          <a:stretch>
            <a:fillRect/>
          </a:stretch>
        </p:blipFill>
        <p:spPr>
          <a:xfrm>
            <a:off x="502920" y="2578608"/>
            <a:ext cx="256032" cy="256032"/>
          </a:xfrm>
          <a:prstGeom prst="rect">
            <a:avLst/>
          </a:prstGeom>
        </p:spPr>
      </p:pic>
      <p:sp>
        <p:nvSpPr>
          <p:cNvPr id="15" name="Text 10"/>
          <p:cNvSpPr/>
          <p:nvPr/>
        </p:nvSpPr>
        <p:spPr>
          <a:xfrm>
            <a:off x="841248" y="2560320"/>
            <a:ext cx="3474720" cy="292608"/>
          </a:xfrm>
          <a:prstGeom prst="rect">
            <a:avLst/>
          </a:prstGeom>
          <a:noFill/>
          <a:ln/>
        </p:spPr>
        <p:txBody>
          <a:bodyPr wrap="square" lIns="0" tIns="0" rIns="0" bIns="0" rtlCol="0" anchor="ctr"/>
          <a:lstStyle/>
          <a:p>
            <a:pPr indent="0" marL="0">
              <a:buNone/>
            </a:pPr>
            <a:r>
              <a:rPr lang="en-US" sz="1100" dirty="0">
                <a:solidFill>
                  <a:srgbClr val="1B2A3B"/>
                </a:solidFill>
              </a:rPr>
              <a:t>Il cherche dans la doc : 5 000+ fichiers</a:t>
            </a:r>
            <a:endParaRPr lang="en-US" sz="1100" dirty="0"/>
          </a:p>
        </p:txBody>
      </p:sp>
      <p:pic>
        <p:nvPicPr>
          <p:cNvPr id="16" name="Image 3" descr="preencoded.png">    </p:cNvPr>
          <p:cNvPicPr>
            <a:picLocks noChangeAspect="1"/>
          </p:cNvPicPr>
          <p:nvPr/>
        </p:nvPicPr>
        <p:blipFill>
          <a:blip r:embed="rId4"/>
          <a:stretch>
            <a:fillRect/>
          </a:stretch>
        </p:blipFill>
        <p:spPr>
          <a:xfrm>
            <a:off x="502920" y="3008376"/>
            <a:ext cx="256032" cy="256032"/>
          </a:xfrm>
          <a:prstGeom prst="rect">
            <a:avLst/>
          </a:prstGeom>
        </p:spPr>
      </p:pic>
      <p:sp>
        <p:nvSpPr>
          <p:cNvPr id="17" name="Text 11"/>
          <p:cNvSpPr/>
          <p:nvPr/>
        </p:nvSpPr>
        <p:spPr>
          <a:xfrm>
            <a:off x="841248" y="2990088"/>
            <a:ext cx="3474720" cy="292608"/>
          </a:xfrm>
          <a:prstGeom prst="rect">
            <a:avLst/>
          </a:prstGeom>
          <a:noFill/>
          <a:ln/>
        </p:spPr>
        <p:txBody>
          <a:bodyPr wrap="square" lIns="0" tIns="0" rIns="0" bIns="0" rtlCol="0" anchor="ctr"/>
          <a:lstStyle/>
          <a:p>
            <a:pPr indent="0" marL="0">
              <a:buNone/>
            </a:pPr>
            <a:r>
              <a:rPr lang="en-US" sz="1100" dirty="0">
                <a:solidFill>
                  <a:srgbClr val="1B2A3B"/>
                </a:solidFill>
              </a:rPr>
              <a:t>Il recoupe manuellement issues + release notes + PRs</a:t>
            </a:r>
            <a:endParaRPr lang="en-US" sz="1100" dirty="0"/>
          </a:p>
        </p:txBody>
      </p:sp>
      <p:pic>
        <p:nvPicPr>
          <p:cNvPr id="18" name="Image 4" descr="preencoded.png">    </p:cNvPr>
          <p:cNvPicPr>
            <a:picLocks noChangeAspect="1"/>
          </p:cNvPicPr>
          <p:nvPr/>
        </p:nvPicPr>
        <p:blipFill>
          <a:blip r:embed="rId5"/>
          <a:stretch>
            <a:fillRect/>
          </a:stretch>
        </p:blipFill>
        <p:spPr>
          <a:xfrm>
            <a:off x="502920" y="3438144"/>
            <a:ext cx="256032" cy="256032"/>
          </a:xfrm>
          <a:prstGeom prst="rect">
            <a:avLst/>
          </a:prstGeom>
        </p:spPr>
      </p:pic>
      <p:sp>
        <p:nvSpPr>
          <p:cNvPr id="19" name="Text 12"/>
          <p:cNvSpPr/>
          <p:nvPr/>
        </p:nvSpPr>
        <p:spPr>
          <a:xfrm>
            <a:off x="841248" y="3419856"/>
            <a:ext cx="3474720" cy="292608"/>
          </a:xfrm>
          <a:prstGeom prst="rect">
            <a:avLst/>
          </a:prstGeom>
          <a:noFill/>
          <a:ln/>
        </p:spPr>
        <p:txBody>
          <a:bodyPr wrap="square" lIns="0" tIns="0" rIns="0" bIns="0" rtlCol="0" anchor="ctr"/>
          <a:lstStyle/>
          <a:p>
            <a:pPr indent="0" marL="0">
              <a:buNone/>
            </a:pPr>
            <a:r>
              <a:rPr lang="en-US" sz="1100" dirty="0">
                <a:solidFill>
                  <a:srgbClr val="1B2A3B"/>
                </a:solidFill>
              </a:rPr>
              <a:t>Il faut 30–60 min pour trouver si le bug est connu</a:t>
            </a:r>
            <a:endParaRPr lang="en-US" sz="1100" dirty="0"/>
          </a:p>
        </p:txBody>
      </p:sp>
      <p:pic>
        <p:nvPicPr>
          <p:cNvPr id="20" name="Image 5" descr="preencoded.png">    </p:cNvPr>
          <p:cNvPicPr>
            <a:picLocks noChangeAspect="1"/>
          </p:cNvPicPr>
          <p:nvPr/>
        </p:nvPicPr>
        <p:blipFill>
          <a:blip r:embed="rId6"/>
          <a:stretch>
            <a:fillRect/>
          </a:stretch>
        </p:blipFill>
        <p:spPr>
          <a:xfrm>
            <a:off x="502920" y="3867912"/>
            <a:ext cx="256032" cy="256032"/>
          </a:xfrm>
          <a:prstGeom prst="rect">
            <a:avLst/>
          </a:prstGeom>
        </p:spPr>
      </p:pic>
      <p:sp>
        <p:nvSpPr>
          <p:cNvPr id="21" name="Text 13"/>
          <p:cNvSpPr/>
          <p:nvPr/>
        </p:nvSpPr>
        <p:spPr>
          <a:xfrm>
            <a:off x="841248" y="3849624"/>
            <a:ext cx="3474720" cy="292608"/>
          </a:xfrm>
          <a:prstGeom prst="rect">
            <a:avLst/>
          </a:prstGeom>
          <a:noFill/>
          <a:ln/>
        </p:spPr>
        <p:txBody>
          <a:bodyPr wrap="square" lIns="0" tIns="0" rIns="0" bIns="0" rtlCol="0" anchor="ctr"/>
          <a:lstStyle/>
          <a:p>
            <a:pPr indent="0" marL="0">
              <a:buNone/>
            </a:pPr>
            <a:r>
              <a:rPr lang="en-US" sz="1100" b="1" dirty="0">
                <a:solidFill>
                  <a:srgbClr val="0D9488"/>
                </a:solidFill>
              </a:rPr>
              <a:t>L'info existait — elle était juste dispersée</a:t>
            </a:r>
            <a:endParaRPr lang="en-US" sz="1100" dirty="0"/>
          </a:p>
        </p:txBody>
      </p:sp>
      <p:sp>
        <p:nvSpPr>
          <p:cNvPr id="22" name="Shape 14"/>
          <p:cNvSpPr/>
          <p:nvPr/>
        </p:nvSpPr>
        <p:spPr>
          <a:xfrm>
            <a:off x="4663440" y="1234440"/>
            <a:ext cx="4114800" cy="3566160"/>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3" name="Shape 15"/>
          <p:cNvSpPr/>
          <p:nvPr/>
        </p:nvSpPr>
        <p:spPr>
          <a:xfrm>
            <a:off x="4663440" y="1234440"/>
            <a:ext cx="4114800" cy="365760"/>
          </a:xfrm>
          <a:prstGeom prst="rect">
            <a:avLst/>
          </a:prstGeom>
          <a:solidFill>
            <a:srgbClr val="0D9488"/>
          </a:solidFill>
          <a:ln w="12700">
            <a:solidFill>
              <a:srgbClr val="000000"/>
            </a:solidFill>
            <a:prstDash val="solid"/>
          </a:ln>
        </p:spPr>
      </p:sp>
      <p:sp>
        <p:nvSpPr>
          <p:cNvPr id="24" name="Text 16"/>
          <p:cNvSpPr/>
          <p:nvPr/>
        </p:nvSpPr>
        <p:spPr>
          <a:xfrm>
            <a:off x="4754880" y="1234440"/>
            <a:ext cx="3931920" cy="365760"/>
          </a:xfrm>
          <a:prstGeom prst="rect">
            <a:avLst/>
          </a:prstGeom>
          <a:noFill/>
          <a:ln/>
        </p:spPr>
        <p:txBody>
          <a:bodyPr wrap="square" lIns="0" tIns="0" rIns="0" bIns="0" rtlCol="0" anchor="ctr"/>
          <a:lstStyle/>
          <a:p>
            <a:pPr indent="0" marL="0">
              <a:buNone/>
            </a:pPr>
            <a:r>
              <a:rPr lang="en-US" sz="1300" b="1" dirty="0">
                <a:solidFill>
                  <a:srgbClr val="FFFFFF"/>
                </a:solidFill>
              </a:rPr>
              <a:t>✅  L'objectif de cet outil</a:t>
            </a:r>
            <a:endParaRPr lang="en-US" sz="1300" dirty="0"/>
          </a:p>
        </p:txBody>
      </p:sp>
      <p:pic>
        <p:nvPicPr>
          <p:cNvPr id="25" name="Image 6" descr="preencoded.png">    </p:cNvPr>
          <p:cNvPicPr>
            <a:picLocks noChangeAspect="1"/>
          </p:cNvPicPr>
          <p:nvPr/>
        </p:nvPicPr>
        <p:blipFill>
          <a:blip r:embed="rId7"/>
          <a:stretch>
            <a:fillRect/>
          </a:stretch>
        </p:blipFill>
        <p:spPr>
          <a:xfrm>
            <a:off x="4800600" y="1719072"/>
            <a:ext cx="256032" cy="256032"/>
          </a:xfrm>
          <a:prstGeom prst="rect">
            <a:avLst/>
          </a:prstGeom>
        </p:spPr>
      </p:pic>
      <p:sp>
        <p:nvSpPr>
          <p:cNvPr id="26" name="Text 17"/>
          <p:cNvSpPr/>
          <p:nvPr/>
        </p:nvSpPr>
        <p:spPr>
          <a:xfrm>
            <a:off x="5138928" y="1700784"/>
            <a:ext cx="3474720" cy="347472"/>
          </a:xfrm>
          <a:prstGeom prst="rect">
            <a:avLst/>
          </a:prstGeom>
          <a:noFill/>
          <a:ln/>
        </p:spPr>
        <p:txBody>
          <a:bodyPr wrap="square" lIns="0" tIns="0" rIns="0" bIns="0" rtlCol="0" anchor="ctr"/>
          <a:lstStyle/>
          <a:p>
            <a:pPr indent="0" marL="0">
              <a:buNone/>
            </a:pPr>
            <a:r>
              <a:rPr lang="en-US" sz="1100" b="1" dirty="0">
                <a:solidFill>
                  <a:srgbClr val="0D9488"/>
                </a:solidFill>
              </a:rPr>
              <a:t>Centraliser : </a:t>
            </a:r>
            <a:pPr indent="0" marL="0">
              <a:buNone/>
            </a:pPr>
            <a:r>
              <a:rPr lang="en-US" sz="1100" dirty="0">
                <a:solidFill>
                  <a:srgbClr val="1B2A3B"/>
                </a:solidFill>
              </a:rPr>
              <a:t>toute l'info STM32 en un seul endroit</a:t>
            </a:r>
            <a:endParaRPr lang="en-US" sz="1100" dirty="0"/>
          </a:p>
        </p:txBody>
      </p:sp>
      <p:pic>
        <p:nvPicPr>
          <p:cNvPr id="27" name="Image 7" descr="preencoded.png">    </p:cNvPr>
          <p:cNvPicPr>
            <a:picLocks noChangeAspect="1"/>
          </p:cNvPicPr>
          <p:nvPr/>
        </p:nvPicPr>
        <p:blipFill>
          <a:blip r:embed="rId8"/>
          <a:stretch>
            <a:fillRect/>
          </a:stretch>
        </p:blipFill>
        <p:spPr>
          <a:xfrm>
            <a:off x="4800600" y="2240280"/>
            <a:ext cx="256032" cy="256032"/>
          </a:xfrm>
          <a:prstGeom prst="rect">
            <a:avLst/>
          </a:prstGeom>
        </p:spPr>
      </p:pic>
      <p:sp>
        <p:nvSpPr>
          <p:cNvPr id="28" name="Text 18"/>
          <p:cNvSpPr/>
          <p:nvPr/>
        </p:nvSpPr>
        <p:spPr>
          <a:xfrm>
            <a:off x="5138928" y="2221992"/>
            <a:ext cx="3474720" cy="347472"/>
          </a:xfrm>
          <a:prstGeom prst="rect">
            <a:avLst/>
          </a:prstGeom>
          <a:noFill/>
          <a:ln/>
        </p:spPr>
        <p:txBody>
          <a:bodyPr wrap="square" lIns="0" tIns="0" rIns="0" bIns="0" rtlCol="0" anchor="ctr"/>
          <a:lstStyle/>
          <a:p>
            <a:pPr indent="0" marL="0">
              <a:buNone/>
            </a:pPr>
            <a:r>
              <a:rPr lang="en-US" sz="1100" b="1" dirty="0">
                <a:solidFill>
                  <a:srgbClr val="0D9488"/>
                </a:solidFill>
              </a:rPr>
              <a:t>Structurer : </a:t>
            </a:r>
            <a:pPr indent="0" marL="0">
              <a:buNone/>
            </a:pPr>
            <a:r>
              <a:rPr lang="en-US" sz="1100" dirty="0">
                <a:solidFill>
                  <a:srgbClr val="1B2A3B"/>
                </a:solidFill>
              </a:rPr>
              <a:t>les données pour qu'elles soient interrogeables</a:t>
            </a:r>
            <a:endParaRPr lang="en-US" sz="1100" dirty="0"/>
          </a:p>
        </p:txBody>
      </p:sp>
      <p:pic>
        <p:nvPicPr>
          <p:cNvPr id="29" name="Image 8" descr="preencoded.png">    </p:cNvPr>
          <p:cNvPicPr>
            <a:picLocks noChangeAspect="1"/>
          </p:cNvPicPr>
          <p:nvPr/>
        </p:nvPicPr>
        <p:blipFill>
          <a:blip r:embed="rId9"/>
          <a:stretch>
            <a:fillRect/>
          </a:stretch>
        </p:blipFill>
        <p:spPr>
          <a:xfrm>
            <a:off x="4800600" y="2761488"/>
            <a:ext cx="256032" cy="256032"/>
          </a:xfrm>
          <a:prstGeom prst="rect">
            <a:avLst/>
          </a:prstGeom>
        </p:spPr>
      </p:pic>
      <p:sp>
        <p:nvSpPr>
          <p:cNvPr id="30" name="Text 19"/>
          <p:cNvSpPr/>
          <p:nvPr/>
        </p:nvSpPr>
        <p:spPr>
          <a:xfrm>
            <a:off x="5138928" y="2743200"/>
            <a:ext cx="3474720" cy="347472"/>
          </a:xfrm>
          <a:prstGeom prst="rect">
            <a:avLst/>
          </a:prstGeom>
          <a:noFill/>
          <a:ln/>
        </p:spPr>
        <p:txBody>
          <a:bodyPr wrap="square" lIns="0" tIns="0" rIns="0" bIns="0" rtlCol="0" anchor="ctr"/>
          <a:lstStyle/>
          <a:p>
            <a:pPr indent="0" marL="0">
              <a:buNone/>
            </a:pPr>
            <a:r>
              <a:rPr lang="en-US" sz="1100" b="1" dirty="0">
                <a:solidFill>
                  <a:srgbClr val="0D9488"/>
                </a:solidFill>
              </a:rPr>
              <a:t>Répondre : </a:t>
            </a:r>
            <a:pPr indent="0" marL="0">
              <a:buNone/>
            </a:pPr>
            <a:r>
              <a:rPr lang="en-US" sz="1100" dirty="0">
                <a:solidFill>
                  <a:srgbClr val="1B2A3B"/>
                </a:solidFill>
              </a:rPr>
              <a:t>à une question en quelques secondes</a:t>
            </a:r>
            <a:endParaRPr lang="en-US" sz="1100" dirty="0"/>
          </a:p>
        </p:txBody>
      </p:sp>
      <p:pic>
        <p:nvPicPr>
          <p:cNvPr id="31" name="Image 9" descr="preencoded.png">    </p:cNvPr>
          <p:cNvPicPr>
            <a:picLocks noChangeAspect="1"/>
          </p:cNvPicPr>
          <p:nvPr/>
        </p:nvPicPr>
        <p:blipFill>
          <a:blip r:embed="rId10"/>
          <a:stretch>
            <a:fillRect/>
          </a:stretch>
        </p:blipFill>
        <p:spPr>
          <a:xfrm>
            <a:off x="4800600" y="3282696"/>
            <a:ext cx="256032" cy="256032"/>
          </a:xfrm>
          <a:prstGeom prst="rect">
            <a:avLst/>
          </a:prstGeom>
        </p:spPr>
      </p:pic>
      <p:sp>
        <p:nvSpPr>
          <p:cNvPr id="32" name="Text 20"/>
          <p:cNvSpPr/>
          <p:nvPr/>
        </p:nvSpPr>
        <p:spPr>
          <a:xfrm>
            <a:off x="5138928" y="3264408"/>
            <a:ext cx="3474720" cy="347472"/>
          </a:xfrm>
          <a:prstGeom prst="rect">
            <a:avLst/>
          </a:prstGeom>
          <a:noFill/>
          <a:ln/>
        </p:spPr>
        <p:txBody>
          <a:bodyPr wrap="square" lIns="0" tIns="0" rIns="0" bIns="0" rtlCol="0" anchor="ctr"/>
          <a:lstStyle/>
          <a:p>
            <a:pPr indent="0" marL="0">
              <a:buNone/>
            </a:pPr>
            <a:r>
              <a:rPr lang="en-US" sz="1100" b="1" dirty="0">
                <a:solidFill>
                  <a:srgbClr val="0D9488"/>
                </a:solidFill>
              </a:rPr>
              <a:t>Sourcer : </a:t>
            </a:r>
            <a:pPr indent="0" marL="0">
              <a:buNone/>
            </a:pPr>
            <a:r>
              <a:rPr lang="en-US" sz="1100" dirty="0">
                <a:solidFill>
                  <a:srgbClr val="1B2A3B"/>
                </a:solidFill>
              </a:rPr>
              <a:t>la réponse (issue, PR, doc liée)</a:t>
            </a:r>
            <a:endParaRPr lang="en-US" sz="1100" dirty="0"/>
          </a:p>
        </p:txBody>
      </p:sp>
      <p:pic>
        <p:nvPicPr>
          <p:cNvPr id="33" name="Image 10" descr="preencoded.png">    </p:cNvPr>
          <p:cNvPicPr>
            <a:picLocks noChangeAspect="1"/>
          </p:cNvPicPr>
          <p:nvPr/>
        </p:nvPicPr>
        <p:blipFill>
          <a:blip r:embed="rId11"/>
          <a:stretch>
            <a:fillRect/>
          </a:stretch>
        </p:blipFill>
        <p:spPr>
          <a:xfrm>
            <a:off x="4800600" y="3803904"/>
            <a:ext cx="256032" cy="256032"/>
          </a:xfrm>
          <a:prstGeom prst="rect">
            <a:avLst/>
          </a:prstGeom>
        </p:spPr>
      </p:pic>
      <p:sp>
        <p:nvSpPr>
          <p:cNvPr id="34" name="Text 21"/>
          <p:cNvSpPr/>
          <p:nvPr/>
        </p:nvSpPr>
        <p:spPr>
          <a:xfrm>
            <a:off x="5138928" y="3785616"/>
            <a:ext cx="3474720" cy="347472"/>
          </a:xfrm>
          <a:prstGeom prst="rect">
            <a:avLst/>
          </a:prstGeom>
          <a:noFill/>
          <a:ln/>
        </p:spPr>
        <p:txBody>
          <a:bodyPr wrap="square" lIns="0" tIns="0" rIns="0" bIns="0" rtlCol="0" anchor="ctr"/>
          <a:lstStyle/>
          <a:p>
            <a:pPr indent="0" marL="0">
              <a:buNone/>
            </a:pPr>
            <a:r>
              <a:rPr lang="en-US" sz="1100" b="1" dirty="0">
                <a:solidFill>
                  <a:srgbClr val="0D9488"/>
                </a:solidFill>
              </a:rPr>
              <a:t>Apprendre : </a:t>
            </a:r>
            <a:pPr indent="0" marL="0">
              <a:buNone/>
            </a:pPr>
            <a:r>
              <a:rPr lang="en-US" sz="1100" dirty="0">
                <a:solidFill>
                  <a:srgbClr val="1B2A3B"/>
                </a:solidFill>
              </a:rPr>
              <a:t>de chaque bug résolu pour les suivants</a:t>
            </a:r>
            <a:endParaRPr lang="en-US" sz="1100" dirty="0"/>
          </a:p>
        </p:txBody>
      </p:sp>
      <p:sp>
        <p:nvSpPr>
          <p:cNvPr id="35" name="Shape 22"/>
          <p:cNvSpPr/>
          <p:nvPr/>
        </p:nvSpPr>
        <p:spPr>
          <a:xfrm>
            <a:off x="365760" y="4828032"/>
            <a:ext cx="8412480" cy="0"/>
          </a:xfrm>
          <a:prstGeom prst="rect">
            <a:avLst/>
          </a:prstGeom>
          <a:solidFill>
            <a:srgbClr val="000000"/>
          </a:solidFill>
          <a:ln w="12700">
            <a:solidFill>
              <a:srgbClr val="00000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02 — C'EST QUOI L'IA ICI ?</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Pas de magie — de la logique organisée</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Comprendre ce que fait vraiment l'outil</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8412480" cy="987552"/>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64008" cy="987552"/>
          </a:xfrm>
          <a:prstGeom prst="rect">
            <a:avLst/>
          </a:prstGeom>
          <a:solidFill>
            <a:srgbClr val="F59E0B"/>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548640" y="1371600"/>
            <a:ext cx="310896" cy="310896"/>
          </a:xfrm>
          <a:prstGeom prst="rect">
            <a:avLst/>
          </a:prstGeom>
        </p:spPr>
      </p:pic>
      <p:sp>
        <p:nvSpPr>
          <p:cNvPr id="10" name="Text 7"/>
          <p:cNvSpPr/>
          <p:nvPr/>
        </p:nvSpPr>
        <p:spPr>
          <a:xfrm>
            <a:off x="960120" y="1243584"/>
            <a:ext cx="1828800" cy="256032"/>
          </a:xfrm>
          <a:prstGeom prst="rect">
            <a:avLst/>
          </a:prstGeom>
          <a:noFill/>
          <a:ln/>
        </p:spPr>
        <p:txBody>
          <a:bodyPr wrap="square" lIns="0" tIns="0" rIns="0" bIns="0" rtlCol="0" anchor="ctr"/>
          <a:lstStyle/>
          <a:p>
            <a:pPr indent="0" marL="0">
              <a:buNone/>
            </a:pPr>
            <a:r>
              <a:rPr lang="en-US" sz="1000" b="1" dirty="0">
                <a:solidFill>
                  <a:srgbClr val="F59E0B"/>
                </a:solidFill>
              </a:rPr>
              <a:t>Analogie</a:t>
            </a:r>
            <a:endParaRPr lang="en-US" sz="1000" dirty="0"/>
          </a:p>
        </p:txBody>
      </p:sp>
      <p:sp>
        <p:nvSpPr>
          <p:cNvPr id="11" name="Text 8"/>
          <p:cNvSpPr/>
          <p:nvPr/>
        </p:nvSpPr>
        <p:spPr>
          <a:xfrm>
            <a:off x="960120" y="1499616"/>
            <a:ext cx="7680960" cy="548640"/>
          </a:xfrm>
          <a:prstGeom prst="rect">
            <a:avLst/>
          </a:prstGeom>
          <a:noFill/>
          <a:ln/>
        </p:spPr>
        <p:txBody>
          <a:bodyPr wrap="square" lIns="0" tIns="0" rIns="0" bIns="0" rtlCol="0" anchor="ctr"/>
          <a:lstStyle/>
          <a:p>
            <a:pPr indent="0" marL="0">
              <a:buNone/>
            </a:pPr>
            <a:r>
              <a:rPr lang="en-US" sz="1100" dirty="0">
                <a:solidFill>
                  <a:srgbClr val="1B2A3B"/>
                </a:solidFill>
              </a:rPr>
              <a:t>Imaginez un ingénieur senior avec 10 ans d'expérience STM32. Il a lu toutes les issues, tous les fichiers, tous les PRs. Quand vous lui posez une question, il cherche dans sa mémoire et vous donne la réponse avec les sources. L'outil fait exactement ça — mais automatiquement.</a:t>
            </a:r>
            <a:endParaRPr lang="en-US" sz="1100" dirty="0"/>
          </a:p>
        </p:txBody>
      </p:sp>
      <p:sp>
        <p:nvSpPr>
          <p:cNvPr id="12" name="Shape 9"/>
          <p:cNvSpPr/>
          <p:nvPr/>
        </p:nvSpPr>
        <p:spPr>
          <a:xfrm>
            <a:off x="365760" y="2359152"/>
            <a:ext cx="2697480" cy="25420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365760" y="2359152"/>
            <a:ext cx="2697480" cy="347472"/>
          </a:xfrm>
          <a:prstGeom prst="rect">
            <a:avLst/>
          </a:prstGeom>
          <a:solidFill>
            <a:srgbClr val="0D9488"/>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475488" y="2423160"/>
            <a:ext cx="237744" cy="237744"/>
          </a:xfrm>
          <a:prstGeom prst="rect">
            <a:avLst/>
          </a:prstGeom>
        </p:spPr>
      </p:pic>
      <p:sp>
        <p:nvSpPr>
          <p:cNvPr id="15" name="Text 11"/>
          <p:cNvSpPr/>
          <p:nvPr/>
        </p:nvSpPr>
        <p:spPr>
          <a:xfrm>
            <a:off x="777240" y="2395728"/>
            <a:ext cx="2148840" cy="201168"/>
          </a:xfrm>
          <a:prstGeom prst="rect">
            <a:avLst/>
          </a:prstGeom>
          <a:noFill/>
          <a:ln/>
        </p:spPr>
        <p:txBody>
          <a:bodyPr wrap="square" lIns="0" tIns="0" rIns="0" bIns="0" rtlCol="0" anchor="ctr"/>
          <a:lstStyle/>
          <a:p>
            <a:pPr indent="0" marL="0">
              <a:buNone/>
            </a:pPr>
            <a:r>
              <a:rPr lang="en-US" sz="1200" b="1" dirty="0">
                <a:solidFill>
                  <a:srgbClr val="FFFFFF"/>
                </a:solidFill>
              </a:rPr>
              <a:t>L'IA (LLM)</a:t>
            </a:r>
            <a:endParaRPr lang="en-US" sz="1200" dirty="0"/>
          </a:p>
        </p:txBody>
      </p:sp>
      <p:sp>
        <p:nvSpPr>
          <p:cNvPr id="16" name="Text 12"/>
          <p:cNvSpPr/>
          <p:nvPr/>
        </p:nvSpPr>
        <p:spPr>
          <a:xfrm>
            <a:off x="777240" y="2596896"/>
            <a:ext cx="2148840" cy="128016"/>
          </a:xfrm>
          <a:prstGeom prst="rect">
            <a:avLst/>
          </a:prstGeom>
          <a:noFill/>
          <a:ln/>
        </p:spPr>
        <p:txBody>
          <a:bodyPr wrap="square" lIns="0" tIns="0" rIns="0" bIns="0" rtlCol="0" anchor="ctr"/>
          <a:lstStyle/>
          <a:p>
            <a:pPr indent="0" marL="0">
              <a:buNone/>
            </a:pPr>
            <a:r>
              <a:rPr lang="en-US" sz="750" i="1" dirty="0">
                <a:solidFill>
                  <a:srgbClr val="FFFFFF"/>
                </a:solidFill>
              </a:rPr>
              <a:t>Large Language Model</a:t>
            </a:r>
            <a:endParaRPr lang="en-US" sz="750" dirty="0"/>
          </a:p>
        </p:txBody>
      </p:sp>
      <p:sp>
        <p:nvSpPr>
          <p:cNvPr id="17" name="Text 13"/>
          <p:cNvSpPr/>
          <p:nvPr/>
        </p:nvSpPr>
        <p:spPr>
          <a:xfrm>
            <a:off x="475488" y="2761488"/>
            <a:ext cx="2487168" cy="1481328"/>
          </a:xfrm>
          <a:prstGeom prst="rect">
            <a:avLst/>
          </a:prstGeom>
          <a:noFill/>
          <a:ln/>
        </p:spPr>
        <p:txBody>
          <a:bodyPr wrap="square" lIns="0" tIns="0" rIns="0" bIns="0" rtlCol="0" anchor="ctr"/>
          <a:lstStyle/>
          <a:p>
            <a:pPr indent="0" marL="0">
              <a:buNone/>
            </a:pPr>
            <a:r>
              <a:rPr lang="en-US" sz="950" dirty="0">
                <a:solidFill>
                  <a:srgbClr val="1B2A3B"/>
                </a:solidFill>
              </a:rPr>
              <a:t>Un programme entraîné sur des milliards de textes. Il comprend le langage naturel et génère des réponses cohérentes. Ici c'est le moteur de ST ChatGPT.</a:t>
            </a:r>
            <a:endParaRPr lang="en-US" sz="950" dirty="0"/>
          </a:p>
        </p:txBody>
      </p:sp>
      <p:sp>
        <p:nvSpPr>
          <p:cNvPr id="18" name="Shape 14"/>
          <p:cNvSpPr/>
          <p:nvPr/>
        </p:nvSpPr>
        <p:spPr>
          <a:xfrm>
            <a:off x="438912" y="4480560"/>
            <a:ext cx="2560320" cy="292608"/>
          </a:xfrm>
          <a:prstGeom prst="rect">
            <a:avLst>
              <a:gd name="adj" fmla="val 25000"/>
            </a:avLst>
          </a:prstGeom>
          <a:solidFill>
            <a:srgbClr val="F0FDFA"/>
          </a:solidFill>
          <a:ln w="12700">
            <a:solidFill>
              <a:srgbClr val="99F6E4"/>
            </a:solidFill>
            <a:prstDash val="solid"/>
          </a:ln>
        </p:spPr>
      </p:sp>
      <p:sp>
        <p:nvSpPr>
          <p:cNvPr id="19" name="Text 15"/>
          <p:cNvSpPr/>
          <p:nvPr/>
        </p:nvSpPr>
        <p:spPr>
          <a:xfrm>
            <a:off x="457200" y="4489704"/>
            <a:ext cx="2523744" cy="274320"/>
          </a:xfrm>
          <a:prstGeom prst="rect">
            <a:avLst/>
          </a:prstGeom>
          <a:noFill/>
          <a:ln/>
        </p:spPr>
        <p:txBody>
          <a:bodyPr wrap="square" lIns="0" tIns="0" rIns="0" bIns="0" rtlCol="0" anchor="ctr"/>
          <a:lstStyle/>
          <a:p>
            <a:pPr algn="ctr" indent="0" marL="0">
              <a:buNone/>
            </a:pPr>
            <a:r>
              <a:rPr lang="en-US" sz="900" b="1" dirty="0">
                <a:solidFill>
                  <a:srgbClr val="0D9488"/>
                </a:solidFill>
              </a:rPr>
              <a:t>🧠 Comme un cerveau qui comprend les questions</a:t>
            </a:r>
            <a:endParaRPr lang="en-US" sz="900" dirty="0"/>
          </a:p>
        </p:txBody>
      </p:sp>
      <p:sp>
        <p:nvSpPr>
          <p:cNvPr id="20" name="Shape 16"/>
          <p:cNvSpPr/>
          <p:nvPr/>
        </p:nvSpPr>
        <p:spPr>
          <a:xfrm>
            <a:off x="3200400" y="2359152"/>
            <a:ext cx="2697480" cy="25420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1" name="Shape 17"/>
          <p:cNvSpPr/>
          <p:nvPr/>
        </p:nvSpPr>
        <p:spPr>
          <a:xfrm>
            <a:off x="3200400" y="2359152"/>
            <a:ext cx="2697480" cy="347472"/>
          </a:xfrm>
          <a:prstGeom prst="rect">
            <a:avLst/>
          </a:prstGeom>
          <a:solidFill>
            <a:srgbClr val="F59E0B"/>
          </a:solidFill>
          <a:ln w="12700">
            <a:solidFill>
              <a:srgbClr val="000000"/>
            </a:solidFill>
            <a:prstDash val="solid"/>
          </a:ln>
        </p:spPr>
      </p:sp>
      <p:pic>
        <p:nvPicPr>
          <p:cNvPr id="22" name="Image 2" descr="preencoded.png">    </p:cNvPr>
          <p:cNvPicPr>
            <a:picLocks noChangeAspect="1"/>
          </p:cNvPicPr>
          <p:nvPr/>
        </p:nvPicPr>
        <p:blipFill>
          <a:blip r:embed="rId3"/>
          <a:stretch>
            <a:fillRect/>
          </a:stretch>
        </p:blipFill>
        <p:spPr>
          <a:xfrm>
            <a:off x="3310128" y="2423160"/>
            <a:ext cx="237744" cy="237744"/>
          </a:xfrm>
          <a:prstGeom prst="rect">
            <a:avLst/>
          </a:prstGeom>
        </p:spPr>
      </p:pic>
      <p:sp>
        <p:nvSpPr>
          <p:cNvPr id="23" name="Text 18"/>
          <p:cNvSpPr/>
          <p:nvPr/>
        </p:nvSpPr>
        <p:spPr>
          <a:xfrm>
            <a:off x="3611880" y="2395728"/>
            <a:ext cx="2148840" cy="201168"/>
          </a:xfrm>
          <a:prstGeom prst="rect">
            <a:avLst/>
          </a:prstGeom>
          <a:noFill/>
          <a:ln/>
        </p:spPr>
        <p:txBody>
          <a:bodyPr wrap="square" lIns="0" tIns="0" rIns="0" bIns="0" rtlCol="0" anchor="ctr"/>
          <a:lstStyle/>
          <a:p>
            <a:pPr indent="0" marL="0">
              <a:buNone/>
            </a:pPr>
            <a:r>
              <a:rPr lang="en-US" sz="1200" b="1" dirty="0">
                <a:solidFill>
                  <a:srgbClr val="FFFFFF"/>
                </a:solidFill>
              </a:rPr>
              <a:t>La KB (Knowledge Base)</a:t>
            </a:r>
            <a:endParaRPr lang="en-US" sz="1200" dirty="0"/>
          </a:p>
        </p:txBody>
      </p:sp>
      <p:sp>
        <p:nvSpPr>
          <p:cNvPr id="24" name="Text 19"/>
          <p:cNvSpPr/>
          <p:nvPr/>
        </p:nvSpPr>
        <p:spPr>
          <a:xfrm>
            <a:off x="3611880" y="2596896"/>
            <a:ext cx="2148840" cy="128016"/>
          </a:xfrm>
          <a:prstGeom prst="rect">
            <a:avLst/>
          </a:prstGeom>
          <a:noFill/>
          <a:ln/>
        </p:spPr>
        <p:txBody>
          <a:bodyPr wrap="square" lIns="0" tIns="0" rIns="0" bIns="0" rtlCol="0" anchor="ctr"/>
          <a:lstStyle/>
          <a:p>
            <a:pPr indent="0" marL="0">
              <a:buNone/>
            </a:pPr>
            <a:r>
              <a:rPr lang="en-US" sz="750" i="1" dirty="0">
                <a:solidFill>
                  <a:srgbClr val="FFFFFF"/>
                </a:solidFill>
              </a:rPr>
              <a:t>Base de connaissances</a:t>
            </a:r>
            <a:endParaRPr lang="en-US" sz="750" dirty="0"/>
          </a:p>
        </p:txBody>
      </p:sp>
      <p:sp>
        <p:nvSpPr>
          <p:cNvPr id="25" name="Text 20"/>
          <p:cNvSpPr/>
          <p:nvPr/>
        </p:nvSpPr>
        <p:spPr>
          <a:xfrm>
            <a:off x="3310128" y="2761488"/>
            <a:ext cx="2487168" cy="1481328"/>
          </a:xfrm>
          <a:prstGeom prst="rect">
            <a:avLst/>
          </a:prstGeom>
          <a:noFill/>
          <a:ln/>
        </p:spPr>
        <p:txBody>
          <a:bodyPr wrap="square" lIns="0" tIns="0" rIns="0" bIns="0" rtlCol="0" anchor="ctr"/>
          <a:lstStyle/>
          <a:p>
            <a:pPr indent="0" marL="0">
              <a:buNone/>
            </a:pPr>
            <a:r>
              <a:rPr lang="en-US" sz="950" dirty="0">
                <a:solidFill>
                  <a:srgbClr val="1B2A3B"/>
                </a:solidFill>
              </a:rPr>
              <a:t>C'est la bibliothèque de l'outil. Toute l'info STM32 y est stockée sous forme de petits morceaux de texte indexés. L'outil y cherche avant de répondre.</a:t>
            </a:r>
            <a:endParaRPr lang="en-US" sz="950" dirty="0"/>
          </a:p>
        </p:txBody>
      </p:sp>
      <p:sp>
        <p:nvSpPr>
          <p:cNvPr id="26" name="Shape 21"/>
          <p:cNvSpPr/>
          <p:nvPr/>
        </p:nvSpPr>
        <p:spPr>
          <a:xfrm>
            <a:off x="3273552" y="4480560"/>
            <a:ext cx="2560320" cy="292608"/>
          </a:xfrm>
          <a:prstGeom prst="rect">
            <a:avLst>
              <a:gd name="adj" fmla="val 25000"/>
            </a:avLst>
          </a:prstGeom>
          <a:solidFill>
            <a:srgbClr val="F0FDFA"/>
          </a:solidFill>
          <a:ln w="12700">
            <a:solidFill>
              <a:srgbClr val="99F6E4"/>
            </a:solidFill>
            <a:prstDash val="solid"/>
          </a:ln>
        </p:spPr>
      </p:sp>
      <p:sp>
        <p:nvSpPr>
          <p:cNvPr id="27" name="Text 22"/>
          <p:cNvSpPr/>
          <p:nvPr/>
        </p:nvSpPr>
        <p:spPr>
          <a:xfrm>
            <a:off x="3291840" y="4489704"/>
            <a:ext cx="2523744" cy="274320"/>
          </a:xfrm>
          <a:prstGeom prst="rect">
            <a:avLst/>
          </a:prstGeom>
          <a:noFill/>
          <a:ln/>
        </p:spPr>
        <p:txBody>
          <a:bodyPr wrap="square" lIns="0" tIns="0" rIns="0" bIns="0" rtlCol="0" anchor="ctr"/>
          <a:lstStyle/>
          <a:p>
            <a:pPr algn="ctr" indent="0" marL="0">
              <a:buNone/>
            </a:pPr>
            <a:r>
              <a:rPr lang="en-US" sz="900" b="1" dirty="0">
                <a:solidFill>
                  <a:srgbClr val="0D9488"/>
                </a:solidFill>
              </a:rPr>
              <a:t>📚 Comme une bibliothèque ultra-organisée</a:t>
            </a:r>
            <a:endParaRPr lang="en-US" sz="900" dirty="0"/>
          </a:p>
        </p:txBody>
      </p:sp>
      <p:sp>
        <p:nvSpPr>
          <p:cNvPr id="28" name="Shape 23"/>
          <p:cNvSpPr/>
          <p:nvPr/>
        </p:nvSpPr>
        <p:spPr>
          <a:xfrm>
            <a:off x="6035040" y="2359152"/>
            <a:ext cx="2697480" cy="25420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9" name="Shape 24"/>
          <p:cNvSpPr/>
          <p:nvPr/>
        </p:nvSpPr>
        <p:spPr>
          <a:xfrm>
            <a:off x="6035040" y="2359152"/>
            <a:ext cx="2697480" cy="347472"/>
          </a:xfrm>
          <a:prstGeom prst="rect">
            <a:avLst/>
          </a:prstGeom>
          <a:solidFill>
            <a:srgbClr val="0D9488"/>
          </a:solidFill>
          <a:ln w="12700">
            <a:solidFill>
              <a:srgbClr val="000000"/>
            </a:solidFill>
            <a:prstDash val="solid"/>
          </a:ln>
        </p:spPr>
      </p:sp>
      <p:pic>
        <p:nvPicPr>
          <p:cNvPr id="30" name="Image 3" descr="preencoded.png">    </p:cNvPr>
          <p:cNvPicPr>
            <a:picLocks noChangeAspect="1"/>
          </p:cNvPicPr>
          <p:nvPr/>
        </p:nvPicPr>
        <p:blipFill>
          <a:blip r:embed="rId4"/>
          <a:stretch>
            <a:fillRect/>
          </a:stretch>
        </p:blipFill>
        <p:spPr>
          <a:xfrm>
            <a:off x="6144768" y="2423160"/>
            <a:ext cx="237744" cy="237744"/>
          </a:xfrm>
          <a:prstGeom prst="rect">
            <a:avLst/>
          </a:prstGeom>
        </p:spPr>
      </p:pic>
      <p:sp>
        <p:nvSpPr>
          <p:cNvPr id="31" name="Text 25"/>
          <p:cNvSpPr/>
          <p:nvPr/>
        </p:nvSpPr>
        <p:spPr>
          <a:xfrm>
            <a:off x="6446520" y="2395728"/>
            <a:ext cx="2148840" cy="201168"/>
          </a:xfrm>
          <a:prstGeom prst="rect">
            <a:avLst/>
          </a:prstGeom>
          <a:noFill/>
          <a:ln/>
        </p:spPr>
        <p:txBody>
          <a:bodyPr wrap="square" lIns="0" tIns="0" rIns="0" bIns="0" rtlCol="0" anchor="ctr"/>
          <a:lstStyle/>
          <a:p>
            <a:pPr indent="0" marL="0">
              <a:buNone/>
            </a:pPr>
            <a:r>
              <a:rPr lang="en-US" sz="1200" b="1" dirty="0">
                <a:solidFill>
                  <a:srgbClr val="FFFFFF"/>
                </a:solidFill>
              </a:rPr>
              <a:t>Le RAG</a:t>
            </a:r>
            <a:endParaRPr lang="en-US" sz="1200" dirty="0"/>
          </a:p>
        </p:txBody>
      </p:sp>
      <p:sp>
        <p:nvSpPr>
          <p:cNvPr id="32" name="Text 26"/>
          <p:cNvSpPr/>
          <p:nvPr/>
        </p:nvSpPr>
        <p:spPr>
          <a:xfrm>
            <a:off x="6446520" y="2596896"/>
            <a:ext cx="2148840" cy="128016"/>
          </a:xfrm>
          <a:prstGeom prst="rect">
            <a:avLst/>
          </a:prstGeom>
          <a:noFill/>
          <a:ln/>
        </p:spPr>
        <p:txBody>
          <a:bodyPr wrap="square" lIns="0" tIns="0" rIns="0" bIns="0" rtlCol="0" anchor="ctr"/>
          <a:lstStyle/>
          <a:p>
            <a:pPr indent="0" marL="0">
              <a:buNone/>
            </a:pPr>
            <a:r>
              <a:rPr lang="en-US" sz="750" i="1" dirty="0">
                <a:solidFill>
                  <a:srgbClr val="FFFFFF"/>
                </a:solidFill>
              </a:rPr>
              <a:t>Retrieval-Augmented Generation</a:t>
            </a:r>
            <a:endParaRPr lang="en-US" sz="750" dirty="0"/>
          </a:p>
        </p:txBody>
      </p:sp>
      <p:sp>
        <p:nvSpPr>
          <p:cNvPr id="33" name="Text 27"/>
          <p:cNvSpPr/>
          <p:nvPr/>
        </p:nvSpPr>
        <p:spPr>
          <a:xfrm>
            <a:off x="6144768" y="2761488"/>
            <a:ext cx="2487168" cy="1481328"/>
          </a:xfrm>
          <a:prstGeom prst="rect">
            <a:avLst/>
          </a:prstGeom>
          <a:noFill/>
          <a:ln/>
        </p:spPr>
        <p:txBody>
          <a:bodyPr wrap="square" lIns="0" tIns="0" rIns="0" bIns="0" rtlCol="0" anchor="ctr"/>
          <a:lstStyle/>
          <a:p>
            <a:pPr indent="0" marL="0">
              <a:buNone/>
            </a:pPr>
            <a:r>
              <a:rPr lang="en-US" sz="950" dirty="0">
                <a:solidFill>
                  <a:srgbClr val="1B2A3B"/>
                </a:solidFill>
              </a:rPr>
              <a:t>C'est la technique qui combine KB + LLM. Quand une question arrive : 1) chercher les passages pertinents dans la KB, 2) les donner au LLM pour qu'il formule la réponse.</a:t>
            </a:r>
            <a:endParaRPr lang="en-US" sz="950" dirty="0"/>
          </a:p>
        </p:txBody>
      </p:sp>
      <p:sp>
        <p:nvSpPr>
          <p:cNvPr id="34" name="Shape 28"/>
          <p:cNvSpPr/>
          <p:nvPr/>
        </p:nvSpPr>
        <p:spPr>
          <a:xfrm>
            <a:off x="6108192" y="4480560"/>
            <a:ext cx="2560320" cy="292608"/>
          </a:xfrm>
          <a:prstGeom prst="rect">
            <a:avLst>
              <a:gd name="adj" fmla="val 25000"/>
            </a:avLst>
          </a:prstGeom>
          <a:solidFill>
            <a:srgbClr val="F0FDFA"/>
          </a:solidFill>
          <a:ln w="12700">
            <a:solidFill>
              <a:srgbClr val="99F6E4"/>
            </a:solidFill>
            <a:prstDash val="solid"/>
          </a:ln>
        </p:spPr>
      </p:sp>
      <p:sp>
        <p:nvSpPr>
          <p:cNvPr id="35" name="Text 29"/>
          <p:cNvSpPr/>
          <p:nvPr/>
        </p:nvSpPr>
        <p:spPr>
          <a:xfrm>
            <a:off x="6126480" y="4489704"/>
            <a:ext cx="2523744" cy="274320"/>
          </a:xfrm>
          <a:prstGeom prst="rect">
            <a:avLst/>
          </a:prstGeom>
          <a:noFill/>
          <a:ln/>
        </p:spPr>
        <p:txBody>
          <a:bodyPr wrap="square" lIns="0" tIns="0" rIns="0" bIns="0" rtlCol="0" anchor="ctr"/>
          <a:lstStyle/>
          <a:p>
            <a:pPr algn="ctr" indent="0" marL="0">
              <a:buNone/>
            </a:pPr>
            <a:r>
              <a:rPr lang="en-US" sz="900" b="1" dirty="0">
                <a:solidFill>
                  <a:srgbClr val="0D9488"/>
                </a:solidFill>
              </a:rPr>
              <a:t>🔎 Chercher d'abord, répondre ensuite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02 — LA PLATEFORME ST CHATGPT</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Comment la plateforme fonctionne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La chaîne complète : de la question à la réponse sourcée</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292608" y="1325880"/>
            <a:ext cx="1170432" cy="1170432"/>
          </a:xfrm>
          <a:prstGeom prst="ellipse">
            <a:avLst/>
          </a:prstGeom>
          <a:solidFill>
            <a:srgbClr val="1B2A3B"/>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8" name="Image 0" descr="preencoded.png">    </p:cNvPr>
          <p:cNvPicPr>
            <a:picLocks noChangeAspect="1"/>
          </p:cNvPicPr>
          <p:nvPr/>
        </p:nvPicPr>
        <p:blipFill>
          <a:blip r:embed="rId1"/>
          <a:stretch>
            <a:fillRect/>
          </a:stretch>
        </p:blipFill>
        <p:spPr>
          <a:xfrm>
            <a:off x="640080" y="1572768"/>
            <a:ext cx="475488" cy="475488"/>
          </a:xfrm>
          <a:prstGeom prst="rect">
            <a:avLst/>
          </a:prstGeom>
        </p:spPr>
      </p:pic>
      <p:sp>
        <p:nvSpPr>
          <p:cNvPr id="9" name="Text 6"/>
          <p:cNvSpPr/>
          <p:nvPr/>
        </p:nvSpPr>
        <p:spPr>
          <a:xfrm>
            <a:off x="182880" y="2578608"/>
            <a:ext cx="1389888" cy="274320"/>
          </a:xfrm>
          <a:prstGeom prst="rect">
            <a:avLst/>
          </a:prstGeom>
          <a:noFill/>
          <a:ln/>
        </p:spPr>
        <p:txBody>
          <a:bodyPr wrap="square" lIns="0" tIns="0" rIns="0" bIns="0" rtlCol="0" anchor="ctr"/>
          <a:lstStyle/>
          <a:p>
            <a:pPr algn="ctr" indent="0" marL="0">
              <a:buNone/>
            </a:pPr>
            <a:r>
              <a:rPr lang="en-US" sz="1000" b="1" dirty="0">
                <a:solidFill>
                  <a:srgbClr val="1B2A3B"/>
                </a:solidFill>
              </a:rPr>
              <a:t>Utilisateur</a:t>
            </a:r>
            <a:endParaRPr lang="en-US" sz="1000" dirty="0"/>
          </a:p>
        </p:txBody>
      </p:sp>
      <p:sp>
        <p:nvSpPr>
          <p:cNvPr id="10" name="Text 7"/>
          <p:cNvSpPr/>
          <p:nvPr/>
        </p:nvSpPr>
        <p:spPr>
          <a:xfrm>
            <a:off x="164592" y="2852928"/>
            <a:ext cx="1426464" cy="548640"/>
          </a:xfrm>
          <a:prstGeom prst="rect">
            <a:avLst/>
          </a:prstGeom>
          <a:noFill/>
          <a:ln/>
        </p:spPr>
        <p:txBody>
          <a:bodyPr wrap="square" lIns="0" tIns="0" rIns="0" bIns="0" rtlCol="0" anchor="ctr"/>
          <a:lstStyle/>
          <a:p>
            <a:pPr algn="ctr" indent="0" marL="0">
              <a:buNone/>
            </a:pPr>
            <a:r>
              <a:rPr lang="en-US" sz="850" dirty="0">
                <a:solidFill>
                  <a:srgbClr val="64748B"/>
                </a:solidFill>
              </a:rPr>
              <a:t>Pose une question technique</a:t>
            </a:r>
            <a:endParaRPr lang="en-US" sz="850" dirty="0"/>
          </a:p>
        </p:txBody>
      </p:sp>
      <p:pic>
        <p:nvPicPr>
          <p:cNvPr id="11" name="Image 1" descr="preencoded.png">    </p:cNvPr>
          <p:cNvPicPr>
            <a:picLocks noChangeAspect="1"/>
          </p:cNvPicPr>
          <p:nvPr/>
        </p:nvPicPr>
        <p:blipFill>
          <a:blip r:embed="rId2"/>
          <a:stretch>
            <a:fillRect/>
          </a:stretch>
        </p:blipFill>
        <p:spPr>
          <a:xfrm>
            <a:off x="1572768" y="1783080"/>
            <a:ext cx="329184" cy="329184"/>
          </a:xfrm>
          <a:prstGeom prst="rect">
            <a:avLst/>
          </a:prstGeom>
        </p:spPr>
      </p:pic>
      <p:sp>
        <p:nvSpPr>
          <p:cNvPr id="12" name="Shape 8"/>
          <p:cNvSpPr/>
          <p:nvPr/>
        </p:nvSpPr>
        <p:spPr>
          <a:xfrm>
            <a:off x="2011680" y="1325880"/>
            <a:ext cx="1170432" cy="1170432"/>
          </a:xfrm>
          <a:prstGeom prst="ellipse">
            <a:avLst/>
          </a:prstGeom>
          <a:solidFill>
            <a:srgbClr val="0D9488"/>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2359152" y="1572768"/>
            <a:ext cx="475488" cy="475488"/>
          </a:xfrm>
          <a:prstGeom prst="rect">
            <a:avLst/>
          </a:prstGeom>
        </p:spPr>
      </p:pic>
      <p:sp>
        <p:nvSpPr>
          <p:cNvPr id="14" name="Text 9"/>
          <p:cNvSpPr/>
          <p:nvPr/>
        </p:nvSpPr>
        <p:spPr>
          <a:xfrm>
            <a:off x="1901952" y="2578608"/>
            <a:ext cx="1389888" cy="274320"/>
          </a:xfrm>
          <a:prstGeom prst="rect">
            <a:avLst/>
          </a:prstGeom>
          <a:noFill/>
          <a:ln/>
        </p:spPr>
        <p:txBody>
          <a:bodyPr wrap="square" lIns="0" tIns="0" rIns="0" bIns="0" rtlCol="0" anchor="ctr"/>
          <a:lstStyle/>
          <a:p>
            <a:pPr algn="ctr" indent="0" marL="0">
              <a:buNone/>
            </a:pPr>
            <a:r>
              <a:rPr lang="en-US" sz="1000" b="1" dirty="0">
                <a:solidFill>
                  <a:srgbClr val="1B2A3B"/>
                </a:solidFill>
              </a:rPr>
              <a:t>Recherche</a:t>
            </a:r>
            <a:endParaRPr lang="en-US" sz="1000" dirty="0"/>
          </a:p>
        </p:txBody>
      </p:sp>
      <p:sp>
        <p:nvSpPr>
          <p:cNvPr id="15" name="Text 10"/>
          <p:cNvSpPr/>
          <p:nvPr/>
        </p:nvSpPr>
        <p:spPr>
          <a:xfrm>
            <a:off x="1883664" y="2852928"/>
            <a:ext cx="1426464" cy="548640"/>
          </a:xfrm>
          <a:prstGeom prst="rect">
            <a:avLst/>
          </a:prstGeom>
          <a:noFill/>
          <a:ln/>
        </p:spPr>
        <p:txBody>
          <a:bodyPr wrap="square" lIns="0" tIns="0" rIns="0" bIns="0" rtlCol="0" anchor="ctr"/>
          <a:lstStyle/>
          <a:p>
            <a:pPr algn="ctr" indent="0" marL="0">
              <a:buNone/>
            </a:pPr>
            <a:r>
              <a:rPr lang="en-US" sz="850" dirty="0">
                <a:solidFill>
                  <a:srgbClr val="64748B"/>
                </a:solidFill>
              </a:rPr>
              <a:t>Cherche dans la KB les passages les plus proches</a:t>
            </a:r>
            <a:endParaRPr lang="en-US" sz="850" dirty="0"/>
          </a:p>
        </p:txBody>
      </p:sp>
      <p:pic>
        <p:nvPicPr>
          <p:cNvPr id="16" name="Image 3" descr="preencoded.png">    </p:cNvPr>
          <p:cNvPicPr>
            <a:picLocks noChangeAspect="1"/>
          </p:cNvPicPr>
          <p:nvPr/>
        </p:nvPicPr>
        <p:blipFill>
          <a:blip r:embed="rId4"/>
          <a:stretch>
            <a:fillRect/>
          </a:stretch>
        </p:blipFill>
        <p:spPr>
          <a:xfrm>
            <a:off x="3291840" y="1783080"/>
            <a:ext cx="329184" cy="329184"/>
          </a:xfrm>
          <a:prstGeom prst="rect">
            <a:avLst/>
          </a:prstGeom>
        </p:spPr>
      </p:pic>
      <p:sp>
        <p:nvSpPr>
          <p:cNvPr id="17" name="Shape 11"/>
          <p:cNvSpPr/>
          <p:nvPr/>
        </p:nvSpPr>
        <p:spPr>
          <a:xfrm>
            <a:off x="3730752" y="1325880"/>
            <a:ext cx="1170432" cy="1170432"/>
          </a:xfrm>
          <a:prstGeom prst="ellipse">
            <a:avLst/>
          </a:prstGeom>
          <a:solidFill>
            <a:srgbClr val="F59E0B"/>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18" name="Image 4" descr="preencoded.png">    </p:cNvPr>
          <p:cNvPicPr>
            <a:picLocks noChangeAspect="1"/>
          </p:cNvPicPr>
          <p:nvPr/>
        </p:nvPicPr>
        <p:blipFill>
          <a:blip r:embed="rId5"/>
          <a:stretch>
            <a:fillRect/>
          </a:stretch>
        </p:blipFill>
        <p:spPr>
          <a:xfrm>
            <a:off x="4078224" y="1572768"/>
            <a:ext cx="475488" cy="475488"/>
          </a:xfrm>
          <a:prstGeom prst="rect">
            <a:avLst/>
          </a:prstGeom>
        </p:spPr>
      </p:pic>
      <p:sp>
        <p:nvSpPr>
          <p:cNvPr id="19" name="Text 12"/>
          <p:cNvSpPr/>
          <p:nvPr/>
        </p:nvSpPr>
        <p:spPr>
          <a:xfrm>
            <a:off x="3621024" y="2578608"/>
            <a:ext cx="1389888" cy="274320"/>
          </a:xfrm>
          <a:prstGeom prst="rect">
            <a:avLst/>
          </a:prstGeom>
          <a:noFill/>
          <a:ln/>
        </p:spPr>
        <p:txBody>
          <a:bodyPr wrap="square" lIns="0" tIns="0" rIns="0" bIns="0" rtlCol="0" anchor="ctr"/>
          <a:lstStyle/>
          <a:p>
            <a:pPr algn="ctr" indent="0" marL="0">
              <a:buNone/>
            </a:pPr>
            <a:r>
              <a:rPr lang="en-US" sz="1000" b="1" dirty="0">
                <a:solidFill>
                  <a:srgbClr val="1B2A3B"/>
                </a:solidFill>
              </a:rPr>
              <a:t>Knowledge Base</a:t>
            </a:r>
            <a:endParaRPr lang="en-US" sz="1000" dirty="0"/>
          </a:p>
        </p:txBody>
      </p:sp>
      <p:sp>
        <p:nvSpPr>
          <p:cNvPr id="20" name="Text 13"/>
          <p:cNvSpPr/>
          <p:nvPr/>
        </p:nvSpPr>
        <p:spPr>
          <a:xfrm>
            <a:off x="3602736" y="2852928"/>
            <a:ext cx="1426464" cy="548640"/>
          </a:xfrm>
          <a:prstGeom prst="rect">
            <a:avLst/>
          </a:prstGeom>
          <a:noFill/>
          <a:ln/>
        </p:spPr>
        <p:txBody>
          <a:bodyPr wrap="square" lIns="0" tIns="0" rIns="0" bIns="0" rtlCol="0" anchor="ctr"/>
          <a:lstStyle/>
          <a:p>
            <a:pPr algn="ctr" indent="0" marL="0">
              <a:buNone/>
            </a:pPr>
            <a:r>
              <a:rPr lang="en-US" sz="850" dirty="0">
                <a:solidFill>
                  <a:srgbClr val="64748B"/>
                </a:solidFill>
              </a:rPr>
              <a:t>Retourne les chunks (morceaux) pertinents</a:t>
            </a:r>
            <a:endParaRPr lang="en-US" sz="850" dirty="0"/>
          </a:p>
        </p:txBody>
      </p:sp>
      <p:pic>
        <p:nvPicPr>
          <p:cNvPr id="21" name="Image 5" descr="preencoded.png">    </p:cNvPr>
          <p:cNvPicPr>
            <a:picLocks noChangeAspect="1"/>
          </p:cNvPicPr>
          <p:nvPr/>
        </p:nvPicPr>
        <p:blipFill>
          <a:blip r:embed="rId6"/>
          <a:stretch>
            <a:fillRect/>
          </a:stretch>
        </p:blipFill>
        <p:spPr>
          <a:xfrm>
            <a:off x="5010912" y="1783080"/>
            <a:ext cx="329184" cy="329184"/>
          </a:xfrm>
          <a:prstGeom prst="rect">
            <a:avLst/>
          </a:prstGeom>
        </p:spPr>
      </p:pic>
      <p:sp>
        <p:nvSpPr>
          <p:cNvPr id="22" name="Shape 14"/>
          <p:cNvSpPr/>
          <p:nvPr/>
        </p:nvSpPr>
        <p:spPr>
          <a:xfrm>
            <a:off x="5449824" y="1325880"/>
            <a:ext cx="1170432" cy="1170432"/>
          </a:xfrm>
          <a:prstGeom prst="ellipse">
            <a:avLst/>
          </a:prstGeom>
          <a:solidFill>
            <a:srgbClr val="0D9488"/>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23" name="Image 6" descr="preencoded.png">    </p:cNvPr>
          <p:cNvPicPr>
            <a:picLocks noChangeAspect="1"/>
          </p:cNvPicPr>
          <p:nvPr/>
        </p:nvPicPr>
        <p:blipFill>
          <a:blip r:embed="rId7"/>
          <a:stretch>
            <a:fillRect/>
          </a:stretch>
        </p:blipFill>
        <p:spPr>
          <a:xfrm>
            <a:off x="5797296" y="1572768"/>
            <a:ext cx="475488" cy="475488"/>
          </a:xfrm>
          <a:prstGeom prst="rect">
            <a:avLst/>
          </a:prstGeom>
        </p:spPr>
      </p:pic>
      <p:sp>
        <p:nvSpPr>
          <p:cNvPr id="24" name="Text 15"/>
          <p:cNvSpPr/>
          <p:nvPr/>
        </p:nvSpPr>
        <p:spPr>
          <a:xfrm>
            <a:off x="5340096" y="2578608"/>
            <a:ext cx="1389888" cy="274320"/>
          </a:xfrm>
          <a:prstGeom prst="rect">
            <a:avLst/>
          </a:prstGeom>
          <a:noFill/>
          <a:ln/>
        </p:spPr>
        <p:txBody>
          <a:bodyPr wrap="square" lIns="0" tIns="0" rIns="0" bIns="0" rtlCol="0" anchor="ctr"/>
          <a:lstStyle/>
          <a:p>
            <a:pPr algn="ctr" indent="0" marL="0">
              <a:buNone/>
            </a:pPr>
            <a:r>
              <a:rPr lang="en-US" sz="1000" b="1" dirty="0">
                <a:solidFill>
                  <a:srgbClr val="1B2A3B"/>
                </a:solidFill>
              </a:rPr>
              <a:t>LLM (IA)</a:t>
            </a:r>
            <a:endParaRPr lang="en-US" sz="1000" dirty="0"/>
          </a:p>
        </p:txBody>
      </p:sp>
      <p:sp>
        <p:nvSpPr>
          <p:cNvPr id="25" name="Text 16"/>
          <p:cNvSpPr/>
          <p:nvPr/>
        </p:nvSpPr>
        <p:spPr>
          <a:xfrm>
            <a:off x="5321808" y="2852928"/>
            <a:ext cx="1426464" cy="548640"/>
          </a:xfrm>
          <a:prstGeom prst="rect">
            <a:avLst/>
          </a:prstGeom>
          <a:noFill/>
          <a:ln/>
        </p:spPr>
        <p:txBody>
          <a:bodyPr wrap="square" lIns="0" tIns="0" rIns="0" bIns="0" rtlCol="0" anchor="ctr"/>
          <a:lstStyle/>
          <a:p>
            <a:pPr algn="ctr" indent="0" marL="0">
              <a:buNone/>
            </a:pPr>
            <a:r>
              <a:rPr lang="en-US" sz="850" dirty="0">
                <a:solidFill>
                  <a:srgbClr val="64748B"/>
                </a:solidFill>
              </a:rPr>
              <a:t>Formule la réponse à partir des chunks trouvés</a:t>
            </a:r>
            <a:endParaRPr lang="en-US" sz="850" dirty="0"/>
          </a:p>
        </p:txBody>
      </p:sp>
      <p:pic>
        <p:nvPicPr>
          <p:cNvPr id="26" name="Image 7" descr="preencoded.png">    </p:cNvPr>
          <p:cNvPicPr>
            <a:picLocks noChangeAspect="1"/>
          </p:cNvPicPr>
          <p:nvPr/>
        </p:nvPicPr>
        <p:blipFill>
          <a:blip r:embed="rId8"/>
          <a:stretch>
            <a:fillRect/>
          </a:stretch>
        </p:blipFill>
        <p:spPr>
          <a:xfrm>
            <a:off x="6729984" y="1783080"/>
            <a:ext cx="329184" cy="329184"/>
          </a:xfrm>
          <a:prstGeom prst="rect">
            <a:avLst/>
          </a:prstGeom>
        </p:spPr>
      </p:pic>
      <p:sp>
        <p:nvSpPr>
          <p:cNvPr id="27" name="Shape 17"/>
          <p:cNvSpPr/>
          <p:nvPr/>
        </p:nvSpPr>
        <p:spPr>
          <a:xfrm>
            <a:off x="7168896" y="1325880"/>
            <a:ext cx="1170432" cy="1170432"/>
          </a:xfrm>
          <a:prstGeom prst="ellipse">
            <a:avLst/>
          </a:prstGeom>
          <a:solidFill>
            <a:srgbClr val="22C55E"/>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28" name="Image 8" descr="preencoded.png">    </p:cNvPr>
          <p:cNvPicPr>
            <a:picLocks noChangeAspect="1"/>
          </p:cNvPicPr>
          <p:nvPr/>
        </p:nvPicPr>
        <p:blipFill>
          <a:blip r:embed="rId9"/>
          <a:stretch>
            <a:fillRect/>
          </a:stretch>
        </p:blipFill>
        <p:spPr>
          <a:xfrm>
            <a:off x="7516368" y="1572768"/>
            <a:ext cx="475488" cy="475488"/>
          </a:xfrm>
          <a:prstGeom prst="rect">
            <a:avLst/>
          </a:prstGeom>
        </p:spPr>
      </p:pic>
      <p:sp>
        <p:nvSpPr>
          <p:cNvPr id="29" name="Text 18"/>
          <p:cNvSpPr/>
          <p:nvPr/>
        </p:nvSpPr>
        <p:spPr>
          <a:xfrm>
            <a:off x="7059168" y="2578608"/>
            <a:ext cx="1389888" cy="274320"/>
          </a:xfrm>
          <a:prstGeom prst="rect">
            <a:avLst/>
          </a:prstGeom>
          <a:noFill/>
          <a:ln/>
        </p:spPr>
        <p:txBody>
          <a:bodyPr wrap="square" lIns="0" tIns="0" rIns="0" bIns="0" rtlCol="0" anchor="ctr"/>
          <a:lstStyle/>
          <a:p>
            <a:pPr algn="ctr" indent="0" marL="0">
              <a:buNone/>
            </a:pPr>
            <a:r>
              <a:rPr lang="en-US" sz="1000" b="1" dirty="0">
                <a:solidFill>
                  <a:srgbClr val="1B2A3B"/>
                </a:solidFill>
              </a:rPr>
              <a:t>Réponse</a:t>
            </a:r>
            <a:endParaRPr lang="en-US" sz="1000" dirty="0"/>
          </a:p>
        </p:txBody>
      </p:sp>
      <p:sp>
        <p:nvSpPr>
          <p:cNvPr id="30" name="Text 19"/>
          <p:cNvSpPr/>
          <p:nvPr/>
        </p:nvSpPr>
        <p:spPr>
          <a:xfrm>
            <a:off x="7040880" y="2852928"/>
            <a:ext cx="1426464" cy="548640"/>
          </a:xfrm>
          <a:prstGeom prst="rect">
            <a:avLst/>
          </a:prstGeom>
          <a:noFill/>
          <a:ln/>
        </p:spPr>
        <p:txBody>
          <a:bodyPr wrap="square" lIns="0" tIns="0" rIns="0" bIns="0" rtlCol="0" anchor="ctr"/>
          <a:lstStyle/>
          <a:p>
            <a:pPr algn="ctr" indent="0" marL="0">
              <a:buNone/>
            </a:pPr>
            <a:r>
              <a:rPr lang="en-US" sz="850" dirty="0">
                <a:solidFill>
                  <a:srgbClr val="64748B"/>
                </a:solidFill>
              </a:rPr>
              <a:t>Réponse + sources (issue, doc, PR)</a:t>
            </a:r>
            <a:endParaRPr lang="en-US" sz="850" dirty="0"/>
          </a:p>
        </p:txBody>
      </p:sp>
      <p:sp>
        <p:nvSpPr>
          <p:cNvPr id="31" name="Shape 20"/>
          <p:cNvSpPr/>
          <p:nvPr/>
        </p:nvSpPr>
        <p:spPr>
          <a:xfrm>
            <a:off x="365760" y="3547872"/>
            <a:ext cx="8412480" cy="1353312"/>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2" name="Shape 21"/>
          <p:cNvSpPr/>
          <p:nvPr/>
        </p:nvSpPr>
        <p:spPr>
          <a:xfrm>
            <a:off x="365760" y="3547872"/>
            <a:ext cx="64008" cy="1353312"/>
          </a:xfrm>
          <a:prstGeom prst="rect">
            <a:avLst/>
          </a:prstGeom>
          <a:solidFill>
            <a:srgbClr val="0D9488"/>
          </a:solidFill>
          <a:ln w="12700">
            <a:solidFill>
              <a:srgbClr val="000000"/>
            </a:solidFill>
            <a:prstDash val="solid"/>
          </a:ln>
        </p:spPr>
      </p:sp>
      <p:sp>
        <p:nvSpPr>
          <p:cNvPr id="33" name="Text 22"/>
          <p:cNvSpPr/>
          <p:nvPr/>
        </p:nvSpPr>
        <p:spPr>
          <a:xfrm>
            <a:off x="566928" y="3621024"/>
            <a:ext cx="4114800" cy="256032"/>
          </a:xfrm>
          <a:prstGeom prst="rect">
            <a:avLst/>
          </a:prstGeom>
          <a:noFill/>
          <a:ln/>
        </p:spPr>
        <p:txBody>
          <a:bodyPr wrap="square" lIns="0" tIns="0" rIns="0" bIns="0" rtlCol="0" anchor="ctr"/>
          <a:lstStyle/>
          <a:p>
            <a:pPr indent="0" marL="0">
              <a:buNone/>
            </a:pPr>
            <a:r>
              <a:rPr lang="en-US" sz="1100" b="1" dirty="0">
                <a:solidFill>
                  <a:srgbClr val="0D9488"/>
                </a:solidFill>
              </a:rPr>
              <a:t>Mon travail dans ce projet :</a:t>
            </a:r>
            <a:endParaRPr lang="en-US" sz="1100" dirty="0"/>
          </a:p>
        </p:txBody>
      </p:sp>
      <p:sp>
        <p:nvSpPr>
          <p:cNvPr id="34" name="Text 23"/>
          <p:cNvSpPr/>
          <p:nvPr/>
        </p:nvSpPr>
        <p:spPr>
          <a:xfrm>
            <a:off x="566928" y="3877056"/>
            <a:ext cx="7955280" cy="822960"/>
          </a:xfrm>
          <a:prstGeom prst="rect">
            <a:avLst/>
          </a:prstGeom>
          <a:noFill/>
          <a:ln/>
        </p:spPr>
        <p:txBody>
          <a:bodyPr wrap="square" lIns="0" tIns="0" rIns="0" bIns="0" rtlCol="0" anchor="ctr"/>
          <a:lstStyle/>
          <a:p>
            <a:pPr indent="0" marL="0">
              <a:buNone/>
            </a:pPr>
            <a:r>
              <a:rPr lang="en-US" sz="1100" dirty="0">
                <a:solidFill>
                  <a:srgbClr val="1B2A3B"/>
                </a:solidFill>
              </a:rPr>
              <a:t>Je ne construis pas le LLM ni la plateforme ST ChatGPT. Mon rôle = préparer les données qui alimentent la Knowledge Base. Si les données sont mauvaises → les réponses sont mauvaises. Si les données sont bonnes → les réponses sont bonnes.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03 — LES DONNÉES UTILISÉES</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D'où vient l'information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Tout est extrait de GitHub STM32Cube — rien n'est inventé</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34440"/>
            <a:ext cx="4114800" cy="16276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34440"/>
            <a:ext cx="4114800" cy="365760"/>
          </a:xfrm>
          <a:prstGeom prst="rect">
            <a:avLst/>
          </a:prstGeom>
          <a:solidFill>
            <a:srgbClr val="EF4444"/>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475488" y="1298448"/>
            <a:ext cx="256032" cy="256032"/>
          </a:xfrm>
          <a:prstGeom prst="rect">
            <a:avLst/>
          </a:prstGeom>
        </p:spPr>
      </p:pic>
      <p:sp>
        <p:nvSpPr>
          <p:cNvPr id="10" name="Text 7"/>
          <p:cNvSpPr/>
          <p:nvPr/>
        </p:nvSpPr>
        <p:spPr>
          <a:xfrm>
            <a:off x="804672" y="1298448"/>
            <a:ext cx="2560320" cy="237744"/>
          </a:xfrm>
          <a:prstGeom prst="rect">
            <a:avLst/>
          </a:prstGeom>
          <a:noFill/>
          <a:ln/>
        </p:spPr>
        <p:txBody>
          <a:bodyPr wrap="square" lIns="0" tIns="0" rIns="0" bIns="0" rtlCol="0" anchor="ctr"/>
          <a:lstStyle/>
          <a:p>
            <a:pPr indent="0" marL="0">
              <a:buNone/>
            </a:pPr>
            <a:r>
              <a:rPr lang="en-US" sz="1200" b="1" dirty="0">
                <a:solidFill>
                  <a:srgbClr val="FFFFFF"/>
                </a:solidFill>
              </a:rPr>
              <a:t>Issues GitHub</a:t>
            </a:r>
            <a:endParaRPr lang="en-US" sz="1200" dirty="0"/>
          </a:p>
        </p:txBody>
      </p:sp>
      <p:sp>
        <p:nvSpPr>
          <p:cNvPr id="11" name="Shape 8"/>
          <p:cNvSpPr/>
          <p:nvPr/>
        </p:nvSpPr>
        <p:spPr>
          <a:xfrm>
            <a:off x="3584448" y="1271016"/>
            <a:ext cx="822960" cy="310896"/>
          </a:xfrm>
          <a:prstGeom prst="rect">
            <a:avLst>
              <a:gd name="adj" fmla="val 17647"/>
            </a:avLst>
          </a:prstGeom>
          <a:solidFill>
            <a:srgbClr val="FFFFFF">
              <a:alpha val="75000"/>
            </a:srgbClr>
          </a:solidFill>
          <a:ln w="12700">
            <a:solidFill>
              <a:srgbClr val="000000"/>
            </a:solidFill>
            <a:prstDash val="solid"/>
          </a:ln>
        </p:spPr>
      </p:sp>
      <p:sp>
        <p:nvSpPr>
          <p:cNvPr id="12" name="Text 9"/>
          <p:cNvSpPr/>
          <p:nvPr/>
        </p:nvSpPr>
        <p:spPr>
          <a:xfrm>
            <a:off x="3584448" y="127101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300+</a:t>
            </a:r>
            <a:endParaRPr lang="en-US" sz="1100" dirty="0"/>
          </a:p>
        </p:txBody>
      </p:sp>
      <p:sp>
        <p:nvSpPr>
          <p:cNvPr id="13" name="Text 10"/>
          <p:cNvSpPr/>
          <p:nvPr/>
        </p:nvSpPr>
        <p:spPr>
          <a:xfrm>
            <a:off x="493776" y="1673352"/>
            <a:ext cx="3858768" cy="749808"/>
          </a:xfrm>
          <a:prstGeom prst="rect">
            <a:avLst/>
          </a:prstGeom>
          <a:noFill/>
          <a:ln/>
        </p:spPr>
        <p:txBody>
          <a:bodyPr wrap="square" lIns="0" tIns="0" rIns="0" bIns="0" rtlCol="0" anchor="ctr"/>
          <a:lstStyle/>
          <a:p>
            <a:pPr indent="0" marL="0">
              <a:buNone/>
            </a:pPr>
            <a:r>
              <a:rPr lang="en-US" sz="1050" dirty="0">
                <a:solidFill>
                  <a:srgbClr val="1B2A3B"/>
                </a:solidFill>
              </a:rPr>
              <a:t>Bugs signalés par des utilisateurs : titre, description, commentaires, état (ouvert/résolu)</a:t>
            </a:r>
            <a:endParaRPr lang="en-US" sz="1050" dirty="0"/>
          </a:p>
        </p:txBody>
      </p:sp>
      <p:sp>
        <p:nvSpPr>
          <p:cNvPr id="14" name="Text 11"/>
          <p:cNvSpPr/>
          <p:nvPr/>
        </p:nvSpPr>
        <p:spPr>
          <a:xfrm>
            <a:off x="493776" y="2587752"/>
            <a:ext cx="3858768" cy="201168"/>
          </a:xfrm>
          <a:prstGeom prst="rect">
            <a:avLst/>
          </a:prstGeom>
          <a:noFill/>
          <a:ln/>
        </p:spPr>
        <p:txBody>
          <a:bodyPr wrap="square" lIns="0" tIns="0" rIns="0" bIns="0" rtlCol="0" anchor="ctr"/>
          <a:lstStyle/>
          <a:p>
            <a:pPr indent="0" marL="0">
              <a:buNone/>
            </a:pPr>
            <a:r>
              <a:rPr lang="en-US" sz="850" i="1" dirty="0">
                <a:solidFill>
                  <a:srgbClr val="64748B"/>
                </a:solidFill>
              </a:rPr>
              <a:t>Source : STM32CubeH7 &amp; H5</a:t>
            </a:r>
            <a:endParaRPr lang="en-US" sz="850" dirty="0"/>
          </a:p>
        </p:txBody>
      </p:sp>
      <p:sp>
        <p:nvSpPr>
          <p:cNvPr id="15" name="Shape 12"/>
          <p:cNvSpPr/>
          <p:nvPr/>
        </p:nvSpPr>
        <p:spPr>
          <a:xfrm>
            <a:off x="4681728" y="1234440"/>
            <a:ext cx="4114800" cy="16276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6" name="Shape 13"/>
          <p:cNvSpPr/>
          <p:nvPr/>
        </p:nvSpPr>
        <p:spPr>
          <a:xfrm>
            <a:off x="4681728" y="1234440"/>
            <a:ext cx="4114800" cy="365760"/>
          </a:xfrm>
          <a:prstGeom prst="rect">
            <a:avLst/>
          </a:prstGeom>
          <a:solidFill>
            <a:srgbClr val="0D9488"/>
          </a:solidFill>
          <a:ln w="12700">
            <a:solidFill>
              <a:srgbClr val="000000"/>
            </a:solidFill>
            <a:prstDash val="solid"/>
          </a:ln>
        </p:spPr>
      </p:sp>
      <p:pic>
        <p:nvPicPr>
          <p:cNvPr id="17" name="Image 1" descr="preencoded.png">    </p:cNvPr>
          <p:cNvPicPr>
            <a:picLocks noChangeAspect="1"/>
          </p:cNvPicPr>
          <p:nvPr/>
        </p:nvPicPr>
        <p:blipFill>
          <a:blip r:embed="rId2"/>
          <a:stretch>
            <a:fillRect/>
          </a:stretch>
        </p:blipFill>
        <p:spPr>
          <a:xfrm>
            <a:off x="4791456" y="1298448"/>
            <a:ext cx="256032" cy="256032"/>
          </a:xfrm>
          <a:prstGeom prst="rect">
            <a:avLst/>
          </a:prstGeom>
        </p:spPr>
      </p:pic>
      <p:sp>
        <p:nvSpPr>
          <p:cNvPr id="18" name="Text 14"/>
          <p:cNvSpPr/>
          <p:nvPr/>
        </p:nvSpPr>
        <p:spPr>
          <a:xfrm>
            <a:off x="5120640" y="1298448"/>
            <a:ext cx="2560320" cy="237744"/>
          </a:xfrm>
          <a:prstGeom prst="rect">
            <a:avLst/>
          </a:prstGeom>
          <a:noFill/>
          <a:ln/>
        </p:spPr>
        <p:txBody>
          <a:bodyPr wrap="square" lIns="0" tIns="0" rIns="0" bIns="0" rtlCol="0" anchor="ctr"/>
          <a:lstStyle/>
          <a:p>
            <a:pPr indent="0" marL="0">
              <a:buNone/>
            </a:pPr>
            <a:r>
              <a:rPr lang="en-US" sz="1200" b="1" dirty="0">
                <a:solidFill>
                  <a:srgbClr val="FFFFFF"/>
                </a:solidFill>
              </a:rPr>
              <a:t>Fichiers techniques</a:t>
            </a:r>
            <a:endParaRPr lang="en-US" sz="1200" dirty="0"/>
          </a:p>
        </p:txBody>
      </p:sp>
      <p:sp>
        <p:nvSpPr>
          <p:cNvPr id="19" name="Shape 15"/>
          <p:cNvSpPr/>
          <p:nvPr/>
        </p:nvSpPr>
        <p:spPr>
          <a:xfrm>
            <a:off x="7900416" y="1271016"/>
            <a:ext cx="822960" cy="310896"/>
          </a:xfrm>
          <a:prstGeom prst="rect">
            <a:avLst>
              <a:gd name="adj" fmla="val 17647"/>
            </a:avLst>
          </a:prstGeom>
          <a:solidFill>
            <a:srgbClr val="FFFFFF">
              <a:alpha val="75000"/>
            </a:srgbClr>
          </a:solidFill>
          <a:ln w="12700">
            <a:solidFill>
              <a:srgbClr val="000000"/>
            </a:solidFill>
            <a:prstDash val="solid"/>
          </a:ln>
        </p:spPr>
      </p:sp>
      <p:sp>
        <p:nvSpPr>
          <p:cNvPr id="20" name="Text 16"/>
          <p:cNvSpPr/>
          <p:nvPr/>
        </p:nvSpPr>
        <p:spPr>
          <a:xfrm>
            <a:off x="7900416" y="127101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5 000+</a:t>
            </a:r>
            <a:endParaRPr lang="en-US" sz="1100" dirty="0"/>
          </a:p>
        </p:txBody>
      </p:sp>
      <p:sp>
        <p:nvSpPr>
          <p:cNvPr id="21" name="Text 17"/>
          <p:cNvSpPr/>
          <p:nvPr/>
        </p:nvSpPr>
        <p:spPr>
          <a:xfrm>
            <a:off x="4809744" y="1673352"/>
            <a:ext cx="3858768" cy="749808"/>
          </a:xfrm>
          <a:prstGeom prst="rect">
            <a:avLst/>
          </a:prstGeom>
          <a:noFill/>
          <a:ln/>
        </p:spPr>
        <p:txBody>
          <a:bodyPr wrap="square" lIns="0" tIns="0" rIns="0" bIns="0" rtlCol="0" anchor="ctr"/>
          <a:lstStyle/>
          <a:p>
            <a:pPr indent="0" marL="0">
              <a:buNone/>
            </a:pPr>
            <a:r>
              <a:rPr lang="en-US" sz="1050" dirty="0">
                <a:solidFill>
                  <a:srgbClr val="1B2A3B"/>
                </a:solidFill>
              </a:rPr>
              <a:t>README, Release Notes, documentation PDF, notes d'application — la base documentaire officielle</a:t>
            </a:r>
            <a:endParaRPr lang="en-US" sz="1050" dirty="0"/>
          </a:p>
        </p:txBody>
      </p:sp>
      <p:sp>
        <p:nvSpPr>
          <p:cNvPr id="22" name="Text 18"/>
          <p:cNvSpPr/>
          <p:nvPr/>
        </p:nvSpPr>
        <p:spPr>
          <a:xfrm>
            <a:off x="4809744" y="2587752"/>
            <a:ext cx="3858768" cy="201168"/>
          </a:xfrm>
          <a:prstGeom prst="rect">
            <a:avLst/>
          </a:prstGeom>
          <a:noFill/>
          <a:ln/>
        </p:spPr>
        <p:txBody>
          <a:bodyPr wrap="square" lIns="0" tIns="0" rIns="0" bIns="0" rtlCol="0" anchor="ctr"/>
          <a:lstStyle/>
          <a:p>
            <a:pPr indent="0" marL="0">
              <a:buNone/>
            </a:pPr>
            <a:r>
              <a:rPr lang="en-US" sz="850" i="1" dirty="0">
                <a:solidFill>
                  <a:srgbClr val="64748B"/>
                </a:solidFill>
              </a:rPr>
              <a:t>Source : Tous les repos</a:t>
            </a:r>
            <a:endParaRPr lang="en-US" sz="850" dirty="0"/>
          </a:p>
        </p:txBody>
      </p:sp>
      <p:sp>
        <p:nvSpPr>
          <p:cNvPr id="23" name="Shape 19"/>
          <p:cNvSpPr/>
          <p:nvPr/>
        </p:nvSpPr>
        <p:spPr>
          <a:xfrm>
            <a:off x="365760" y="3063240"/>
            <a:ext cx="4114800" cy="16276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4" name="Shape 20"/>
          <p:cNvSpPr/>
          <p:nvPr/>
        </p:nvSpPr>
        <p:spPr>
          <a:xfrm>
            <a:off x="365760" y="3063240"/>
            <a:ext cx="4114800" cy="365760"/>
          </a:xfrm>
          <a:prstGeom prst="rect">
            <a:avLst/>
          </a:prstGeom>
          <a:solidFill>
            <a:srgbClr val="F59E0B"/>
          </a:solidFill>
          <a:ln w="12700">
            <a:solidFill>
              <a:srgbClr val="000000"/>
            </a:solidFill>
            <a:prstDash val="solid"/>
          </a:ln>
        </p:spPr>
      </p:sp>
      <p:pic>
        <p:nvPicPr>
          <p:cNvPr id="25" name="Image 2" descr="preencoded.png">    </p:cNvPr>
          <p:cNvPicPr>
            <a:picLocks noChangeAspect="1"/>
          </p:cNvPicPr>
          <p:nvPr/>
        </p:nvPicPr>
        <p:blipFill>
          <a:blip r:embed="rId3"/>
          <a:stretch>
            <a:fillRect/>
          </a:stretch>
        </p:blipFill>
        <p:spPr>
          <a:xfrm>
            <a:off x="475488" y="3127248"/>
            <a:ext cx="256032" cy="256032"/>
          </a:xfrm>
          <a:prstGeom prst="rect">
            <a:avLst/>
          </a:prstGeom>
        </p:spPr>
      </p:pic>
      <p:sp>
        <p:nvSpPr>
          <p:cNvPr id="26" name="Text 21"/>
          <p:cNvSpPr/>
          <p:nvPr/>
        </p:nvSpPr>
        <p:spPr>
          <a:xfrm>
            <a:off x="804672" y="3127248"/>
            <a:ext cx="2560320" cy="237744"/>
          </a:xfrm>
          <a:prstGeom prst="rect">
            <a:avLst/>
          </a:prstGeom>
          <a:noFill/>
          <a:ln/>
        </p:spPr>
        <p:txBody>
          <a:bodyPr wrap="square" lIns="0" tIns="0" rIns="0" bIns="0" rtlCol="0" anchor="ctr"/>
          <a:lstStyle/>
          <a:p>
            <a:pPr indent="0" marL="0">
              <a:buNone/>
            </a:pPr>
            <a:r>
              <a:rPr lang="en-US" sz="1200" b="1" dirty="0">
                <a:solidFill>
                  <a:srgbClr val="FFFFFF"/>
                </a:solidFill>
              </a:rPr>
              <a:t>PRs &amp; Commits</a:t>
            </a:r>
            <a:endParaRPr lang="en-US" sz="1200" dirty="0"/>
          </a:p>
        </p:txBody>
      </p:sp>
      <p:sp>
        <p:nvSpPr>
          <p:cNvPr id="27" name="Shape 22"/>
          <p:cNvSpPr/>
          <p:nvPr/>
        </p:nvSpPr>
        <p:spPr>
          <a:xfrm>
            <a:off x="3584448" y="3099816"/>
            <a:ext cx="822960" cy="310896"/>
          </a:xfrm>
          <a:prstGeom prst="rect">
            <a:avLst>
              <a:gd name="adj" fmla="val 17647"/>
            </a:avLst>
          </a:prstGeom>
          <a:solidFill>
            <a:srgbClr val="FFFFFF">
              <a:alpha val="75000"/>
            </a:srgbClr>
          </a:solidFill>
          <a:ln w="12700">
            <a:solidFill>
              <a:srgbClr val="000000"/>
            </a:solidFill>
            <a:prstDash val="solid"/>
          </a:ln>
        </p:spPr>
      </p:sp>
      <p:sp>
        <p:nvSpPr>
          <p:cNvPr id="28" name="Text 23"/>
          <p:cNvSpPr/>
          <p:nvPr/>
        </p:nvSpPr>
        <p:spPr>
          <a:xfrm>
            <a:off x="3584448" y="309981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Liens</a:t>
            </a:r>
            <a:endParaRPr lang="en-US" sz="1100" dirty="0"/>
          </a:p>
        </p:txBody>
      </p:sp>
      <p:sp>
        <p:nvSpPr>
          <p:cNvPr id="29" name="Text 24"/>
          <p:cNvSpPr/>
          <p:nvPr/>
        </p:nvSpPr>
        <p:spPr>
          <a:xfrm>
            <a:off x="493776" y="3502152"/>
            <a:ext cx="3858768" cy="749808"/>
          </a:xfrm>
          <a:prstGeom prst="rect">
            <a:avLst/>
          </a:prstGeom>
          <a:noFill/>
          <a:ln/>
        </p:spPr>
        <p:txBody>
          <a:bodyPr wrap="square" lIns="0" tIns="0" rIns="0" bIns="0" rtlCol="0" anchor="ctr"/>
          <a:lstStyle/>
          <a:p>
            <a:pPr indent="0" marL="0">
              <a:buNone/>
            </a:pPr>
            <a:r>
              <a:rPr lang="en-US" sz="1050" dirty="0">
                <a:solidFill>
                  <a:srgbClr val="1B2A3B"/>
                </a:solidFill>
              </a:rPr>
              <a:t>Quand un bug est résolu, on retrouve le PR et le commit qui apportent la correction confirmée</a:t>
            </a:r>
            <a:endParaRPr lang="en-US" sz="1050" dirty="0"/>
          </a:p>
        </p:txBody>
      </p:sp>
      <p:sp>
        <p:nvSpPr>
          <p:cNvPr id="30" name="Text 25"/>
          <p:cNvSpPr/>
          <p:nvPr/>
        </p:nvSpPr>
        <p:spPr>
          <a:xfrm>
            <a:off x="493776" y="4416552"/>
            <a:ext cx="3858768" cy="201168"/>
          </a:xfrm>
          <a:prstGeom prst="rect">
            <a:avLst/>
          </a:prstGeom>
          <a:noFill/>
          <a:ln/>
        </p:spPr>
        <p:txBody>
          <a:bodyPr wrap="square" lIns="0" tIns="0" rIns="0" bIns="0" rtlCol="0" anchor="ctr"/>
          <a:lstStyle/>
          <a:p>
            <a:pPr indent="0" marL="0">
              <a:buNone/>
            </a:pPr>
            <a:r>
              <a:rPr lang="en-US" sz="850" i="1" dirty="0">
                <a:solidFill>
                  <a:srgbClr val="64748B"/>
                </a:solidFill>
              </a:rPr>
              <a:t>Source : STM32CubeH7</a:t>
            </a:r>
            <a:endParaRPr lang="en-US" sz="850" dirty="0"/>
          </a:p>
        </p:txBody>
      </p:sp>
      <p:sp>
        <p:nvSpPr>
          <p:cNvPr id="31" name="Shape 26"/>
          <p:cNvSpPr/>
          <p:nvPr/>
        </p:nvSpPr>
        <p:spPr>
          <a:xfrm>
            <a:off x="4681728" y="3063240"/>
            <a:ext cx="4114800" cy="162763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2" name="Shape 27"/>
          <p:cNvSpPr/>
          <p:nvPr/>
        </p:nvSpPr>
        <p:spPr>
          <a:xfrm>
            <a:off x="4681728" y="3063240"/>
            <a:ext cx="4114800" cy="365760"/>
          </a:xfrm>
          <a:prstGeom prst="rect">
            <a:avLst/>
          </a:prstGeom>
          <a:solidFill>
            <a:srgbClr val="1B2A3B"/>
          </a:solidFill>
          <a:ln w="12700">
            <a:solidFill>
              <a:srgbClr val="000000"/>
            </a:solidFill>
            <a:prstDash val="solid"/>
          </a:ln>
        </p:spPr>
      </p:sp>
      <p:pic>
        <p:nvPicPr>
          <p:cNvPr id="33" name="Image 3" descr="preencoded.png">    </p:cNvPr>
          <p:cNvPicPr>
            <a:picLocks noChangeAspect="1"/>
          </p:cNvPicPr>
          <p:nvPr/>
        </p:nvPicPr>
        <p:blipFill>
          <a:blip r:embed="rId4"/>
          <a:stretch>
            <a:fillRect/>
          </a:stretch>
        </p:blipFill>
        <p:spPr>
          <a:xfrm>
            <a:off x="4791456" y="3127248"/>
            <a:ext cx="256032" cy="256032"/>
          </a:xfrm>
          <a:prstGeom prst="rect">
            <a:avLst/>
          </a:prstGeom>
        </p:spPr>
      </p:pic>
      <p:sp>
        <p:nvSpPr>
          <p:cNvPr id="34" name="Text 28"/>
          <p:cNvSpPr/>
          <p:nvPr/>
        </p:nvSpPr>
        <p:spPr>
          <a:xfrm>
            <a:off x="5120640" y="3127248"/>
            <a:ext cx="2560320" cy="237744"/>
          </a:xfrm>
          <a:prstGeom prst="rect">
            <a:avLst/>
          </a:prstGeom>
          <a:noFill/>
          <a:ln/>
        </p:spPr>
        <p:txBody>
          <a:bodyPr wrap="square" lIns="0" tIns="0" rIns="0" bIns="0" rtlCol="0" anchor="ctr"/>
          <a:lstStyle/>
          <a:p>
            <a:pPr indent="0" marL="0">
              <a:buNone/>
            </a:pPr>
            <a:r>
              <a:rPr lang="en-US" sz="1200" b="1" dirty="0">
                <a:solidFill>
                  <a:srgbClr val="FFFFFF"/>
                </a:solidFill>
              </a:rPr>
              <a:t>Resolver Cases</a:t>
            </a:r>
            <a:endParaRPr lang="en-US" sz="1200" dirty="0"/>
          </a:p>
        </p:txBody>
      </p:sp>
      <p:sp>
        <p:nvSpPr>
          <p:cNvPr id="35" name="Shape 29"/>
          <p:cNvSpPr/>
          <p:nvPr/>
        </p:nvSpPr>
        <p:spPr>
          <a:xfrm>
            <a:off x="7900416" y="3099816"/>
            <a:ext cx="822960" cy="310896"/>
          </a:xfrm>
          <a:prstGeom prst="rect">
            <a:avLst>
              <a:gd name="adj" fmla="val 17647"/>
            </a:avLst>
          </a:prstGeom>
          <a:solidFill>
            <a:srgbClr val="FFFFFF">
              <a:alpha val="75000"/>
            </a:srgbClr>
          </a:solidFill>
          <a:ln w="12700">
            <a:solidFill>
              <a:srgbClr val="000000"/>
            </a:solidFill>
            <a:prstDash val="solid"/>
          </a:ln>
        </p:spPr>
      </p:sp>
      <p:sp>
        <p:nvSpPr>
          <p:cNvPr id="36" name="Text 30"/>
          <p:cNvSpPr/>
          <p:nvPr/>
        </p:nvSpPr>
        <p:spPr>
          <a:xfrm>
            <a:off x="7900416" y="3099816"/>
            <a:ext cx="822960" cy="310896"/>
          </a:xfrm>
          <a:prstGeom prst="rect">
            <a:avLst/>
          </a:prstGeom>
          <a:noFill/>
          <a:ln/>
        </p:spPr>
        <p:txBody>
          <a:bodyPr wrap="square" lIns="0" tIns="0" rIns="0" bIns="0" rtlCol="0" anchor="ctr"/>
          <a:lstStyle/>
          <a:p>
            <a:pPr algn="ctr" indent="0" marL="0">
              <a:buNone/>
            </a:pPr>
            <a:r>
              <a:rPr lang="en-US" sz="1100" b="1" dirty="0">
                <a:solidFill>
                  <a:srgbClr val="FFFFFF"/>
                </a:solidFill>
              </a:rPr>
              <a:t>Couche</a:t>
            </a:r>
            <a:endParaRPr lang="en-US" sz="1100" dirty="0"/>
          </a:p>
        </p:txBody>
      </p:sp>
      <p:sp>
        <p:nvSpPr>
          <p:cNvPr id="37" name="Text 31"/>
          <p:cNvSpPr/>
          <p:nvPr/>
        </p:nvSpPr>
        <p:spPr>
          <a:xfrm>
            <a:off x="4809744" y="3502152"/>
            <a:ext cx="3858768" cy="749808"/>
          </a:xfrm>
          <a:prstGeom prst="rect">
            <a:avLst/>
          </a:prstGeom>
          <a:noFill/>
          <a:ln/>
        </p:spPr>
        <p:txBody>
          <a:bodyPr wrap="square" lIns="0" tIns="0" rIns="0" bIns="0" rtlCol="0" anchor="ctr"/>
          <a:lstStyle/>
          <a:p>
            <a:pPr indent="0" marL="0">
              <a:buNone/>
            </a:pPr>
            <a:r>
              <a:rPr lang="en-US" sz="1050" dirty="0">
                <a:solidFill>
                  <a:srgbClr val="1B2A3B"/>
                </a:solidFill>
              </a:rPr>
              <a:t>Des fiches structurées : Problème → Preuve → Solution. Construites automatiquement à partir des issues résolues</a:t>
            </a:r>
            <a:endParaRPr lang="en-US" sz="1050" dirty="0"/>
          </a:p>
        </p:txBody>
      </p:sp>
      <p:sp>
        <p:nvSpPr>
          <p:cNvPr id="38" name="Text 32"/>
          <p:cNvSpPr/>
          <p:nvPr/>
        </p:nvSpPr>
        <p:spPr>
          <a:xfrm>
            <a:off x="4809744" y="4416552"/>
            <a:ext cx="3858768" cy="201168"/>
          </a:xfrm>
          <a:prstGeom prst="rect">
            <a:avLst/>
          </a:prstGeom>
          <a:noFill/>
          <a:ln/>
        </p:spPr>
        <p:txBody>
          <a:bodyPr wrap="square" lIns="0" tIns="0" rIns="0" bIns="0" rtlCol="0" anchor="ctr"/>
          <a:lstStyle/>
          <a:p>
            <a:pPr indent="0" marL="0">
              <a:buNone/>
            </a:pPr>
            <a:r>
              <a:rPr lang="en-US" sz="850" i="1" dirty="0">
                <a:solidFill>
                  <a:srgbClr val="64748B"/>
                </a:solidFill>
              </a:rPr>
              <a:t>Source : Généré par pipeline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04 — LE PIPELINE DE PREPROCESSING</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7 étapes pour transformer la donnée brute</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Chaque étape a un rôle précis — rien n'est fait au hasard</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256032"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256032" y="1234440"/>
            <a:ext cx="1097280" cy="438912"/>
          </a:xfrm>
          <a:prstGeom prst="rect">
            <a:avLst/>
          </a:prstGeom>
          <a:solidFill>
            <a:srgbClr val="1B2A3B"/>
          </a:solidFill>
          <a:ln w="12700">
            <a:solidFill>
              <a:srgbClr val="000000"/>
            </a:solidFill>
            <a:prstDash val="solid"/>
          </a:ln>
        </p:spPr>
      </p:sp>
      <p:sp>
        <p:nvSpPr>
          <p:cNvPr id="9" name="Text 7"/>
          <p:cNvSpPr/>
          <p:nvPr/>
        </p:nvSpPr>
        <p:spPr>
          <a:xfrm>
            <a:off x="256032"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pic>
        <p:nvPicPr>
          <p:cNvPr id="10" name="Image 0" descr="preencoded.png">    </p:cNvPr>
          <p:cNvPicPr>
            <a:picLocks noChangeAspect="1"/>
          </p:cNvPicPr>
          <p:nvPr/>
        </p:nvPicPr>
        <p:blipFill>
          <a:blip r:embed="rId1"/>
          <a:stretch>
            <a:fillRect/>
          </a:stretch>
        </p:blipFill>
        <p:spPr>
          <a:xfrm>
            <a:off x="676656" y="1316736"/>
            <a:ext cx="329184" cy="329184"/>
          </a:xfrm>
          <a:prstGeom prst="rect">
            <a:avLst/>
          </a:prstGeom>
        </p:spPr>
      </p:pic>
      <p:sp>
        <p:nvSpPr>
          <p:cNvPr id="11" name="Text 8"/>
          <p:cNvSpPr/>
          <p:nvPr/>
        </p:nvSpPr>
        <p:spPr>
          <a:xfrm>
            <a:off x="301752"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Ingestion</a:t>
            </a:r>
            <a:endParaRPr lang="en-US" sz="1050" dirty="0"/>
          </a:p>
        </p:txBody>
      </p:sp>
      <p:sp>
        <p:nvSpPr>
          <p:cNvPr id="12" name="Text 9"/>
          <p:cNvSpPr/>
          <p:nvPr/>
        </p:nvSpPr>
        <p:spPr>
          <a:xfrm>
            <a:off x="301752"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Télécharger les données</a:t>
            </a:r>
            <a:endParaRPr lang="en-US" sz="900" dirty="0"/>
          </a:p>
          <a:p>
            <a:pPr algn="ctr" indent="0" marL="0">
              <a:buNone/>
            </a:pPr>
            <a:r>
              <a:rPr lang="en-US" sz="900" dirty="0">
                <a:solidFill>
                  <a:srgbClr val="64748B"/>
                </a:solidFill>
              </a:rPr>
              <a:t>brutes depuis GitHub</a:t>
            </a:r>
            <a:endParaRPr lang="en-US" sz="900" dirty="0"/>
          </a:p>
        </p:txBody>
      </p:sp>
      <p:pic>
        <p:nvPicPr>
          <p:cNvPr id="13" name="Image 1" descr="preencoded.png">    </p:cNvPr>
          <p:cNvPicPr>
            <a:picLocks noChangeAspect="1"/>
          </p:cNvPicPr>
          <p:nvPr/>
        </p:nvPicPr>
        <p:blipFill>
          <a:blip r:embed="rId2"/>
          <a:stretch>
            <a:fillRect/>
          </a:stretch>
        </p:blipFill>
        <p:spPr>
          <a:xfrm>
            <a:off x="1399032" y="2267712"/>
            <a:ext cx="237744" cy="237744"/>
          </a:xfrm>
          <a:prstGeom prst="rect">
            <a:avLst/>
          </a:prstGeom>
        </p:spPr>
      </p:pic>
      <p:sp>
        <p:nvSpPr>
          <p:cNvPr id="14" name="Shape 10"/>
          <p:cNvSpPr/>
          <p:nvPr/>
        </p:nvSpPr>
        <p:spPr>
          <a:xfrm>
            <a:off x="1499616"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1"/>
          <p:cNvSpPr/>
          <p:nvPr/>
        </p:nvSpPr>
        <p:spPr>
          <a:xfrm>
            <a:off x="1499616" y="1234440"/>
            <a:ext cx="1097280" cy="438912"/>
          </a:xfrm>
          <a:prstGeom prst="rect">
            <a:avLst/>
          </a:prstGeom>
          <a:solidFill>
            <a:srgbClr val="F59E0B"/>
          </a:solidFill>
          <a:ln w="12700">
            <a:solidFill>
              <a:srgbClr val="000000"/>
            </a:solidFill>
            <a:prstDash val="solid"/>
          </a:ln>
        </p:spPr>
      </p:sp>
      <p:sp>
        <p:nvSpPr>
          <p:cNvPr id="16" name="Text 12"/>
          <p:cNvSpPr/>
          <p:nvPr/>
        </p:nvSpPr>
        <p:spPr>
          <a:xfrm>
            <a:off x="1499616"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pic>
        <p:nvPicPr>
          <p:cNvPr id="17" name="Image 2" descr="preencoded.png">    </p:cNvPr>
          <p:cNvPicPr>
            <a:picLocks noChangeAspect="1"/>
          </p:cNvPicPr>
          <p:nvPr/>
        </p:nvPicPr>
        <p:blipFill>
          <a:blip r:embed="rId3"/>
          <a:stretch>
            <a:fillRect/>
          </a:stretch>
        </p:blipFill>
        <p:spPr>
          <a:xfrm>
            <a:off x="1920240" y="1316736"/>
            <a:ext cx="329184" cy="329184"/>
          </a:xfrm>
          <a:prstGeom prst="rect">
            <a:avLst/>
          </a:prstGeom>
        </p:spPr>
      </p:pic>
      <p:sp>
        <p:nvSpPr>
          <p:cNvPr id="18" name="Text 13"/>
          <p:cNvSpPr/>
          <p:nvPr/>
        </p:nvSpPr>
        <p:spPr>
          <a:xfrm>
            <a:off x="1545336"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Cleaning</a:t>
            </a:r>
            <a:endParaRPr lang="en-US" sz="1050" dirty="0"/>
          </a:p>
        </p:txBody>
      </p:sp>
      <p:sp>
        <p:nvSpPr>
          <p:cNvPr id="19" name="Text 14"/>
          <p:cNvSpPr/>
          <p:nvPr/>
        </p:nvSpPr>
        <p:spPr>
          <a:xfrm>
            <a:off x="1545336"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Nettoyer : enlever le</a:t>
            </a:r>
            <a:endParaRPr lang="en-US" sz="900" dirty="0"/>
          </a:p>
          <a:p>
            <a:pPr algn="ctr" indent="0" marL="0">
              <a:buNone/>
            </a:pPr>
            <a:r>
              <a:rPr lang="en-US" sz="900" dirty="0">
                <a:solidFill>
                  <a:srgbClr val="64748B"/>
                </a:solidFill>
              </a:rPr>
              <a:t>HTML, normaliser</a:t>
            </a:r>
            <a:endParaRPr lang="en-US" sz="900" dirty="0"/>
          </a:p>
        </p:txBody>
      </p:sp>
      <p:pic>
        <p:nvPicPr>
          <p:cNvPr id="20" name="Image 3" descr="preencoded.png">    </p:cNvPr>
          <p:cNvPicPr>
            <a:picLocks noChangeAspect="1"/>
          </p:cNvPicPr>
          <p:nvPr/>
        </p:nvPicPr>
        <p:blipFill>
          <a:blip r:embed="rId4"/>
          <a:stretch>
            <a:fillRect/>
          </a:stretch>
        </p:blipFill>
        <p:spPr>
          <a:xfrm>
            <a:off x="2642616" y="2267712"/>
            <a:ext cx="237744" cy="237744"/>
          </a:xfrm>
          <a:prstGeom prst="rect">
            <a:avLst/>
          </a:prstGeom>
        </p:spPr>
      </p:pic>
      <p:sp>
        <p:nvSpPr>
          <p:cNvPr id="21" name="Shape 15"/>
          <p:cNvSpPr/>
          <p:nvPr/>
        </p:nvSpPr>
        <p:spPr>
          <a:xfrm>
            <a:off x="2743200"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2" name="Shape 16"/>
          <p:cNvSpPr/>
          <p:nvPr/>
        </p:nvSpPr>
        <p:spPr>
          <a:xfrm>
            <a:off x="2743200" y="1234440"/>
            <a:ext cx="1097280" cy="438912"/>
          </a:xfrm>
          <a:prstGeom prst="rect">
            <a:avLst/>
          </a:prstGeom>
          <a:solidFill>
            <a:srgbClr val="0D9488"/>
          </a:solidFill>
          <a:ln w="12700">
            <a:solidFill>
              <a:srgbClr val="000000"/>
            </a:solidFill>
            <a:prstDash val="solid"/>
          </a:ln>
        </p:spPr>
      </p:sp>
      <p:sp>
        <p:nvSpPr>
          <p:cNvPr id="23" name="Text 17"/>
          <p:cNvSpPr/>
          <p:nvPr/>
        </p:nvSpPr>
        <p:spPr>
          <a:xfrm>
            <a:off x="2743200"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pic>
        <p:nvPicPr>
          <p:cNvPr id="24" name="Image 4" descr="preencoded.png">    </p:cNvPr>
          <p:cNvPicPr>
            <a:picLocks noChangeAspect="1"/>
          </p:cNvPicPr>
          <p:nvPr/>
        </p:nvPicPr>
        <p:blipFill>
          <a:blip r:embed="rId5"/>
          <a:stretch>
            <a:fillRect/>
          </a:stretch>
        </p:blipFill>
        <p:spPr>
          <a:xfrm>
            <a:off x="3163824" y="1316736"/>
            <a:ext cx="329184" cy="329184"/>
          </a:xfrm>
          <a:prstGeom prst="rect">
            <a:avLst/>
          </a:prstGeom>
        </p:spPr>
      </p:pic>
      <p:sp>
        <p:nvSpPr>
          <p:cNvPr id="25" name="Text 18"/>
          <p:cNvSpPr/>
          <p:nvPr/>
        </p:nvSpPr>
        <p:spPr>
          <a:xfrm>
            <a:off x="2788920"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Enrichment</a:t>
            </a:r>
            <a:endParaRPr lang="en-US" sz="1050" dirty="0"/>
          </a:p>
        </p:txBody>
      </p:sp>
      <p:sp>
        <p:nvSpPr>
          <p:cNvPr id="26" name="Text 19"/>
          <p:cNvSpPr/>
          <p:nvPr/>
        </p:nvSpPr>
        <p:spPr>
          <a:xfrm>
            <a:off x="2788920"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Ajouter les métadonnées :</a:t>
            </a:r>
            <a:endParaRPr lang="en-US" sz="900" dirty="0"/>
          </a:p>
          <a:p>
            <a:pPr algn="ctr" indent="0" marL="0">
              <a:buNone/>
            </a:pPr>
            <a:r>
              <a:rPr lang="en-US" sz="900" dirty="0">
                <a:solidFill>
                  <a:srgbClr val="64748B"/>
                </a:solidFill>
              </a:rPr>
              <a:t>board, composant...</a:t>
            </a:r>
            <a:endParaRPr lang="en-US" sz="900" dirty="0"/>
          </a:p>
        </p:txBody>
      </p:sp>
      <p:pic>
        <p:nvPicPr>
          <p:cNvPr id="27" name="Image 5" descr="preencoded.png">    </p:cNvPr>
          <p:cNvPicPr>
            <a:picLocks noChangeAspect="1"/>
          </p:cNvPicPr>
          <p:nvPr/>
        </p:nvPicPr>
        <p:blipFill>
          <a:blip r:embed="rId6"/>
          <a:stretch>
            <a:fillRect/>
          </a:stretch>
        </p:blipFill>
        <p:spPr>
          <a:xfrm>
            <a:off x="3886200" y="2267712"/>
            <a:ext cx="237744" cy="237744"/>
          </a:xfrm>
          <a:prstGeom prst="rect">
            <a:avLst/>
          </a:prstGeom>
        </p:spPr>
      </p:pic>
      <p:sp>
        <p:nvSpPr>
          <p:cNvPr id="28" name="Shape 20"/>
          <p:cNvSpPr/>
          <p:nvPr/>
        </p:nvSpPr>
        <p:spPr>
          <a:xfrm>
            <a:off x="3986784"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9" name="Shape 21"/>
          <p:cNvSpPr/>
          <p:nvPr/>
        </p:nvSpPr>
        <p:spPr>
          <a:xfrm>
            <a:off x="3986784" y="1234440"/>
            <a:ext cx="1097280" cy="438912"/>
          </a:xfrm>
          <a:prstGeom prst="rect">
            <a:avLst/>
          </a:prstGeom>
          <a:solidFill>
            <a:srgbClr val="F59E0B"/>
          </a:solidFill>
          <a:ln w="12700">
            <a:solidFill>
              <a:srgbClr val="000000"/>
            </a:solidFill>
            <a:prstDash val="solid"/>
          </a:ln>
        </p:spPr>
      </p:sp>
      <p:sp>
        <p:nvSpPr>
          <p:cNvPr id="30" name="Text 22"/>
          <p:cNvSpPr/>
          <p:nvPr/>
        </p:nvSpPr>
        <p:spPr>
          <a:xfrm>
            <a:off x="3986784"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pic>
        <p:nvPicPr>
          <p:cNvPr id="31" name="Image 6" descr="preencoded.png">    </p:cNvPr>
          <p:cNvPicPr>
            <a:picLocks noChangeAspect="1"/>
          </p:cNvPicPr>
          <p:nvPr/>
        </p:nvPicPr>
        <p:blipFill>
          <a:blip r:embed="rId7"/>
          <a:stretch>
            <a:fillRect/>
          </a:stretch>
        </p:blipFill>
        <p:spPr>
          <a:xfrm>
            <a:off x="4407408" y="1316736"/>
            <a:ext cx="329184" cy="329184"/>
          </a:xfrm>
          <a:prstGeom prst="rect">
            <a:avLst/>
          </a:prstGeom>
        </p:spPr>
      </p:pic>
      <p:sp>
        <p:nvSpPr>
          <p:cNvPr id="32" name="Text 23"/>
          <p:cNvSpPr/>
          <p:nvPr/>
        </p:nvSpPr>
        <p:spPr>
          <a:xfrm>
            <a:off x="4032504"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Similarity</a:t>
            </a:r>
            <a:endParaRPr lang="en-US" sz="1050" dirty="0"/>
          </a:p>
        </p:txBody>
      </p:sp>
      <p:sp>
        <p:nvSpPr>
          <p:cNvPr id="33" name="Text 24"/>
          <p:cNvSpPr/>
          <p:nvPr/>
        </p:nvSpPr>
        <p:spPr>
          <a:xfrm>
            <a:off x="4032504"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Relier les issues</a:t>
            </a:r>
            <a:endParaRPr lang="en-US" sz="900" dirty="0"/>
          </a:p>
          <a:p>
            <a:pPr algn="ctr" indent="0" marL="0">
              <a:buNone/>
            </a:pPr>
            <a:r>
              <a:rPr lang="en-US" sz="900" dirty="0">
                <a:solidFill>
                  <a:srgbClr val="64748B"/>
                </a:solidFill>
              </a:rPr>
              <a:t>qui parlent du même bug</a:t>
            </a:r>
            <a:endParaRPr lang="en-US" sz="900" dirty="0"/>
          </a:p>
        </p:txBody>
      </p:sp>
      <p:pic>
        <p:nvPicPr>
          <p:cNvPr id="34" name="Image 7" descr="preencoded.png">    </p:cNvPr>
          <p:cNvPicPr>
            <a:picLocks noChangeAspect="1"/>
          </p:cNvPicPr>
          <p:nvPr/>
        </p:nvPicPr>
        <p:blipFill>
          <a:blip r:embed="rId8"/>
          <a:stretch>
            <a:fillRect/>
          </a:stretch>
        </p:blipFill>
        <p:spPr>
          <a:xfrm>
            <a:off x="5129784" y="2267712"/>
            <a:ext cx="237744" cy="237744"/>
          </a:xfrm>
          <a:prstGeom prst="rect">
            <a:avLst/>
          </a:prstGeom>
        </p:spPr>
      </p:pic>
      <p:sp>
        <p:nvSpPr>
          <p:cNvPr id="35" name="Shape 25"/>
          <p:cNvSpPr/>
          <p:nvPr/>
        </p:nvSpPr>
        <p:spPr>
          <a:xfrm>
            <a:off x="5230368"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6" name="Shape 26"/>
          <p:cNvSpPr/>
          <p:nvPr/>
        </p:nvSpPr>
        <p:spPr>
          <a:xfrm>
            <a:off x="5230368" y="1234440"/>
            <a:ext cx="1097280" cy="438912"/>
          </a:xfrm>
          <a:prstGeom prst="rect">
            <a:avLst/>
          </a:prstGeom>
          <a:solidFill>
            <a:srgbClr val="0D9488"/>
          </a:solidFill>
          <a:ln w="12700">
            <a:solidFill>
              <a:srgbClr val="000000"/>
            </a:solidFill>
            <a:prstDash val="solid"/>
          </a:ln>
        </p:spPr>
      </p:sp>
      <p:sp>
        <p:nvSpPr>
          <p:cNvPr id="37" name="Text 27"/>
          <p:cNvSpPr/>
          <p:nvPr/>
        </p:nvSpPr>
        <p:spPr>
          <a:xfrm>
            <a:off x="5230368"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pic>
        <p:nvPicPr>
          <p:cNvPr id="38" name="Image 8" descr="preencoded.png">    </p:cNvPr>
          <p:cNvPicPr>
            <a:picLocks noChangeAspect="1"/>
          </p:cNvPicPr>
          <p:nvPr/>
        </p:nvPicPr>
        <p:blipFill>
          <a:blip r:embed="rId9"/>
          <a:stretch>
            <a:fillRect/>
          </a:stretch>
        </p:blipFill>
        <p:spPr>
          <a:xfrm>
            <a:off x="5650992" y="1316736"/>
            <a:ext cx="329184" cy="329184"/>
          </a:xfrm>
          <a:prstGeom prst="rect">
            <a:avLst/>
          </a:prstGeom>
        </p:spPr>
      </p:pic>
      <p:sp>
        <p:nvSpPr>
          <p:cNvPr id="39" name="Text 28"/>
          <p:cNvSpPr/>
          <p:nvPr/>
        </p:nvSpPr>
        <p:spPr>
          <a:xfrm>
            <a:off x="5276088"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Chunking</a:t>
            </a:r>
            <a:endParaRPr lang="en-US" sz="1050" dirty="0"/>
          </a:p>
        </p:txBody>
      </p:sp>
      <p:sp>
        <p:nvSpPr>
          <p:cNvPr id="40" name="Text 29"/>
          <p:cNvSpPr/>
          <p:nvPr/>
        </p:nvSpPr>
        <p:spPr>
          <a:xfrm>
            <a:off x="5276088"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Découper en morceaux</a:t>
            </a:r>
            <a:endParaRPr lang="en-US" sz="900" dirty="0"/>
          </a:p>
          <a:p>
            <a:pPr algn="ctr" indent="0" marL="0">
              <a:buNone/>
            </a:pPr>
            <a:r>
              <a:rPr lang="en-US" sz="900" dirty="0">
                <a:solidFill>
                  <a:srgbClr val="64748B"/>
                </a:solidFill>
              </a:rPr>
              <a:t>pour la KB</a:t>
            </a:r>
            <a:endParaRPr lang="en-US" sz="900" dirty="0"/>
          </a:p>
        </p:txBody>
      </p:sp>
      <p:pic>
        <p:nvPicPr>
          <p:cNvPr id="41" name="Image 9" descr="preencoded.png">    </p:cNvPr>
          <p:cNvPicPr>
            <a:picLocks noChangeAspect="1"/>
          </p:cNvPicPr>
          <p:nvPr/>
        </p:nvPicPr>
        <p:blipFill>
          <a:blip r:embed="rId10"/>
          <a:stretch>
            <a:fillRect/>
          </a:stretch>
        </p:blipFill>
        <p:spPr>
          <a:xfrm>
            <a:off x="6373368" y="2267712"/>
            <a:ext cx="237744" cy="237744"/>
          </a:xfrm>
          <a:prstGeom prst="rect">
            <a:avLst/>
          </a:prstGeom>
        </p:spPr>
      </p:pic>
      <p:sp>
        <p:nvSpPr>
          <p:cNvPr id="42" name="Shape 30"/>
          <p:cNvSpPr/>
          <p:nvPr/>
        </p:nvSpPr>
        <p:spPr>
          <a:xfrm>
            <a:off x="6473952"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43" name="Shape 31"/>
          <p:cNvSpPr/>
          <p:nvPr/>
        </p:nvSpPr>
        <p:spPr>
          <a:xfrm>
            <a:off x="6473952" y="1234440"/>
            <a:ext cx="1097280" cy="438912"/>
          </a:xfrm>
          <a:prstGeom prst="rect">
            <a:avLst/>
          </a:prstGeom>
          <a:solidFill>
            <a:srgbClr val="1B2A3B"/>
          </a:solidFill>
          <a:ln w="12700">
            <a:solidFill>
              <a:srgbClr val="000000"/>
            </a:solidFill>
            <a:prstDash val="solid"/>
          </a:ln>
        </p:spPr>
      </p:sp>
      <p:sp>
        <p:nvSpPr>
          <p:cNvPr id="44" name="Text 32"/>
          <p:cNvSpPr/>
          <p:nvPr/>
        </p:nvSpPr>
        <p:spPr>
          <a:xfrm>
            <a:off x="6473952"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pic>
        <p:nvPicPr>
          <p:cNvPr id="45" name="Image 10" descr="preencoded.png">    </p:cNvPr>
          <p:cNvPicPr>
            <a:picLocks noChangeAspect="1"/>
          </p:cNvPicPr>
          <p:nvPr/>
        </p:nvPicPr>
        <p:blipFill>
          <a:blip r:embed="rId11"/>
          <a:stretch>
            <a:fillRect/>
          </a:stretch>
        </p:blipFill>
        <p:spPr>
          <a:xfrm>
            <a:off x="6894576" y="1316736"/>
            <a:ext cx="329184" cy="329184"/>
          </a:xfrm>
          <a:prstGeom prst="rect">
            <a:avLst/>
          </a:prstGeom>
        </p:spPr>
      </p:pic>
      <p:sp>
        <p:nvSpPr>
          <p:cNvPr id="46" name="Text 33"/>
          <p:cNvSpPr/>
          <p:nvPr/>
        </p:nvSpPr>
        <p:spPr>
          <a:xfrm>
            <a:off x="6519672"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Evaluation</a:t>
            </a:r>
            <a:endParaRPr lang="en-US" sz="1050" dirty="0"/>
          </a:p>
        </p:txBody>
      </p:sp>
      <p:sp>
        <p:nvSpPr>
          <p:cNvPr id="47" name="Text 34"/>
          <p:cNvSpPr/>
          <p:nvPr/>
        </p:nvSpPr>
        <p:spPr>
          <a:xfrm>
            <a:off x="6519672"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Tester avec 50</a:t>
            </a:r>
            <a:endParaRPr lang="en-US" sz="900" dirty="0"/>
          </a:p>
          <a:p>
            <a:pPr algn="ctr" indent="0" marL="0">
              <a:buNone/>
            </a:pPr>
            <a:r>
              <a:rPr lang="en-US" sz="900" dirty="0">
                <a:solidFill>
                  <a:srgbClr val="64748B"/>
                </a:solidFill>
              </a:rPr>
              <a:t>questions de référence</a:t>
            </a:r>
            <a:endParaRPr lang="en-US" sz="900" dirty="0"/>
          </a:p>
        </p:txBody>
      </p:sp>
      <p:pic>
        <p:nvPicPr>
          <p:cNvPr id="48" name="Image 11" descr="preencoded.png">    </p:cNvPr>
          <p:cNvPicPr>
            <a:picLocks noChangeAspect="1"/>
          </p:cNvPicPr>
          <p:nvPr/>
        </p:nvPicPr>
        <p:blipFill>
          <a:blip r:embed="rId12"/>
          <a:stretch>
            <a:fillRect/>
          </a:stretch>
        </p:blipFill>
        <p:spPr>
          <a:xfrm>
            <a:off x="7616952" y="2267712"/>
            <a:ext cx="237744" cy="237744"/>
          </a:xfrm>
          <a:prstGeom prst="rect">
            <a:avLst/>
          </a:prstGeom>
        </p:spPr>
      </p:pic>
      <p:sp>
        <p:nvSpPr>
          <p:cNvPr id="49" name="Shape 35"/>
          <p:cNvSpPr/>
          <p:nvPr/>
        </p:nvSpPr>
        <p:spPr>
          <a:xfrm>
            <a:off x="7717536" y="1234440"/>
            <a:ext cx="1097280" cy="336499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50" name="Shape 36"/>
          <p:cNvSpPr/>
          <p:nvPr/>
        </p:nvSpPr>
        <p:spPr>
          <a:xfrm>
            <a:off x="7717536" y="1234440"/>
            <a:ext cx="1097280" cy="438912"/>
          </a:xfrm>
          <a:prstGeom prst="rect">
            <a:avLst/>
          </a:prstGeom>
          <a:solidFill>
            <a:srgbClr val="0D9488"/>
          </a:solidFill>
          <a:ln w="12700">
            <a:solidFill>
              <a:srgbClr val="000000"/>
            </a:solidFill>
            <a:prstDash val="solid"/>
          </a:ln>
        </p:spPr>
      </p:sp>
      <p:sp>
        <p:nvSpPr>
          <p:cNvPr id="51" name="Text 37"/>
          <p:cNvSpPr/>
          <p:nvPr/>
        </p:nvSpPr>
        <p:spPr>
          <a:xfrm>
            <a:off x="7717536" y="1234440"/>
            <a:ext cx="329184" cy="438912"/>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pic>
        <p:nvPicPr>
          <p:cNvPr id="52" name="Image 12" descr="preencoded.png">    </p:cNvPr>
          <p:cNvPicPr>
            <a:picLocks noChangeAspect="1"/>
          </p:cNvPicPr>
          <p:nvPr/>
        </p:nvPicPr>
        <p:blipFill>
          <a:blip r:embed="rId13"/>
          <a:stretch>
            <a:fillRect/>
          </a:stretch>
        </p:blipFill>
        <p:spPr>
          <a:xfrm>
            <a:off x="8138160" y="1316736"/>
            <a:ext cx="329184" cy="329184"/>
          </a:xfrm>
          <a:prstGeom prst="rect">
            <a:avLst/>
          </a:prstGeom>
        </p:spPr>
      </p:pic>
      <p:sp>
        <p:nvSpPr>
          <p:cNvPr id="53" name="Text 38"/>
          <p:cNvSpPr/>
          <p:nvPr/>
        </p:nvSpPr>
        <p:spPr>
          <a:xfrm>
            <a:off x="7763256" y="1719072"/>
            <a:ext cx="1005840" cy="292608"/>
          </a:xfrm>
          <a:prstGeom prst="rect">
            <a:avLst/>
          </a:prstGeom>
          <a:noFill/>
          <a:ln/>
        </p:spPr>
        <p:txBody>
          <a:bodyPr wrap="square" lIns="0" tIns="0" rIns="0" bIns="0" rtlCol="0" anchor="ctr"/>
          <a:lstStyle/>
          <a:p>
            <a:pPr algn="ctr" indent="0" marL="0">
              <a:buNone/>
            </a:pPr>
            <a:r>
              <a:rPr lang="en-US" sz="1050" b="1" dirty="0">
                <a:solidFill>
                  <a:srgbClr val="1B2A3B"/>
                </a:solidFill>
              </a:rPr>
              <a:t>Delivery</a:t>
            </a:r>
            <a:endParaRPr lang="en-US" sz="1050" dirty="0"/>
          </a:p>
        </p:txBody>
      </p:sp>
      <p:sp>
        <p:nvSpPr>
          <p:cNvPr id="54" name="Text 39"/>
          <p:cNvSpPr/>
          <p:nvPr/>
        </p:nvSpPr>
        <p:spPr>
          <a:xfrm>
            <a:off x="7763256" y="2048256"/>
            <a:ext cx="1005840" cy="731520"/>
          </a:xfrm>
          <a:prstGeom prst="rect">
            <a:avLst/>
          </a:prstGeom>
          <a:noFill/>
          <a:ln/>
        </p:spPr>
        <p:txBody>
          <a:bodyPr wrap="square" lIns="0" tIns="0" rIns="0" bIns="0" rtlCol="0" anchor="ctr"/>
          <a:lstStyle/>
          <a:p>
            <a:pPr algn="ctr" indent="0" marL="0">
              <a:buNone/>
            </a:pPr>
            <a:r>
              <a:rPr lang="en-US" sz="900" dirty="0">
                <a:solidFill>
                  <a:srgbClr val="64748B"/>
                </a:solidFill>
              </a:rPr>
              <a:t>Livrer les JSON</a:t>
            </a:r>
            <a:endParaRPr lang="en-US" sz="900" dirty="0"/>
          </a:p>
          <a:p>
            <a:pPr algn="ctr" indent="0" marL="0">
              <a:buNone/>
            </a:pPr>
            <a:r>
              <a:rPr lang="en-US" sz="900" dirty="0">
                <a:solidFill>
                  <a:srgbClr val="64748B"/>
                </a:solidFill>
              </a:rPr>
              <a:t>format ST-ready</a:t>
            </a:r>
            <a:endParaRPr lang="en-US" sz="900" dirty="0"/>
          </a:p>
        </p:txBody>
      </p:sp>
      <p:sp>
        <p:nvSpPr>
          <p:cNvPr id="55" name="Shape 40"/>
          <p:cNvSpPr/>
          <p:nvPr/>
        </p:nvSpPr>
        <p:spPr>
          <a:xfrm>
            <a:off x="365760" y="2944368"/>
            <a:ext cx="4114800" cy="181051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56" name="Shape 41"/>
          <p:cNvSpPr/>
          <p:nvPr/>
        </p:nvSpPr>
        <p:spPr>
          <a:xfrm>
            <a:off x="365760" y="2944368"/>
            <a:ext cx="64008" cy="1810512"/>
          </a:xfrm>
          <a:prstGeom prst="rect">
            <a:avLst/>
          </a:prstGeom>
          <a:solidFill>
            <a:srgbClr val="0D9488"/>
          </a:solidFill>
          <a:ln w="12700">
            <a:solidFill>
              <a:srgbClr val="000000"/>
            </a:solidFill>
            <a:prstDash val="solid"/>
          </a:ln>
        </p:spPr>
      </p:sp>
      <p:sp>
        <p:nvSpPr>
          <p:cNvPr id="57" name="Text 42"/>
          <p:cNvSpPr/>
          <p:nvPr/>
        </p:nvSpPr>
        <p:spPr>
          <a:xfrm>
            <a:off x="566928" y="3035808"/>
            <a:ext cx="3794760" cy="274320"/>
          </a:xfrm>
          <a:prstGeom prst="rect">
            <a:avLst/>
          </a:prstGeom>
          <a:noFill/>
          <a:ln/>
        </p:spPr>
        <p:txBody>
          <a:bodyPr wrap="square" lIns="0" tIns="0" rIns="0" bIns="0" rtlCol="0" anchor="ctr"/>
          <a:lstStyle/>
          <a:p>
            <a:pPr indent="0" marL="0">
              <a:buNone/>
            </a:pPr>
            <a:r>
              <a:rPr lang="en-US" sz="1050" b="1" dirty="0">
                <a:solidFill>
                  <a:srgbClr val="0D9488"/>
                </a:solidFill>
              </a:rPr>
              <a:t>❓ Que fait le Cleaning ?</a:t>
            </a:r>
            <a:endParaRPr lang="en-US" sz="1050" dirty="0"/>
          </a:p>
        </p:txBody>
      </p:sp>
      <p:sp>
        <p:nvSpPr>
          <p:cNvPr id="58" name="Text 43"/>
          <p:cNvSpPr/>
          <p:nvPr/>
        </p:nvSpPr>
        <p:spPr>
          <a:xfrm>
            <a:off x="566928" y="3328416"/>
            <a:ext cx="3794760" cy="1280160"/>
          </a:xfrm>
          <a:prstGeom prst="rect">
            <a:avLst/>
          </a:prstGeom>
          <a:noFill/>
          <a:ln/>
        </p:spPr>
        <p:txBody>
          <a:bodyPr wrap="square" lIns="0" tIns="0" rIns="0" bIns="0" rtlCol="0" anchor="ctr"/>
          <a:lstStyle/>
          <a:p>
            <a:pPr indent="0" marL="0">
              <a:buNone/>
            </a:pPr>
            <a:r>
              <a:rPr lang="en-US" sz="1000" dirty="0">
                <a:solidFill>
                  <a:srgbClr val="1B2A3B"/>
                </a:solidFill>
              </a:rPr>
              <a:t>Les données brutes contiennent du HTML cassé, des images non lisibles, des blocs de code non structurés. Le cleaning les transforme en texte propre et exploitable.</a:t>
            </a:r>
            <a:endParaRPr lang="en-US" sz="1000" dirty="0"/>
          </a:p>
        </p:txBody>
      </p:sp>
      <p:sp>
        <p:nvSpPr>
          <p:cNvPr id="59" name="Shape 44"/>
          <p:cNvSpPr/>
          <p:nvPr/>
        </p:nvSpPr>
        <p:spPr>
          <a:xfrm>
            <a:off x="4681728" y="2944368"/>
            <a:ext cx="4114800" cy="1810512"/>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60" name="Shape 45"/>
          <p:cNvSpPr/>
          <p:nvPr/>
        </p:nvSpPr>
        <p:spPr>
          <a:xfrm>
            <a:off x="4681728" y="2944368"/>
            <a:ext cx="64008" cy="1810512"/>
          </a:xfrm>
          <a:prstGeom prst="rect">
            <a:avLst/>
          </a:prstGeom>
          <a:solidFill>
            <a:srgbClr val="0D9488"/>
          </a:solidFill>
          <a:ln w="12700">
            <a:solidFill>
              <a:srgbClr val="000000"/>
            </a:solidFill>
            <a:prstDash val="solid"/>
          </a:ln>
        </p:spPr>
      </p:sp>
      <p:sp>
        <p:nvSpPr>
          <p:cNvPr id="61" name="Text 46"/>
          <p:cNvSpPr/>
          <p:nvPr/>
        </p:nvSpPr>
        <p:spPr>
          <a:xfrm>
            <a:off x="4882896" y="3035808"/>
            <a:ext cx="3794760" cy="274320"/>
          </a:xfrm>
          <a:prstGeom prst="rect">
            <a:avLst/>
          </a:prstGeom>
          <a:noFill/>
          <a:ln/>
        </p:spPr>
        <p:txBody>
          <a:bodyPr wrap="square" lIns="0" tIns="0" rIns="0" bIns="0" rtlCol="0" anchor="ctr"/>
          <a:lstStyle/>
          <a:p>
            <a:pPr indent="0" marL="0">
              <a:buNone/>
            </a:pPr>
            <a:r>
              <a:rPr lang="en-US" sz="1050" b="1" dirty="0">
                <a:solidFill>
                  <a:srgbClr val="0D9488"/>
                </a:solidFill>
              </a:rPr>
              <a:t>❓ Pourquoi découper ?</a:t>
            </a:r>
            <a:endParaRPr lang="en-US" sz="1050" dirty="0"/>
          </a:p>
        </p:txBody>
      </p:sp>
      <p:sp>
        <p:nvSpPr>
          <p:cNvPr id="62" name="Text 47"/>
          <p:cNvSpPr/>
          <p:nvPr/>
        </p:nvSpPr>
        <p:spPr>
          <a:xfrm>
            <a:off x="4882896" y="3328416"/>
            <a:ext cx="3794760" cy="1280160"/>
          </a:xfrm>
          <a:prstGeom prst="rect">
            <a:avLst/>
          </a:prstGeom>
          <a:noFill/>
          <a:ln/>
        </p:spPr>
        <p:txBody>
          <a:bodyPr wrap="square" lIns="0" tIns="0" rIns="0" bIns="0" rtlCol="0" anchor="ctr"/>
          <a:lstStyle/>
          <a:p>
            <a:pPr indent="0" marL="0">
              <a:buNone/>
            </a:pPr>
            <a:r>
              <a:rPr lang="en-US" sz="1000" dirty="0">
                <a:solidFill>
                  <a:srgbClr val="1B2A3B"/>
                </a:solidFill>
              </a:rPr>
              <a:t>L'IA ne peut pas lire 5 000 fichiers d'un coup. On découpe en petits morceaux (chunks). Chaque chunk = un passage précis. La KB indexe ces chunks.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F59E0B"/>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04 — PIPELINE : CLEANING</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Le Cleaning — Pourquoi nettoyer les données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Des données brutes = des réponses imprécises. Des données propres = des réponses utiles.</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4069080" cy="365760"/>
          </a:xfrm>
          <a:prstGeom prst="rect">
            <a:avLst/>
          </a:prstGeom>
          <a:solidFill>
            <a:srgbClr val="EF4444"/>
          </a:solidFill>
          <a:ln w="12700">
            <a:solidFill>
              <a:srgbClr val="000000"/>
            </a:solidFill>
            <a:prstDash val="solid"/>
          </a:ln>
        </p:spPr>
      </p:sp>
      <p:sp>
        <p:nvSpPr>
          <p:cNvPr id="8" name="Text 6"/>
          <p:cNvSpPr/>
          <p:nvPr/>
        </p:nvSpPr>
        <p:spPr>
          <a:xfrm>
            <a:off x="365760" y="1207008"/>
            <a:ext cx="4069080" cy="365760"/>
          </a:xfrm>
          <a:prstGeom prst="rect">
            <a:avLst/>
          </a:prstGeom>
          <a:noFill/>
          <a:ln/>
        </p:spPr>
        <p:txBody>
          <a:bodyPr wrap="square" lIns="0" tIns="0" rIns="0" bIns="0" rtlCol="0" anchor="ctr"/>
          <a:lstStyle/>
          <a:p>
            <a:pPr algn="ctr" indent="0" marL="0">
              <a:buNone/>
            </a:pPr>
            <a:r>
              <a:rPr lang="en-US" sz="1200" b="1" dirty="0">
                <a:solidFill>
                  <a:srgbClr val="FFFFFF"/>
                </a:solidFill>
              </a:rPr>
              <a:t>❌  Donnée brute (avant)</a:t>
            </a:r>
            <a:endParaRPr lang="en-US" sz="1200" dirty="0"/>
          </a:p>
        </p:txBody>
      </p:sp>
      <p:sp>
        <p:nvSpPr>
          <p:cNvPr id="9" name="Shape 7"/>
          <p:cNvSpPr/>
          <p:nvPr/>
        </p:nvSpPr>
        <p:spPr>
          <a:xfrm>
            <a:off x="365760" y="1572768"/>
            <a:ext cx="4069080" cy="321868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0" name="Text 8"/>
          <p:cNvSpPr/>
          <p:nvPr/>
        </p:nvSpPr>
        <p:spPr>
          <a:xfrm>
            <a:off x="502920" y="1645920"/>
            <a:ext cx="3794760" cy="15727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&lt;p class="issue"&gt;The &lt;b&gt;HAL_DMA_Init&lt;/b&gt; crashes when...&lt;img src="/assets/diag.png"/&gt;&lt;br/&gt;&amp;nbsp;&amp;nbsp;See &lt;a href="..."&gt;PR#142&lt;/a&gt; and commit &lt;code&gt;3f2a1b&lt;/code&gt;&lt;/p&gt;</a:t>
            </a:r>
            <a:endParaRPr lang="en-US" sz="900" dirty="0"/>
          </a:p>
          <a:p>
            <a:pPr indent="0" marL="0">
              <a:buNone/>
            </a:pPr>
            <a:endParaRPr lang="en-US" sz="900" dirty="0"/>
          </a:p>
          <a:p>
            <a:pPr indent="0" marL="0">
              <a:buNone/>
            </a:pPr>
            <a:r>
              <a:rPr lang="en-US" sz="900" dirty="0">
                <a:solidFill>
                  <a:srgbClr val="64748B"/>
                </a:solidFill>
                <a:latin typeface="Consolas" pitchFamily="34" charset="0"/>
                <a:ea typeface="Consolas" pitchFamily="34" charset="-122"/>
                <a:cs typeface="Consolas" pitchFamily="34" charset="-120"/>
              </a:rPr>
              <a:t>[IMAGE: configuration diagram]</a:t>
            </a:r>
            <a:endParaRPr lang="en-US" sz="900" dirty="0"/>
          </a:p>
          <a:p>
            <a:pPr indent="0" marL="0">
              <a:buNone/>
            </a:pPr>
            <a:endParaRPr lang="en-US" sz="900" dirty="0"/>
          </a:p>
          <a:p>
            <a:pPr indent="0" marL="0">
              <a:buNone/>
            </a:pPr>
            <a:r>
              <a:rPr lang="en-US" sz="900" dirty="0">
                <a:solidFill>
                  <a:srgbClr val="64748B"/>
                </a:solidFill>
                <a:latin typeface="Consolas" pitchFamily="34" charset="0"/>
                <a:ea typeface="Consolas" pitchFamily="34" charset="-122"/>
                <a:cs typeface="Consolas" pitchFamily="34" charset="-120"/>
              </a:rPr>
              <a:t>&lt;!-- auto-generated comment --&gt;</a:t>
            </a:r>
            <a:endParaRPr lang="en-US" sz="900" dirty="0"/>
          </a:p>
        </p:txBody>
      </p:sp>
      <p:sp>
        <p:nvSpPr>
          <p:cNvPr id="11" name="Shape 9"/>
          <p:cNvSpPr/>
          <p:nvPr/>
        </p:nvSpPr>
        <p:spPr>
          <a:xfrm>
            <a:off x="365760" y="3218688"/>
            <a:ext cx="4069080" cy="22860"/>
          </a:xfrm>
          <a:prstGeom prst="rect">
            <a:avLst/>
          </a:prstGeom>
          <a:solidFill>
            <a:srgbClr val="CBD5E1"/>
          </a:solidFill>
          <a:ln w="12700">
            <a:solidFill>
              <a:srgbClr val="000000"/>
            </a:solidFill>
            <a:prstDash val="solid"/>
          </a:ln>
        </p:spPr>
      </p:sp>
      <p:sp>
        <p:nvSpPr>
          <p:cNvPr id="12" name="Text 10"/>
          <p:cNvSpPr/>
          <p:nvPr/>
        </p:nvSpPr>
        <p:spPr>
          <a:xfrm>
            <a:off x="502920" y="3273552"/>
            <a:ext cx="3794760" cy="256032"/>
          </a:xfrm>
          <a:prstGeom prst="rect">
            <a:avLst/>
          </a:prstGeom>
          <a:noFill/>
          <a:ln/>
        </p:spPr>
        <p:txBody>
          <a:bodyPr wrap="square" lIns="0" tIns="0" rIns="0" bIns="0" rtlCol="0" anchor="ctr"/>
          <a:lstStyle/>
          <a:p>
            <a:pPr indent="0" marL="0">
              <a:buNone/>
            </a:pPr>
            <a:r>
              <a:rPr lang="en-US" sz="1000" b="1" dirty="0">
                <a:solidFill>
                  <a:srgbClr val="EF4444"/>
                </a:solidFill>
              </a:rPr>
              <a:t>Problèmes :</a:t>
            </a:r>
            <a:endParaRPr lang="en-US" sz="1000" dirty="0"/>
          </a:p>
        </p:txBody>
      </p:sp>
      <p:pic>
        <p:nvPicPr>
          <p:cNvPr id="13" name="Image 0" descr="preencoded.png">    </p:cNvPr>
          <p:cNvPicPr>
            <a:picLocks noChangeAspect="1"/>
          </p:cNvPicPr>
          <p:nvPr/>
        </p:nvPicPr>
        <p:blipFill>
          <a:blip r:embed="rId1"/>
          <a:stretch>
            <a:fillRect/>
          </a:stretch>
        </p:blipFill>
        <p:spPr>
          <a:xfrm>
            <a:off x="502920" y="3566160"/>
            <a:ext cx="219456" cy="219456"/>
          </a:xfrm>
          <a:prstGeom prst="rect">
            <a:avLst/>
          </a:prstGeom>
        </p:spPr>
      </p:pic>
      <p:sp>
        <p:nvSpPr>
          <p:cNvPr id="14" name="Text 11"/>
          <p:cNvSpPr/>
          <p:nvPr/>
        </p:nvSpPr>
        <p:spPr>
          <a:xfrm>
            <a:off x="786384" y="3584448"/>
            <a:ext cx="3511296" cy="237744"/>
          </a:xfrm>
          <a:prstGeom prst="rect">
            <a:avLst/>
          </a:prstGeom>
          <a:noFill/>
          <a:ln/>
        </p:spPr>
        <p:txBody>
          <a:bodyPr wrap="square" lIns="0" tIns="0" rIns="0" bIns="0" rtlCol="0" anchor="ctr"/>
          <a:lstStyle/>
          <a:p>
            <a:pPr indent="0" marL="0">
              <a:buNone/>
            </a:pPr>
            <a:r>
              <a:rPr lang="en-US" sz="1050" dirty="0">
                <a:solidFill>
                  <a:srgbClr val="1B2A3B"/>
                </a:solidFill>
              </a:rPr>
              <a:t>Balises HTML non lisibles par l'IA</a:t>
            </a:r>
            <a:endParaRPr lang="en-US" sz="1050" dirty="0"/>
          </a:p>
        </p:txBody>
      </p:sp>
      <p:pic>
        <p:nvPicPr>
          <p:cNvPr id="15" name="Image 1" descr="preencoded.png">    </p:cNvPr>
          <p:cNvPicPr>
            <a:picLocks noChangeAspect="1"/>
          </p:cNvPicPr>
          <p:nvPr/>
        </p:nvPicPr>
        <p:blipFill>
          <a:blip r:embed="rId2"/>
          <a:stretch>
            <a:fillRect/>
          </a:stretch>
        </p:blipFill>
        <p:spPr>
          <a:xfrm>
            <a:off x="502920" y="3913632"/>
            <a:ext cx="219456" cy="219456"/>
          </a:xfrm>
          <a:prstGeom prst="rect">
            <a:avLst/>
          </a:prstGeom>
        </p:spPr>
      </p:pic>
      <p:sp>
        <p:nvSpPr>
          <p:cNvPr id="16" name="Text 12"/>
          <p:cNvSpPr/>
          <p:nvPr/>
        </p:nvSpPr>
        <p:spPr>
          <a:xfrm>
            <a:off x="786384" y="3931920"/>
            <a:ext cx="3511296" cy="237744"/>
          </a:xfrm>
          <a:prstGeom prst="rect">
            <a:avLst/>
          </a:prstGeom>
          <a:noFill/>
          <a:ln/>
        </p:spPr>
        <p:txBody>
          <a:bodyPr wrap="square" lIns="0" tIns="0" rIns="0" bIns="0" rtlCol="0" anchor="ctr"/>
          <a:lstStyle/>
          <a:p>
            <a:pPr indent="0" marL="0">
              <a:buNone/>
            </a:pPr>
            <a:r>
              <a:rPr lang="en-US" sz="1050" dirty="0">
                <a:solidFill>
                  <a:srgbClr val="1B2A3B"/>
                </a:solidFill>
              </a:rPr>
              <a:t>Image ignorée (pas de texte)</a:t>
            </a:r>
            <a:endParaRPr lang="en-US" sz="1050" dirty="0"/>
          </a:p>
        </p:txBody>
      </p:sp>
      <p:pic>
        <p:nvPicPr>
          <p:cNvPr id="17" name="Image 2" descr="preencoded.png">    </p:cNvPr>
          <p:cNvPicPr>
            <a:picLocks noChangeAspect="1"/>
          </p:cNvPicPr>
          <p:nvPr/>
        </p:nvPicPr>
        <p:blipFill>
          <a:blip r:embed="rId3"/>
          <a:stretch>
            <a:fillRect/>
          </a:stretch>
        </p:blipFill>
        <p:spPr>
          <a:xfrm>
            <a:off x="502920" y="4261104"/>
            <a:ext cx="219456" cy="219456"/>
          </a:xfrm>
          <a:prstGeom prst="rect">
            <a:avLst/>
          </a:prstGeom>
        </p:spPr>
      </p:pic>
      <p:sp>
        <p:nvSpPr>
          <p:cNvPr id="18" name="Text 13"/>
          <p:cNvSpPr/>
          <p:nvPr/>
        </p:nvSpPr>
        <p:spPr>
          <a:xfrm>
            <a:off x="786384" y="4279392"/>
            <a:ext cx="3511296" cy="237744"/>
          </a:xfrm>
          <a:prstGeom prst="rect">
            <a:avLst/>
          </a:prstGeom>
          <a:noFill/>
          <a:ln/>
        </p:spPr>
        <p:txBody>
          <a:bodyPr wrap="square" lIns="0" tIns="0" rIns="0" bIns="0" rtlCol="0" anchor="ctr"/>
          <a:lstStyle/>
          <a:p>
            <a:pPr indent="0" marL="0">
              <a:buNone/>
            </a:pPr>
            <a:r>
              <a:rPr lang="en-US" sz="1050" dirty="0">
                <a:solidFill>
                  <a:srgbClr val="1B2A3B"/>
                </a:solidFill>
              </a:rPr>
              <a:t>Commentaires parasites qui bruitent</a:t>
            </a:r>
            <a:endParaRPr lang="en-US" sz="1050" dirty="0"/>
          </a:p>
        </p:txBody>
      </p:sp>
      <p:pic>
        <p:nvPicPr>
          <p:cNvPr id="19" name="Image 3" descr="preencoded.png">    </p:cNvPr>
          <p:cNvPicPr>
            <a:picLocks noChangeAspect="1"/>
          </p:cNvPicPr>
          <p:nvPr/>
        </p:nvPicPr>
        <p:blipFill>
          <a:blip r:embed="rId4"/>
          <a:stretch>
            <a:fillRect/>
          </a:stretch>
        </p:blipFill>
        <p:spPr>
          <a:xfrm>
            <a:off x="4553712" y="2560320"/>
            <a:ext cx="402336" cy="402336"/>
          </a:xfrm>
          <a:prstGeom prst="rect">
            <a:avLst/>
          </a:prstGeom>
        </p:spPr>
      </p:pic>
      <p:sp>
        <p:nvSpPr>
          <p:cNvPr id="20" name="Shape 14"/>
          <p:cNvSpPr/>
          <p:nvPr/>
        </p:nvSpPr>
        <p:spPr>
          <a:xfrm>
            <a:off x="5074920" y="1207008"/>
            <a:ext cx="3703320" cy="365760"/>
          </a:xfrm>
          <a:prstGeom prst="rect">
            <a:avLst/>
          </a:prstGeom>
          <a:solidFill>
            <a:srgbClr val="22C55E"/>
          </a:solidFill>
          <a:ln w="12700">
            <a:solidFill>
              <a:srgbClr val="000000"/>
            </a:solidFill>
            <a:prstDash val="solid"/>
          </a:ln>
        </p:spPr>
      </p:sp>
      <p:sp>
        <p:nvSpPr>
          <p:cNvPr id="21" name="Text 15"/>
          <p:cNvSpPr/>
          <p:nvPr/>
        </p:nvSpPr>
        <p:spPr>
          <a:xfrm>
            <a:off x="5074920" y="1207008"/>
            <a:ext cx="3703320" cy="365760"/>
          </a:xfrm>
          <a:prstGeom prst="rect">
            <a:avLst/>
          </a:prstGeom>
          <a:noFill/>
          <a:ln/>
        </p:spPr>
        <p:txBody>
          <a:bodyPr wrap="square" lIns="0" tIns="0" rIns="0" bIns="0" rtlCol="0" anchor="ctr"/>
          <a:lstStyle/>
          <a:p>
            <a:pPr algn="ctr" indent="0" marL="0">
              <a:buNone/>
            </a:pPr>
            <a:r>
              <a:rPr lang="en-US" sz="1200" b="1" dirty="0">
                <a:solidFill>
                  <a:srgbClr val="FFFFFF"/>
                </a:solidFill>
              </a:rPr>
              <a:t>✅  Donnée nettoyée (après)</a:t>
            </a:r>
            <a:endParaRPr lang="en-US" sz="1200" dirty="0"/>
          </a:p>
        </p:txBody>
      </p:sp>
      <p:sp>
        <p:nvSpPr>
          <p:cNvPr id="22" name="Shape 16"/>
          <p:cNvSpPr/>
          <p:nvPr/>
        </p:nvSpPr>
        <p:spPr>
          <a:xfrm>
            <a:off x="5074920" y="1572768"/>
            <a:ext cx="3703320" cy="321868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3" name="Text 17"/>
          <p:cNvSpPr/>
          <p:nvPr/>
        </p:nvSpPr>
        <p:spPr>
          <a:xfrm>
            <a:off x="5212080" y="1645920"/>
            <a:ext cx="3429000" cy="1572768"/>
          </a:xfrm>
          <a:prstGeom prst="rect">
            <a:avLst/>
          </a:prstGeom>
          <a:noFill/>
          <a:ln/>
        </p:spPr>
        <p:txBody>
          <a:bodyPr wrap="square" lIns="0" tIns="0" rIns="0" bIns="0" rtlCol="0" anchor="ctr"/>
          <a:lstStyle/>
          <a:p>
            <a:pPr indent="0" marL="0">
              <a:buNone/>
            </a:pPr>
            <a:r>
              <a:rPr lang="en-US" sz="950" dirty="0">
                <a:solidFill>
                  <a:srgbClr val="1B2A3B"/>
                </a:solidFill>
              </a:rPr>
              <a:t>HAL_DMA_Init crashes when circular mode is active. Image: [IMAGE: configuration diagram showing DMA channels]. See PR#142 and commit 3f2a1b for fix.</a:t>
            </a:r>
            <a:endParaRPr lang="en-US" sz="950" dirty="0"/>
          </a:p>
        </p:txBody>
      </p:sp>
      <p:sp>
        <p:nvSpPr>
          <p:cNvPr id="24" name="Shape 18"/>
          <p:cNvSpPr/>
          <p:nvPr/>
        </p:nvSpPr>
        <p:spPr>
          <a:xfrm>
            <a:off x="5074920" y="3218688"/>
            <a:ext cx="3703320" cy="22860"/>
          </a:xfrm>
          <a:prstGeom prst="rect">
            <a:avLst/>
          </a:prstGeom>
          <a:solidFill>
            <a:srgbClr val="CBD5E1"/>
          </a:solidFill>
          <a:ln w="12700">
            <a:solidFill>
              <a:srgbClr val="000000"/>
            </a:solidFill>
            <a:prstDash val="solid"/>
          </a:ln>
        </p:spPr>
      </p:sp>
      <p:sp>
        <p:nvSpPr>
          <p:cNvPr id="25" name="Text 19"/>
          <p:cNvSpPr/>
          <p:nvPr/>
        </p:nvSpPr>
        <p:spPr>
          <a:xfrm>
            <a:off x="5212080" y="3273552"/>
            <a:ext cx="3429000" cy="256032"/>
          </a:xfrm>
          <a:prstGeom prst="rect">
            <a:avLst/>
          </a:prstGeom>
          <a:noFill/>
          <a:ln/>
        </p:spPr>
        <p:txBody>
          <a:bodyPr wrap="square" lIns="0" tIns="0" rIns="0" bIns="0" rtlCol="0" anchor="ctr"/>
          <a:lstStyle/>
          <a:p>
            <a:pPr indent="0" marL="0">
              <a:buNone/>
            </a:pPr>
            <a:r>
              <a:rPr lang="en-US" sz="1000" b="1" dirty="0">
                <a:solidFill>
                  <a:srgbClr val="22C55E"/>
                </a:solidFill>
              </a:rPr>
              <a:t>Améliorations :</a:t>
            </a:r>
            <a:endParaRPr lang="en-US" sz="1000" dirty="0"/>
          </a:p>
        </p:txBody>
      </p:sp>
      <p:pic>
        <p:nvPicPr>
          <p:cNvPr id="26" name="Image 4" descr="preencoded.png">    </p:cNvPr>
          <p:cNvPicPr>
            <a:picLocks noChangeAspect="1"/>
          </p:cNvPicPr>
          <p:nvPr/>
        </p:nvPicPr>
        <p:blipFill>
          <a:blip r:embed="rId5"/>
          <a:stretch>
            <a:fillRect/>
          </a:stretch>
        </p:blipFill>
        <p:spPr>
          <a:xfrm>
            <a:off x="5212080" y="3566160"/>
            <a:ext cx="219456" cy="219456"/>
          </a:xfrm>
          <a:prstGeom prst="rect">
            <a:avLst/>
          </a:prstGeom>
        </p:spPr>
      </p:pic>
      <p:sp>
        <p:nvSpPr>
          <p:cNvPr id="27" name="Text 20"/>
          <p:cNvSpPr/>
          <p:nvPr/>
        </p:nvSpPr>
        <p:spPr>
          <a:xfrm>
            <a:off x="5504688" y="3584448"/>
            <a:ext cx="3127248" cy="237744"/>
          </a:xfrm>
          <a:prstGeom prst="rect">
            <a:avLst/>
          </a:prstGeom>
          <a:noFill/>
          <a:ln/>
        </p:spPr>
        <p:txBody>
          <a:bodyPr wrap="square" lIns="0" tIns="0" rIns="0" bIns="0" rtlCol="0" anchor="ctr"/>
          <a:lstStyle/>
          <a:p>
            <a:pPr indent="0" marL="0">
              <a:buNone/>
            </a:pPr>
            <a:r>
              <a:rPr lang="en-US" sz="1050" dirty="0">
                <a:solidFill>
                  <a:srgbClr val="1B2A3B"/>
                </a:solidFill>
              </a:rPr>
              <a:t>HTML supprimé, texte pur</a:t>
            </a:r>
            <a:endParaRPr lang="en-US" sz="1050" dirty="0"/>
          </a:p>
        </p:txBody>
      </p:sp>
      <p:pic>
        <p:nvPicPr>
          <p:cNvPr id="28" name="Image 5" descr="preencoded.png">    </p:cNvPr>
          <p:cNvPicPr>
            <a:picLocks noChangeAspect="1"/>
          </p:cNvPicPr>
          <p:nvPr/>
        </p:nvPicPr>
        <p:blipFill>
          <a:blip r:embed="rId6"/>
          <a:stretch>
            <a:fillRect/>
          </a:stretch>
        </p:blipFill>
        <p:spPr>
          <a:xfrm>
            <a:off x="5212080" y="3913632"/>
            <a:ext cx="219456" cy="219456"/>
          </a:xfrm>
          <a:prstGeom prst="rect">
            <a:avLst/>
          </a:prstGeom>
        </p:spPr>
      </p:pic>
      <p:sp>
        <p:nvSpPr>
          <p:cNvPr id="29" name="Text 21"/>
          <p:cNvSpPr/>
          <p:nvPr/>
        </p:nvSpPr>
        <p:spPr>
          <a:xfrm>
            <a:off x="5504688" y="3931920"/>
            <a:ext cx="3127248" cy="237744"/>
          </a:xfrm>
          <a:prstGeom prst="rect">
            <a:avLst/>
          </a:prstGeom>
          <a:noFill/>
          <a:ln/>
        </p:spPr>
        <p:txBody>
          <a:bodyPr wrap="square" lIns="0" tIns="0" rIns="0" bIns="0" rtlCol="0" anchor="ctr"/>
          <a:lstStyle/>
          <a:p>
            <a:pPr indent="0" marL="0">
              <a:buNone/>
            </a:pPr>
            <a:r>
              <a:rPr lang="en-US" sz="1050" dirty="0">
                <a:solidFill>
                  <a:srgbClr val="1B2A3B"/>
                </a:solidFill>
              </a:rPr>
              <a:t>Image remplacée par une balise [IMAGE] + description</a:t>
            </a:r>
            <a:endParaRPr lang="en-US" sz="1050" dirty="0"/>
          </a:p>
        </p:txBody>
      </p:sp>
      <p:pic>
        <p:nvPicPr>
          <p:cNvPr id="30" name="Image 6" descr="preencoded.png">    </p:cNvPr>
          <p:cNvPicPr>
            <a:picLocks noChangeAspect="1"/>
          </p:cNvPicPr>
          <p:nvPr/>
        </p:nvPicPr>
        <p:blipFill>
          <a:blip r:embed="rId7"/>
          <a:stretch>
            <a:fillRect/>
          </a:stretch>
        </p:blipFill>
        <p:spPr>
          <a:xfrm>
            <a:off x="5212080" y="4261104"/>
            <a:ext cx="219456" cy="219456"/>
          </a:xfrm>
          <a:prstGeom prst="rect">
            <a:avLst/>
          </a:prstGeom>
        </p:spPr>
      </p:pic>
      <p:sp>
        <p:nvSpPr>
          <p:cNvPr id="31" name="Text 22"/>
          <p:cNvSpPr/>
          <p:nvPr/>
        </p:nvSpPr>
        <p:spPr>
          <a:xfrm>
            <a:off x="5504688" y="4279392"/>
            <a:ext cx="3127248" cy="237744"/>
          </a:xfrm>
          <a:prstGeom prst="rect">
            <a:avLst/>
          </a:prstGeom>
          <a:noFill/>
          <a:ln/>
        </p:spPr>
        <p:txBody>
          <a:bodyPr wrap="square" lIns="0" tIns="0" rIns="0" bIns="0" rtlCol="0" anchor="ctr"/>
          <a:lstStyle/>
          <a:p>
            <a:pPr indent="0" marL="0">
              <a:buNone/>
            </a:pPr>
            <a:r>
              <a:rPr lang="en-US" sz="1050" dirty="0">
                <a:solidFill>
                  <a:srgbClr val="1B2A3B"/>
                </a:solidFill>
              </a:rPr>
              <a:t>Texte concaténé body + commentaires utiles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04 — PIPELINE : CHUNKING</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Le Chunking PARENT_CHILD — Découper intelligemment</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Pourquoi on ne donne pas tout le document d'un coup à l'IA ?</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8412480" cy="804672"/>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64008" cy="804672"/>
          </a:xfrm>
          <a:prstGeom prst="rect">
            <a:avLst/>
          </a:prstGeom>
          <a:solidFill>
            <a:srgbClr val="F59E0B"/>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566928" y="1371600"/>
            <a:ext cx="274320" cy="274320"/>
          </a:xfrm>
          <a:prstGeom prst="rect">
            <a:avLst/>
          </a:prstGeom>
        </p:spPr>
      </p:pic>
      <p:sp>
        <p:nvSpPr>
          <p:cNvPr id="10" name="Text 7"/>
          <p:cNvSpPr/>
          <p:nvPr/>
        </p:nvSpPr>
        <p:spPr>
          <a:xfrm>
            <a:off x="960120" y="1280160"/>
            <a:ext cx="7699248" cy="658368"/>
          </a:xfrm>
          <a:prstGeom prst="rect">
            <a:avLst/>
          </a:prstGeom>
          <a:noFill/>
          <a:ln/>
        </p:spPr>
        <p:txBody>
          <a:bodyPr wrap="square" lIns="0" tIns="0" rIns="0" bIns="0" rtlCol="0" anchor="ctr"/>
          <a:lstStyle/>
          <a:p>
            <a:pPr indent="0" marL="0">
              <a:buNone/>
            </a:pPr>
            <a:r>
              <a:rPr lang="en-US" sz="1100" dirty="0">
                <a:solidFill>
                  <a:srgbClr val="1B2A3B"/>
                </a:solidFill>
              </a:rPr>
              <a:t>Analogie du livre : Si vous cherchez une information dans un livre, vous n'envoyez pas tout le livre à quelqu'un. Vous trouvez d'abord le bon chapitre (CHILD = 1 000 caractères), puis vous lisez le chapitre complet pour comprendre le contexte (PARENT = 3 000 caractères).</a:t>
            </a:r>
            <a:endParaRPr lang="en-US" sz="1100" dirty="0"/>
          </a:p>
        </p:txBody>
      </p:sp>
      <p:sp>
        <p:nvSpPr>
          <p:cNvPr id="11" name="Shape 8"/>
          <p:cNvSpPr/>
          <p:nvPr/>
        </p:nvSpPr>
        <p:spPr>
          <a:xfrm>
            <a:off x="365760" y="2212848"/>
            <a:ext cx="4069080" cy="2633472"/>
          </a:xfrm>
          <a:prstGeom prst="rect">
            <a:avLst/>
          </a:prstGeom>
          <a:solidFill>
            <a:srgbClr val="1B2A3B"/>
          </a:solidFill>
          <a:ln w="25400">
            <a:solidFill>
              <a:srgbClr val="0D9488"/>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365760" y="2212848"/>
            <a:ext cx="4069080" cy="402336"/>
          </a:xfrm>
          <a:prstGeom prst="rect">
            <a:avLst/>
          </a:prstGeom>
          <a:solidFill>
            <a:srgbClr val="1B2A3B"/>
          </a:solidFill>
          <a:ln w="12700">
            <a:solidFill>
              <a:srgbClr val="000000"/>
            </a:solidFill>
            <a:prstDash val="solid"/>
          </a:ln>
        </p:spPr>
      </p:sp>
      <p:pic>
        <p:nvPicPr>
          <p:cNvPr id="13" name="Image 1" descr="preencoded.png">    </p:cNvPr>
          <p:cNvPicPr>
            <a:picLocks noChangeAspect="1"/>
          </p:cNvPicPr>
          <p:nvPr/>
        </p:nvPicPr>
        <p:blipFill>
          <a:blip r:embed="rId2"/>
          <a:stretch>
            <a:fillRect/>
          </a:stretch>
        </p:blipFill>
        <p:spPr>
          <a:xfrm>
            <a:off x="530352" y="2286000"/>
            <a:ext cx="274320" cy="274320"/>
          </a:xfrm>
          <a:prstGeom prst="rect">
            <a:avLst/>
          </a:prstGeom>
        </p:spPr>
      </p:pic>
      <p:sp>
        <p:nvSpPr>
          <p:cNvPr id="14" name="Text 10"/>
          <p:cNvSpPr/>
          <p:nvPr/>
        </p:nvSpPr>
        <p:spPr>
          <a:xfrm>
            <a:off x="877824" y="2304288"/>
            <a:ext cx="3429000" cy="237744"/>
          </a:xfrm>
          <a:prstGeom prst="rect">
            <a:avLst/>
          </a:prstGeom>
          <a:noFill/>
          <a:ln/>
        </p:spPr>
        <p:txBody>
          <a:bodyPr wrap="square" lIns="0" tIns="0" rIns="0" bIns="0" rtlCol="0" anchor="ctr"/>
          <a:lstStyle/>
          <a:p>
            <a:pPr indent="0" marL="0">
              <a:buNone/>
            </a:pPr>
            <a:r>
              <a:rPr lang="en-US" sz="1100" b="1" dirty="0">
                <a:solidFill>
                  <a:srgbClr val="99F6E4"/>
                </a:solidFill>
              </a:rPr>
              <a:t>PARENT CHUNK  (~3 000 caractères)</a:t>
            </a:r>
            <a:endParaRPr lang="en-US" sz="1100" dirty="0"/>
          </a:p>
        </p:txBody>
      </p:sp>
      <p:pic>
        <p:nvPicPr>
          <p:cNvPr id="15" name="Image 2" descr="preencoded.png">    </p:cNvPr>
          <p:cNvPicPr>
            <a:picLocks noChangeAspect="1"/>
          </p:cNvPicPr>
          <p:nvPr/>
        </p:nvPicPr>
        <p:blipFill>
          <a:blip r:embed="rId3"/>
          <a:stretch>
            <a:fillRect/>
          </a:stretch>
        </p:blipFill>
        <p:spPr>
          <a:xfrm>
            <a:off x="530352" y="2706624"/>
            <a:ext cx="201168" cy="201168"/>
          </a:xfrm>
          <a:prstGeom prst="rect">
            <a:avLst/>
          </a:prstGeom>
        </p:spPr>
      </p:pic>
      <p:sp>
        <p:nvSpPr>
          <p:cNvPr id="16" name="Text 11"/>
          <p:cNvSpPr/>
          <p:nvPr/>
        </p:nvSpPr>
        <p:spPr>
          <a:xfrm>
            <a:off x="786384" y="2706624"/>
            <a:ext cx="3474720" cy="256032"/>
          </a:xfrm>
          <a:prstGeom prst="rect">
            <a:avLst/>
          </a:prstGeom>
          <a:noFill/>
          <a:ln/>
        </p:spPr>
        <p:txBody>
          <a:bodyPr wrap="square" lIns="0" tIns="0" rIns="0" bIns="0" rtlCol="0" anchor="ctr"/>
          <a:lstStyle/>
          <a:p>
            <a:pPr indent="0" marL="0">
              <a:buNone/>
            </a:pPr>
            <a:r>
              <a:rPr lang="en-US" sz="1050" dirty="0">
                <a:solidFill>
                  <a:srgbClr val="99F6E4"/>
                </a:solidFill>
              </a:rPr>
              <a:t>Contient le contexte complet du document</a:t>
            </a:r>
            <a:endParaRPr lang="en-US" sz="1050" dirty="0"/>
          </a:p>
        </p:txBody>
      </p:sp>
      <p:pic>
        <p:nvPicPr>
          <p:cNvPr id="17" name="Image 3" descr="preencoded.png">    </p:cNvPr>
          <p:cNvPicPr>
            <a:picLocks noChangeAspect="1"/>
          </p:cNvPicPr>
          <p:nvPr/>
        </p:nvPicPr>
        <p:blipFill>
          <a:blip r:embed="rId4"/>
          <a:stretch>
            <a:fillRect/>
          </a:stretch>
        </p:blipFill>
        <p:spPr>
          <a:xfrm>
            <a:off x="530352" y="3163824"/>
            <a:ext cx="201168" cy="201168"/>
          </a:xfrm>
          <a:prstGeom prst="rect">
            <a:avLst/>
          </a:prstGeom>
        </p:spPr>
      </p:pic>
      <p:sp>
        <p:nvSpPr>
          <p:cNvPr id="18" name="Text 12"/>
          <p:cNvSpPr/>
          <p:nvPr/>
        </p:nvSpPr>
        <p:spPr>
          <a:xfrm>
            <a:off x="786384" y="3163824"/>
            <a:ext cx="3474720" cy="256032"/>
          </a:xfrm>
          <a:prstGeom prst="rect">
            <a:avLst/>
          </a:prstGeom>
          <a:noFill/>
          <a:ln/>
        </p:spPr>
        <p:txBody>
          <a:bodyPr wrap="square" lIns="0" tIns="0" rIns="0" bIns="0" rtlCol="0" anchor="ctr"/>
          <a:lstStyle/>
          <a:p>
            <a:pPr indent="0" marL="0">
              <a:buNone/>
            </a:pPr>
            <a:r>
              <a:rPr lang="en-US" sz="1050" dirty="0">
                <a:solidFill>
                  <a:srgbClr val="99F6E4"/>
                </a:solidFill>
              </a:rPr>
              <a:t>Utilisé par le LLM pour formuler la réponse</a:t>
            </a:r>
            <a:endParaRPr lang="en-US" sz="1050" dirty="0"/>
          </a:p>
        </p:txBody>
      </p:sp>
      <p:pic>
        <p:nvPicPr>
          <p:cNvPr id="19" name="Image 4" descr="preencoded.png">    </p:cNvPr>
          <p:cNvPicPr>
            <a:picLocks noChangeAspect="1"/>
          </p:cNvPicPr>
          <p:nvPr/>
        </p:nvPicPr>
        <p:blipFill>
          <a:blip r:embed="rId5"/>
          <a:stretch>
            <a:fillRect/>
          </a:stretch>
        </p:blipFill>
        <p:spPr>
          <a:xfrm>
            <a:off x="530352" y="3621024"/>
            <a:ext cx="201168" cy="201168"/>
          </a:xfrm>
          <a:prstGeom prst="rect">
            <a:avLst/>
          </a:prstGeom>
        </p:spPr>
      </p:pic>
      <p:sp>
        <p:nvSpPr>
          <p:cNvPr id="20" name="Text 13"/>
          <p:cNvSpPr/>
          <p:nvPr/>
        </p:nvSpPr>
        <p:spPr>
          <a:xfrm>
            <a:off x="786384" y="3621024"/>
            <a:ext cx="3474720" cy="256032"/>
          </a:xfrm>
          <a:prstGeom prst="rect">
            <a:avLst/>
          </a:prstGeom>
          <a:noFill/>
          <a:ln/>
        </p:spPr>
        <p:txBody>
          <a:bodyPr wrap="square" lIns="0" tIns="0" rIns="0" bIns="0" rtlCol="0" anchor="ctr"/>
          <a:lstStyle/>
          <a:p>
            <a:pPr indent="0" marL="0">
              <a:buNone/>
            </a:pPr>
            <a:r>
              <a:rPr lang="en-US" sz="1050" dirty="0">
                <a:solidFill>
                  <a:srgbClr val="99F6E4"/>
                </a:solidFill>
              </a:rPr>
              <a:t>Preserve le sens global de la section</a:t>
            </a:r>
            <a:endParaRPr lang="en-US" sz="1050" dirty="0"/>
          </a:p>
        </p:txBody>
      </p:sp>
      <p:pic>
        <p:nvPicPr>
          <p:cNvPr id="21" name="Image 5" descr="preencoded.png">    </p:cNvPr>
          <p:cNvPicPr>
            <a:picLocks noChangeAspect="1"/>
          </p:cNvPicPr>
          <p:nvPr/>
        </p:nvPicPr>
        <p:blipFill>
          <a:blip r:embed="rId6"/>
          <a:stretch>
            <a:fillRect/>
          </a:stretch>
        </p:blipFill>
        <p:spPr>
          <a:xfrm>
            <a:off x="530352" y="4078224"/>
            <a:ext cx="201168" cy="201168"/>
          </a:xfrm>
          <a:prstGeom prst="rect">
            <a:avLst/>
          </a:prstGeom>
        </p:spPr>
      </p:pic>
      <p:sp>
        <p:nvSpPr>
          <p:cNvPr id="22" name="Text 14"/>
          <p:cNvSpPr/>
          <p:nvPr/>
        </p:nvSpPr>
        <p:spPr>
          <a:xfrm>
            <a:off x="786384" y="4078224"/>
            <a:ext cx="3474720" cy="256032"/>
          </a:xfrm>
          <a:prstGeom prst="rect">
            <a:avLst/>
          </a:prstGeom>
          <a:noFill/>
          <a:ln/>
        </p:spPr>
        <p:txBody>
          <a:bodyPr wrap="square" lIns="0" tIns="0" rIns="0" bIns="0" rtlCol="0" anchor="ctr"/>
          <a:lstStyle/>
          <a:p>
            <a:pPr indent="0" marL="0">
              <a:buNone/>
            </a:pPr>
            <a:r>
              <a:rPr lang="en-US" sz="1050" dirty="0">
                <a:solidFill>
                  <a:srgbClr val="99F6E4"/>
                </a:solidFill>
              </a:rPr>
              <a:t>Envoyé entier à l'IA pour la génération</a:t>
            </a:r>
            <a:endParaRPr lang="en-US" sz="1050" dirty="0"/>
          </a:p>
        </p:txBody>
      </p:sp>
      <p:sp>
        <p:nvSpPr>
          <p:cNvPr id="23" name="Text 15"/>
          <p:cNvSpPr/>
          <p:nvPr/>
        </p:nvSpPr>
        <p:spPr>
          <a:xfrm>
            <a:off x="4462272" y="3364992"/>
            <a:ext cx="1115568" cy="292608"/>
          </a:xfrm>
          <a:prstGeom prst="rect">
            <a:avLst/>
          </a:prstGeom>
          <a:noFill/>
          <a:ln/>
        </p:spPr>
        <p:txBody>
          <a:bodyPr wrap="square" lIns="0" tIns="0" rIns="0" bIns="0" rtlCol="0" anchor="ctr"/>
          <a:lstStyle/>
          <a:p>
            <a:pPr algn="ctr" indent="0" marL="0">
              <a:buNone/>
            </a:pPr>
            <a:r>
              <a:rPr lang="en-US" sz="1000" b="1" dirty="0">
                <a:solidFill>
                  <a:srgbClr val="F59E0B"/>
                </a:solidFill>
              </a:rPr>
              <a:t>subdivisé en ▶</a:t>
            </a:r>
            <a:endParaRPr lang="en-US" sz="1000" dirty="0"/>
          </a:p>
        </p:txBody>
      </p:sp>
      <p:sp>
        <p:nvSpPr>
          <p:cNvPr id="24" name="Shape 16"/>
          <p:cNvSpPr/>
          <p:nvPr/>
        </p:nvSpPr>
        <p:spPr>
          <a:xfrm>
            <a:off x="5650992" y="2212848"/>
            <a:ext cx="3127248" cy="2633472"/>
          </a:xfrm>
          <a:prstGeom prst="rect">
            <a:avLst/>
          </a:prstGeom>
          <a:solidFill>
            <a:srgbClr val="0D9488"/>
          </a:solidFill>
          <a:ln w="12700">
            <a:solidFill>
              <a:srgbClr val="000000"/>
            </a:solidFill>
            <a:prstDash val="solid"/>
          </a:ln>
          <a:effectLst>
            <a:outerShdw sx="100000" sy="100000" kx="0" ky="0" algn="bl" rotWithShape="0" blurRad="101600" dist="38100" dir="8100000">
              <a:srgbClr val="000000">
                <a:alpha val="10000"/>
              </a:srgbClr>
            </a:outerShdw>
          </a:effectLst>
        </p:spPr>
      </p:sp>
      <p:sp>
        <p:nvSpPr>
          <p:cNvPr id="25" name="Shape 17"/>
          <p:cNvSpPr/>
          <p:nvPr/>
        </p:nvSpPr>
        <p:spPr>
          <a:xfrm>
            <a:off x="5650992" y="2212848"/>
            <a:ext cx="3127248" cy="402336"/>
          </a:xfrm>
          <a:prstGeom prst="rect">
            <a:avLst/>
          </a:prstGeom>
          <a:solidFill>
            <a:srgbClr val="14B8A6"/>
          </a:solidFill>
          <a:ln w="12700">
            <a:solidFill>
              <a:srgbClr val="000000"/>
            </a:solidFill>
            <a:prstDash val="solid"/>
          </a:ln>
        </p:spPr>
      </p:sp>
      <p:pic>
        <p:nvPicPr>
          <p:cNvPr id="26" name="Image 6" descr="preencoded.png">    </p:cNvPr>
          <p:cNvPicPr>
            <a:picLocks noChangeAspect="1"/>
          </p:cNvPicPr>
          <p:nvPr/>
        </p:nvPicPr>
        <p:blipFill>
          <a:blip r:embed="rId7"/>
          <a:stretch>
            <a:fillRect/>
          </a:stretch>
        </p:blipFill>
        <p:spPr>
          <a:xfrm>
            <a:off x="5797296" y="2286000"/>
            <a:ext cx="274320" cy="274320"/>
          </a:xfrm>
          <a:prstGeom prst="rect">
            <a:avLst/>
          </a:prstGeom>
        </p:spPr>
      </p:pic>
      <p:sp>
        <p:nvSpPr>
          <p:cNvPr id="27" name="Text 18"/>
          <p:cNvSpPr/>
          <p:nvPr/>
        </p:nvSpPr>
        <p:spPr>
          <a:xfrm>
            <a:off x="6144768" y="2304288"/>
            <a:ext cx="2505456" cy="237744"/>
          </a:xfrm>
          <a:prstGeom prst="rect">
            <a:avLst/>
          </a:prstGeom>
          <a:noFill/>
          <a:ln/>
        </p:spPr>
        <p:txBody>
          <a:bodyPr wrap="square" lIns="0" tIns="0" rIns="0" bIns="0" rtlCol="0" anchor="ctr"/>
          <a:lstStyle/>
          <a:p>
            <a:pPr indent="0" marL="0">
              <a:buNone/>
            </a:pPr>
            <a:r>
              <a:rPr lang="en-US" sz="1100" b="1" dirty="0">
                <a:solidFill>
                  <a:srgbClr val="FFFFFF"/>
                </a:solidFill>
              </a:rPr>
              <a:t>CHILD CHUNK  (~1 000 car.)</a:t>
            </a:r>
            <a:endParaRPr lang="en-US" sz="1100" dirty="0"/>
          </a:p>
        </p:txBody>
      </p:sp>
      <p:pic>
        <p:nvPicPr>
          <p:cNvPr id="28" name="Image 7" descr="preencoded.png">    </p:cNvPr>
          <p:cNvPicPr>
            <a:picLocks noChangeAspect="1"/>
          </p:cNvPicPr>
          <p:nvPr/>
        </p:nvPicPr>
        <p:blipFill>
          <a:blip r:embed="rId8"/>
          <a:stretch>
            <a:fillRect/>
          </a:stretch>
        </p:blipFill>
        <p:spPr>
          <a:xfrm>
            <a:off x="5779008" y="2706624"/>
            <a:ext cx="201168" cy="201168"/>
          </a:xfrm>
          <a:prstGeom prst="rect">
            <a:avLst/>
          </a:prstGeom>
        </p:spPr>
      </p:pic>
      <p:sp>
        <p:nvSpPr>
          <p:cNvPr id="29" name="Text 19"/>
          <p:cNvSpPr/>
          <p:nvPr/>
        </p:nvSpPr>
        <p:spPr>
          <a:xfrm>
            <a:off x="6035040" y="2706624"/>
            <a:ext cx="2633472" cy="256032"/>
          </a:xfrm>
          <a:prstGeom prst="rect">
            <a:avLst/>
          </a:prstGeom>
          <a:noFill/>
          <a:ln/>
        </p:spPr>
        <p:txBody>
          <a:bodyPr wrap="square" lIns="0" tIns="0" rIns="0" bIns="0" rtlCol="0" anchor="ctr"/>
          <a:lstStyle/>
          <a:p>
            <a:pPr indent="0" marL="0">
              <a:buNone/>
            </a:pPr>
            <a:r>
              <a:rPr lang="en-US" sz="1050" dirty="0">
                <a:solidFill>
                  <a:srgbClr val="FFFFFF"/>
                </a:solidFill>
              </a:rPr>
              <a:t>Sous-segment précis du parent</a:t>
            </a:r>
            <a:endParaRPr lang="en-US" sz="1050" dirty="0"/>
          </a:p>
        </p:txBody>
      </p:sp>
      <p:pic>
        <p:nvPicPr>
          <p:cNvPr id="30" name="Image 8" descr="preencoded.png">    </p:cNvPr>
          <p:cNvPicPr>
            <a:picLocks noChangeAspect="1"/>
          </p:cNvPicPr>
          <p:nvPr/>
        </p:nvPicPr>
        <p:blipFill>
          <a:blip r:embed="rId9"/>
          <a:stretch>
            <a:fillRect/>
          </a:stretch>
        </p:blipFill>
        <p:spPr>
          <a:xfrm>
            <a:off x="5779008" y="3163824"/>
            <a:ext cx="201168" cy="201168"/>
          </a:xfrm>
          <a:prstGeom prst="rect">
            <a:avLst/>
          </a:prstGeom>
        </p:spPr>
      </p:pic>
      <p:sp>
        <p:nvSpPr>
          <p:cNvPr id="31" name="Text 20"/>
          <p:cNvSpPr/>
          <p:nvPr/>
        </p:nvSpPr>
        <p:spPr>
          <a:xfrm>
            <a:off x="6035040" y="3163824"/>
            <a:ext cx="2633472" cy="256032"/>
          </a:xfrm>
          <a:prstGeom prst="rect">
            <a:avLst/>
          </a:prstGeom>
          <a:noFill/>
          <a:ln/>
        </p:spPr>
        <p:txBody>
          <a:bodyPr wrap="square" lIns="0" tIns="0" rIns="0" bIns="0" rtlCol="0" anchor="ctr"/>
          <a:lstStyle/>
          <a:p>
            <a:pPr indent="0" marL="0">
              <a:buNone/>
            </a:pPr>
            <a:r>
              <a:rPr lang="en-US" sz="1050" dirty="0">
                <a:solidFill>
                  <a:srgbClr val="FFFFFF"/>
                </a:solidFill>
              </a:rPr>
              <a:t>Utilisé pour la RECHERCHE dans la KB</a:t>
            </a:r>
            <a:endParaRPr lang="en-US" sz="1050" dirty="0"/>
          </a:p>
        </p:txBody>
      </p:sp>
      <p:pic>
        <p:nvPicPr>
          <p:cNvPr id="32" name="Image 9" descr="preencoded.png">    </p:cNvPr>
          <p:cNvPicPr>
            <a:picLocks noChangeAspect="1"/>
          </p:cNvPicPr>
          <p:nvPr/>
        </p:nvPicPr>
        <p:blipFill>
          <a:blip r:embed="rId10"/>
          <a:stretch>
            <a:fillRect/>
          </a:stretch>
        </p:blipFill>
        <p:spPr>
          <a:xfrm>
            <a:off x="5779008" y="3621024"/>
            <a:ext cx="201168" cy="201168"/>
          </a:xfrm>
          <a:prstGeom prst="rect">
            <a:avLst/>
          </a:prstGeom>
        </p:spPr>
      </p:pic>
      <p:sp>
        <p:nvSpPr>
          <p:cNvPr id="33" name="Text 21"/>
          <p:cNvSpPr/>
          <p:nvPr/>
        </p:nvSpPr>
        <p:spPr>
          <a:xfrm>
            <a:off x="6035040" y="3621024"/>
            <a:ext cx="2633472" cy="256032"/>
          </a:xfrm>
          <a:prstGeom prst="rect">
            <a:avLst/>
          </a:prstGeom>
          <a:noFill/>
          <a:ln/>
        </p:spPr>
        <p:txBody>
          <a:bodyPr wrap="square" lIns="0" tIns="0" rIns="0" bIns="0" rtlCol="0" anchor="ctr"/>
          <a:lstStyle/>
          <a:p>
            <a:pPr indent="0" marL="0">
              <a:buNone/>
            </a:pPr>
            <a:r>
              <a:rPr lang="en-US" sz="1050" dirty="0">
                <a:solidFill>
                  <a:srgbClr val="FFFFFF"/>
                </a:solidFill>
              </a:rPr>
              <a:t>Trouve le bon passage à la question</a:t>
            </a:r>
            <a:endParaRPr lang="en-US" sz="1050" dirty="0"/>
          </a:p>
        </p:txBody>
      </p:sp>
      <p:pic>
        <p:nvPicPr>
          <p:cNvPr id="34" name="Image 10" descr="preencoded.png">    </p:cNvPr>
          <p:cNvPicPr>
            <a:picLocks noChangeAspect="1"/>
          </p:cNvPicPr>
          <p:nvPr/>
        </p:nvPicPr>
        <p:blipFill>
          <a:blip r:embed="rId11"/>
          <a:stretch>
            <a:fillRect/>
          </a:stretch>
        </p:blipFill>
        <p:spPr>
          <a:xfrm>
            <a:off x="5779008" y="4078224"/>
            <a:ext cx="201168" cy="201168"/>
          </a:xfrm>
          <a:prstGeom prst="rect">
            <a:avLst/>
          </a:prstGeom>
        </p:spPr>
      </p:pic>
      <p:sp>
        <p:nvSpPr>
          <p:cNvPr id="35" name="Text 22"/>
          <p:cNvSpPr/>
          <p:nvPr/>
        </p:nvSpPr>
        <p:spPr>
          <a:xfrm>
            <a:off x="6035040" y="4078224"/>
            <a:ext cx="2633472" cy="256032"/>
          </a:xfrm>
          <a:prstGeom prst="rect">
            <a:avLst/>
          </a:prstGeom>
          <a:noFill/>
          <a:ln/>
        </p:spPr>
        <p:txBody>
          <a:bodyPr wrap="square" lIns="0" tIns="0" rIns="0" bIns="0" rtlCol="0" anchor="ctr"/>
          <a:lstStyle/>
          <a:p>
            <a:pPr indent="0" marL="0">
              <a:buNone/>
            </a:pPr>
            <a:r>
              <a:rPr lang="en-US" sz="1050" dirty="0">
                <a:solidFill>
                  <a:srgbClr val="FFFFFF"/>
                </a:solidFill>
              </a:rPr>
              <a:t>Lié à son parent pour récupérer contexte</a:t>
            </a:r>
            <a:endParaRPr lang="en-US" sz="1050" dirty="0"/>
          </a:p>
        </p:txBody>
      </p:sp>
      <p:sp>
        <p:nvSpPr>
          <p:cNvPr id="36" name="Shape 23"/>
          <p:cNvSpPr/>
          <p:nvPr/>
        </p:nvSpPr>
        <p:spPr>
          <a:xfrm>
            <a:off x="365760" y="4937760"/>
            <a:ext cx="8412480" cy="0"/>
          </a:xfrm>
          <a:prstGeom prst="rect">
            <a:avLst/>
          </a:prstGeom>
          <a:solidFill>
            <a:srgbClr val="000000"/>
          </a:solidFill>
          <a:ln w="12700">
            <a:solidFill>
              <a:srgbClr val="00000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04 — PIPELINE : LES AGENTS IA</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C'est quoi un Agent IA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Un assistant spécialisé dans une tâche précise — comme un collègue expert</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8412480" cy="749808"/>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64008" cy="749808"/>
          </a:xfrm>
          <a:prstGeom prst="rect">
            <a:avLst/>
          </a:prstGeom>
          <a:solidFill>
            <a:srgbClr val="0D9488"/>
          </a:solidFill>
          <a:ln w="12700">
            <a:solidFill>
              <a:srgbClr val="000000"/>
            </a:solidFill>
            <a:prstDash val="solid"/>
          </a:ln>
        </p:spPr>
      </p:sp>
      <p:sp>
        <p:nvSpPr>
          <p:cNvPr id="9" name="Text 7"/>
          <p:cNvSpPr/>
          <p:nvPr/>
        </p:nvSpPr>
        <p:spPr>
          <a:xfrm>
            <a:off x="566928" y="1298448"/>
            <a:ext cx="8092440" cy="566928"/>
          </a:xfrm>
          <a:prstGeom prst="rect">
            <a:avLst/>
          </a:prstGeom>
          <a:noFill/>
          <a:ln/>
        </p:spPr>
        <p:txBody>
          <a:bodyPr wrap="square" lIns="0" tIns="0" rIns="0" bIns="0" rtlCol="0" anchor="ctr"/>
          <a:lstStyle/>
          <a:p>
            <a:pPr indent="0" marL="0">
              <a:buNone/>
            </a:pPr>
            <a:r>
              <a:rPr lang="en-US" sz="1100" dirty="0">
                <a:solidFill>
                  <a:srgbClr val="1B2A3B"/>
                </a:solidFill>
              </a:rPr>
              <a:t>Un agent IA = un LLM auquel on donne une mission précise avec un contexte défini. Il analyse, documente ou compare automatiquement. Dans ce projet, 2 agents sont utilisés pour accélérer le preprocessing.</a:t>
            </a:r>
            <a:endParaRPr lang="en-US" sz="1100" dirty="0"/>
          </a:p>
        </p:txBody>
      </p:sp>
      <p:sp>
        <p:nvSpPr>
          <p:cNvPr id="10" name="Shape 8"/>
          <p:cNvSpPr/>
          <p:nvPr/>
        </p:nvSpPr>
        <p:spPr>
          <a:xfrm>
            <a:off x="365760" y="2121408"/>
            <a:ext cx="4160520"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65760" y="2121408"/>
            <a:ext cx="4160520" cy="438912"/>
          </a:xfrm>
          <a:prstGeom prst="rect">
            <a:avLst/>
          </a:prstGeom>
          <a:solidFill>
            <a:srgbClr val="0D9488"/>
          </a:solidFill>
          <a:ln w="12700">
            <a:solidFill>
              <a:srgbClr val="000000"/>
            </a:solidFill>
            <a:prstDash val="solid"/>
          </a:ln>
        </p:spPr>
      </p:sp>
      <p:pic>
        <p:nvPicPr>
          <p:cNvPr id="12" name="Image 0" descr="preencoded.png">    </p:cNvPr>
          <p:cNvPicPr>
            <a:picLocks noChangeAspect="1"/>
          </p:cNvPicPr>
          <p:nvPr/>
        </p:nvPicPr>
        <p:blipFill>
          <a:blip r:embed="rId1"/>
          <a:stretch>
            <a:fillRect/>
          </a:stretch>
        </p:blipFill>
        <p:spPr>
          <a:xfrm>
            <a:off x="530352" y="2194560"/>
            <a:ext cx="292608" cy="292608"/>
          </a:xfrm>
          <a:prstGeom prst="rect">
            <a:avLst/>
          </a:prstGeom>
        </p:spPr>
      </p:pic>
      <p:sp>
        <p:nvSpPr>
          <p:cNvPr id="13" name="Text 10"/>
          <p:cNvSpPr/>
          <p:nvPr/>
        </p:nvSpPr>
        <p:spPr>
          <a:xfrm>
            <a:off x="896112" y="2194560"/>
            <a:ext cx="3520440" cy="256032"/>
          </a:xfrm>
          <a:prstGeom prst="rect">
            <a:avLst/>
          </a:prstGeom>
          <a:noFill/>
          <a:ln/>
        </p:spPr>
        <p:txBody>
          <a:bodyPr wrap="square" lIns="0" tIns="0" rIns="0" bIns="0" rtlCol="0" anchor="ctr"/>
          <a:lstStyle/>
          <a:p>
            <a:pPr indent="0" marL="0">
              <a:buNone/>
            </a:pPr>
            <a:r>
              <a:rPr lang="en-US" sz="1150" b="1" dirty="0">
                <a:solidFill>
                  <a:srgbClr val="FFFFFF"/>
                </a:solidFill>
              </a:rPr>
              <a:t>STM32Cube Preprocessing Agent</a:t>
            </a:r>
            <a:endParaRPr lang="en-US" sz="1150" dirty="0"/>
          </a:p>
        </p:txBody>
      </p:sp>
      <p:sp>
        <p:nvSpPr>
          <p:cNvPr id="14" name="Text 11"/>
          <p:cNvSpPr/>
          <p:nvPr/>
        </p:nvSpPr>
        <p:spPr>
          <a:xfrm>
            <a:off x="896112" y="2450592"/>
            <a:ext cx="3520440" cy="146304"/>
          </a:xfrm>
          <a:prstGeom prst="rect">
            <a:avLst/>
          </a:prstGeom>
          <a:noFill/>
          <a:ln/>
        </p:spPr>
        <p:txBody>
          <a:bodyPr wrap="square" lIns="0" tIns="0" rIns="0" bIns="0" rtlCol="0" anchor="ctr"/>
          <a:lstStyle/>
          <a:p>
            <a:pPr indent="0" marL="0">
              <a:buNone/>
            </a:pPr>
            <a:r>
              <a:rPr lang="en-US" sz="850" i="1" dirty="0">
                <a:solidFill>
                  <a:srgbClr val="99F6E4"/>
                </a:solidFill>
              </a:rPr>
              <a:t>Agent principal du pipeline</a:t>
            </a:r>
            <a:endParaRPr lang="en-US" sz="850" dirty="0"/>
          </a:p>
        </p:txBody>
      </p:sp>
      <p:pic>
        <p:nvPicPr>
          <p:cNvPr id="15" name="Image 1" descr="preencoded.png">    </p:cNvPr>
          <p:cNvPicPr>
            <a:picLocks noChangeAspect="1"/>
          </p:cNvPicPr>
          <p:nvPr/>
        </p:nvPicPr>
        <p:blipFill>
          <a:blip r:embed="rId2"/>
          <a:stretch>
            <a:fillRect/>
          </a:stretch>
        </p:blipFill>
        <p:spPr>
          <a:xfrm>
            <a:off x="512064" y="2651760"/>
            <a:ext cx="201168" cy="201168"/>
          </a:xfrm>
          <a:prstGeom prst="rect">
            <a:avLst/>
          </a:prstGeom>
        </p:spPr>
      </p:pic>
      <p:sp>
        <p:nvSpPr>
          <p:cNvPr id="16" name="Text 12"/>
          <p:cNvSpPr/>
          <p:nvPr/>
        </p:nvSpPr>
        <p:spPr>
          <a:xfrm>
            <a:off x="786384" y="2651760"/>
            <a:ext cx="3611880" cy="292608"/>
          </a:xfrm>
          <a:prstGeom prst="rect">
            <a:avLst/>
          </a:prstGeom>
          <a:noFill/>
          <a:ln/>
        </p:spPr>
        <p:txBody>
          <a:bodyPr wrap="square" lIns="0" tIns="0" rIns="0" bIns="0" rtlCol="0" anchor="ctr"/>
          <a:lstStyle/>
          <a:p>
            <a:pPr indent="0" marL="0">
              <a:buNone/>
            </a:pPr>
            <a:r>
              <a:rPr lang="en-US" sz="1000" dirty="0">
                <a:solidFill>
                  <a:srgbClr val="1B2A3B"/>
                </a:solidFill>
              </a:rPr>
              <a:t>Analyse le flux de données JSON à chaque étape</a:t>
            </a:r>
            <a:endParaRPr lang="en-US" sz="1000" dirty="0"/>
          </a:p>
        </p:txBody>
      </p:sp>
      <p:pic>
        <p:nvPicPr>
          <p:cNvPr id="17" name="Image 2" descr="preencoded.png">    </p:cNvPr>
          <p:cNvPicPr>
            <a:picLocks noChangeAspect="1"/>
          </p:cNvPicPr>
          <p:nvPr/>
        </p:nvPicPr>
        <p:blipFill>
          <a:blip r:embed="rId3"/>
          <a:stretch>
            <a:fillRect/>
          </a:stretch>
        </p:blipFill>
        <p:spPr>
          <a:xfrm>
            <a:off x="512064" y="3054096"/>
            <a:ext cx="201168" cy="201168"/>
          </a:xfrm>
          <a:prstGeom prst="rect">
            <a:avLst/>
          </a:prstGeom>
        </p:spPr>
      </p:pic>
      <p:sp>
        <p:nvSpPr>
          <p:cNvPr id="18" name="Text 13"/>
          <p:cNvSpPr/>
          <p:nvPr/>
        </p:nvSpPr>
        <p:spPr>
          <a:xfrm>
            <a:off x="786384" y="3054096"/>
            <a:ext cx="3611880" cy="292608"/>
          </a:xfrm>
          <a:prstGeom prst="rect">
            <a:avLst/>
          </a:prstGeom>
          <a:noFill/>
          <a:ln/>
        </p:spPr>
        <p:txBody>
          <a:bodyPr wrap="square" lIns="0" tIns="0" rIns="0" bIns="0" rtlCol="0" anchor="ctr"/>
          <a:lstStyle/>
          <a:p>
            <a:pPr indent="0" marL="0">
              <a:buNone/>
            </a:pPr>
            <a:r>
              <a:rPr lang="en-US" sz="1000" dirty="0">
                <a:solidFill>
                  <a:srgbClr val="1B2A3B"/>
                </a:solidFill>
              </a:rPr>
              <a:t>Documente automatiquement les schémas de données</a:t>
            </a:r>
            <a:endParaRPr lang="en-US" sz="1000" dirty="0"/>
          </a:p>
        </p:txBody>
      </p:sp>
      <p:pic>
        <p:nvPicPr>
          <p:cNvPr id="19" name="Image 3" descr="preencoded.png">    </p:cNvPr>
          <p:cNvPicPr>
            <a:picLocks noChangeAspect="1"/>
          </p:cNvPicPr>
          <p:nvPr/>
        </p:nvPicPr>
        <p:blipFill>
          <a:blip r:embed="rId4"/>
          <a:stretch>
            <a:fillRect/>
          </a:stretch>
        </p:blipFill>
        <p:spPr>
          <a:xfrm>
            <a:off x="512064" y="3456432"/>
            <a:ext cx="201168" cy="201168"/>
          </a:xfrm>
          <a:prstGeom prst="rect">
            <a:avLst/>
          </a:prstGeom>
        </p:spPr>
      </p:pic>
      <p:sp>
        <p:nvSpPr>
          <p:cNvPr id="20" name="Text 14"/>
          <p:cNvSpPr/>
          <p:nvPr/>
        </p:nvSpPr>
        <p:spPr>
          <a:xfrm>
            <a:off x="786384" y="3456432"/>
            <a:ext cx="3611880" cy="292608"/>
          </a:xfrm>
          <a:prstGeom prst="rect">
            <a:avLst/>
          </a:prstGeom>
          <a:noFill/>
          <a:ln/>
        </p:spPr>
        <p:txBody>
          <a:bodyPr wrap="square" lIns="0" tIns="0" rIns="0" bIns="0" rtlCol="0" anchor="ctr"/>
          <a:lstStyle/>
          <a:p>
            <a:pPr indent="0" marL="0">
              <a:buNone/>
            </a:pPr>
            <a:r>
              <a:rPr lang="en-US" sz="1000" dirty="0">
                <a:solidFill>
                  <a:srgbClr val="1B2A3B"/>
                </a:solidFill>
              </a:rPr>
              <a:t>Compare les stratégies de chunking et d'enrichissement</a:t>
            </a:r>
            <a:endParaRPr lang="en-US" sz="1000" dirty="0"/>
          </a:p>
        </p:txBody>
      </p:sp>
      <p:pic>
        <p:nvPicPr>
          <p:cNvPr id="21" name="Image 4" descr="preencoded.png">    </p:cNvPr>
          <p:cNvPicPr>
            <a:picLocks noChangeAspect="1"/>
          </p:cNvPicPr>
          <p:nvPr/>
        </p:nvPicPr>
        <p:blipFill>
          <a:blip r:embed="rId5"/>
          <a:stretch>
            <a:fillRect/>
          </a:stretch>
        </p:blipFill>
        <p:spPr>
          <a:xfrm>
            <a:off x="512064" y="3858768"/>
            <a:ext cx="201168" cy="201168"/>
          </a:xfrm>
          <a:prstGeom prst="rect">
            <a:avLst/>
          </a:prstGeom>
        </p:spPr>
      </p:pic>
      <p:sp>
        <p:nvSpPr>
          <p:cNvPr id="22" name="Text 15"/>
          <p:cNvSpPr/>
          <p:nvPr/>
        </p:nvSpPr>
        <p:spPr>
          <a:xfrm>
            <a:off x="786384" y="3858768"/>
            <a:ext cx="3611880" cy="292608"/>
          </a:xfrm>
          <a:prstGeom prst="rect">
            <a:avLst/>
          </a:prstGeom>
          <a:noFill/>
          <a:ln/>
        </p:spPr>
        <p:txBody>
          <a:bodyPr wrap="square" lIns="0" tIns="0" rIns="0" bIns="0" rtlCol="0" anchor="ctr"/>
          <a:lstStyle/>
          <a:p>
            <a:pPr indent="0" marL="0">
              <a:buNone/>
            </a:pPr>
            <a:r>
              <a:rPr lang="en-US" sz="1000" dirty="0">
                <a:solidFill>
                  <a:srgbClr val="1B2A3B"/>
                </a:solidFill>
              </a:rPr>
              <a:t>Interprète les résultats des évaluations (runs 50Q)</a:t>
            </a:r>
            <a:endParaRPr lang="en-US" sz="1000" dirty="0"/>
          </a:p>
        </p:txBody>
      </p:sp>
      <p:pic>
        <p:nvPicPr>
          <p:cNvPr id="23" name="Image 5" descr="preencoded.png">    </p:cNvPr>
          <p:cNvPicPr>
            <a:picLocks noChangeAspect="1"/>
          </p:cNvPicPr>
          <p:nvPr/>
        </p:nvPicPr>
        <p:blipFill>
          <a:blip r:embed="rId6"/>
          <a:stretch>
            <a:fillRect/>
          </a:stretch>
        </p:blipFill>
        <p:spPr>
          <a:xfrm>
            <a:off x="512064" y="4261104"/>
            <a:ext cx="201168" cy="201168"/>
          </a:xfrm>
          <a:prstGeom prst="rect">
            <a:avLst/>
          </a:prstGeom>
        </p:spPr>
      </p:pic>
      <p:sp>
        <p:nvSpPr>
          <p:cNvPr id="24" name="Text 16"/>
          <p:cNvSpPr/>
          <p:nvPr/>
        </p:nvSpPr>
        <p:spPr>
          <a:xfrm>
            <a:off x="786384" y="4261104"/>
            <a:ext cx="3611880" cy="292608"/>
          </a:xfrm>
          <a:prstGeom prst="rect">
            <a:avLst/>
          </a:prstGeom>
          <a:noFill/>
          <a:ln/>
        </p:spPr>
        <p:txBody>
          <a:bodyPr wrap="square" lIns="0" tIns="0" rIns="0" bIns="0" rtlCol="0" anchor="ctr"/>
          <a:lstStyle/>
          <a:p>
            <a:pPr indent="0" marL="0">
              <a:buNone/>
            </a:pPr>
            <a:r>
              <a:rPr lang="en-US" sz="1000" dirty="0">
                <a:solidFill>
                  <a:srgbClr val="1B2A3B"/>
                </a:solidFill>
              </a:rPr>
              <a:t>Identifie les anomalies et propose des corrections</a:t>
            </a:r>
            <a:endParaRPr lang="en-US" sz="1000" dirty="0"/>
          </a:p>
        </p:txBody>
      </p:sp>
      <p:sp>
        <p:nvSpPr>
          <p:cNvPr id="25" name="Shape 17"/>
          <p:cNvSpPr/>
          <p:nvPr/>
        </p:nvSpPr>
        <p:spPr>
          <a:xfrm>
            <a:off x="4709160" y="2121408"/>
            <a:ext cx="4069080"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6" name="Shape 18"/>
          <p:cNvSpPr/>
          <p:nvPr/>
        </p:nvSpPr>
        <p:spPr>
          <a:xfrm>
            <a:off x="4709160" y="2121408"/>
            <a:ext cx="4069080" cy="438912"/>
          </a:xfrm>
          <a:prstGeom prst="rect">
            <a:avLst/>
          </a:prstGeom>
          <a:solidFill>
            <a:srgbClr val="F59E0B"/>
          </a:solidFill>
          <a:ln w="12700">
            <a:solidFill>
              <a:srgbClr val="000000"/>
            </a:solidFill>
            <a:prstDash val="solid"/>
          </a:ln>
        </p:spPr>
      </p:sp>
      <p:pic>
        <p:nvPicPr>
          <p:cNvPr id="27" name="Image 6" descr="preencoded.png">    </p:cNvPr>
          <p:cNvPicPr>
            <a:picLocks noChangeAspect="1"/>
          </p:cNvPicPr>
          <p:nvPr/>
        </p:nvPicPr>
        <p:blipFill>
          <a:blip r:embed="rId7"/>
          <a:stretch>
            <a:fillRect/>
          </a:stretch>
        </p:blipFill>
        <p:spPr>
          <a:xfrm>
            <a:off x="4873752" y="2194560"/>
            <a:ext cx="292608" cy="292608"/>
          </a:xfrm>
          <a:prstGeom prst="rect">
            <a:avLst/>
          </a:prstGeom>
        </p:spPr>
      </p:pic>
      <p:sp>
        <p:nvSpPr>
          <p:cNvPr id="28" name="Text 19"/>
          <p:cNvSpPr/>
          <p:nvPr/>
        </p:nvSpPr>
        <p:spPr>
          <a:xfrm>
            <a:off x="5239512" y="2194560"/>
            <a:ext cx="3429000" cy="256032"/>
          </a:xfrm>
          <a:prstGeom prst="rect">
            <a:avLst/>
          </a:prstGeom>
          <a:noFill/>
          <a:ln/>
        </p:spPr>
        <p:txBody>
          <a:bodyPr wrap="square" lIns="0" tIns="0" rIns="0" bIns="0" rtlCol="0" anchor="ctr"/>
          <a:lstStyle/>
          <a:p>
            <a:pPr indent="0" marL="0">
              <a:buNone/>
            </a:pPr>
            <a:r>
              <a:rPr lang="en-US" sz="1150" b="1" dirty="0">
                <a:solidFill>
                  <a:srgbClr val="FFFFFF"/>
                </a:solidFill>
              </a:rPr>
              <a:t>STM32Cube PDF Vision Agent</a:t>
            </a:r>
            <a:endParaRPr lang="en-US" sz="1150" dirty="0"/>
          </a:p>
        </p:txBody>
      </p:sp>
      <p:sp>
        <p:nvSpPr>
          <p:cNvPr id="29" name="Text 20"/>
          <p:cNvSpPr/>
          <p:nvPr/>
        </p:nvSpPr>
        <p:spPr>
          <a:xfrm>
            <a:off x="5239512" y="2450592"/>
            <a:ext cx="3429000" cy="146304"/>
          </a:xfrm>
          <a:prstGeom prst="rect">
            <a:avLst/>
          </a:prstGeom>
          <a:noFill/>
          <a:ln/>
        </p:spPr>
        <p:txBody>
          <a:bodyPr wrap="square" lIns="0" tIns="0" rIns="0" bIns="0" rtlCol="0" anchor="ctr"/>
          <a:lstStyle/>
          <a:p>
            <a:pPr indent="0" marL="0">
              <a:buNone/>
            </a:pPr>
            <a:r>
              <a:rPr lang="en-US" sz="850" i="1" dirty="0">
                <a:solidFill>
                  <a:srgbClr val="FDE68A"/>
                </a:solidFill>
              </a:rPr>
              <a:t>Spécialisé extraction PDF</a:t>
            </a:r>
            <a:endParaRPr lang="en-US" sz="850" dirty="0"/>
          </a:p>
        </p:txBody>
      </p:sp>
      <p:pic>
        <p:nvPicPr>
          <p:cNvPr id="30" name="Image 7" descr="preencoded.png">    </p:cNvPr>
          <p:cNvPicPr>
            <a:picLocks noChangeAspect="1"/>
          </p:cNvPicPr>
          <p:nvPr/>
        </p:nvPicPr>
        <p:blipFill>
          <a:blip r:embed="rId8"/>
          <a:stretch>
            <a:fillRect/>
          </a:stretch>
        </p:blipFill>
        <p:spPr>
          <a:xfrm>
            <a:off x="4846320" y="2651760"/>
            <a:ext cx="201168" cy="201168"/>
          </a:xfrm>
          <a:prstGeom prst="rect">
            <a:avLst/>
          </a:prstGeom>
        </p:spPr>
      </p:pic>
      <p:sp>
        <p:nvSpPr>
          <p:cNvPr id="31" name="Text 21"/>
          <p:cNvSpPr/>
          <p:nvPr/>
        </p:nvSpPr>
        <p:spPr>
          <a:xfrm>
            <a:off x="5120640" y="2651760"/>
            <a:ext cx="3547872" cy="292608"/>
          </a:xfrm>
          <a:prstGeom prst="rect">
            <a:avLst/>
          </a:prstGeom>
          <a:noFill/>
          <a:ln/>
        </p:spPr>
        <p:txBody>
          <a:bodyPr wrap="square" lIns="0" tIns="0" rIns="0" bIns="0" rtlCol="0" anchor="ctr"/>
          <a:lstStyle/>
          <a:p>
            <a:pPr indent="0" marL="0">
              <a:buNone/>
            </a:pPr>
            <a:r>
              <a:rPr lang="en-US" sz="1000" dirty="0">
                <a:solidFill>
                  <a:srgbClr val="1B2A3B"/>
                </a:solidFill>
              </a:rPr>
              <a:t>Ouvre les PDFs de documentation STM32</a:t>
            </a:r>
            <a:endParaRPr lang="en-US" sz="1000" dirty="0"/>
          </a:p>
        </p:txBody>
      </p:sp>
      <p:pic>
        <p:nvPicPr>
          <p:cNvPr id="32" name="Image 8" descr="preencoded.png">    </p:cNvPr>
          <p:cNvPicPr>
            <a:picLocks noChangeAspect="1"/>
          </p:cNvPicPr>
          <p:nvPr/>
        </p:nvPicPr>
        <p:blipFill>
          <a:blip r:embed="rId9"/>
          <a:stretch>
            <a:fillRect/>
          </a:stretch>
        </p:blipFill>
        <p:spPr>
          <a:xfrm>
            <a:off x="4846320" y="3054096"/>
            <a:ext cx="201168" cy="201168"/>
          </a:xfrm>
          <a:prstGeom prst="rect">
            <a:avLst/>
          </a:prstGeom>
        </p:spPr>
      </p:pic>
      <p:sp>
        <p:nvSpPr>
          <p:cNvPr id="33" name="Text 22"/>
          <p:cNvSpPr/>
          <p:nvPr/>
        </p:nvSpPr>
        <p:spPr>
          <a:xfrm>
            <a:off x="5120640" y="3054096"/>
            <a:ext cx="3547872" cy="292608"/>
          </a:xfrm>
          <a:prstGeom prst="rect">
            <a:avLst/>
          </a:prstGeom>
          <a:noFill/>
          <a:ln/>
        </p:spPr>
        <p:txBody>
          <a:bodyPr wrap="square" lIns="0" tIns="0" rIns="0" bIns="0" rtlCol="0" anchor="ctr"/>
          <a:lstStyle/>
          <a:p>
            <a:pPr indent="0" marL="0">
              <a:buNone/>
            </a:pPr>
            <a:r>
              <a:rPr lang="en-US" sz="1000" dirty="0">
                <a:solidFill>
                  <a:srgbClr val="1B2A3B"/>
                </a:solidFill>
              </a:rPr>
              <a:t>Détecte les figures, schémas, diagrammes</a:t>
            </a:r>
            <a:endParaRPr lang="en-US" sz="1000" dirty="0"/>
          </a:p>
        </p:txBody>
      </p:sp>
      <p:pic>
        <p:nvPicPr>
          <p:cNvPr id="34" name="Image 9" descr="preencoded.png">    </p:cNvPr>
          <p:cNvPicPr>
            <a:picLocks noChangeAspect="1"/>
          </p:cNvPicPr>
          <p:nvPr/>
        </p:nvPicPr>
        <p:blipFill>
          <a:blip r:embed="rId10"/>
          <a:stretch>
            <a:fillRect/>
          </a:stretch>
        </p:blipFill>
        <p:spPr>
          <a:xfrm>
            <a:off x="4846320" y="3456432"/>
            <a:ext cx="201168" cy="201168"/>
          </a:xfrm>
          <a:prstGeom prst="rect">
            <a:avLst/>
          </a:prstGeom>
        </p:spPr>
      </p:pic>
      <p:sp>
        <p:nvSpPr>
          <p:cNvPr id="35" name="Text 23"/>
          <p:cNvSpPr/>
          <p:nvPr/>
        </p:nvSpPr>
        <p:spPr>
          <a:xfrm>
            <a:off x="5120640" y="3456432"/>
            <a:ext cx="3547872" cy="292608"/>
          </a:xfrm>
          <a:prstGeom prst="rect">
            <a:avLst/>
          </a:prstGeom>
          <a:noFill/>
          <a:ln/>
        </p:spPr>
        <p:txBody>
          <a:bodyPr wrap="square" lIns="0" tIns="0" rIns="0" bIns="0" rtlCol="0" anchor="ctr"/>
          <a:lstStyle/>
          <a:p>
            <a:pPr indent="0" marL="0">
              <a:buNone/>
            </a:pPr>
            <a:r>
              <a:rPr lang="en-US" sz="1000" dirty="0">
                <a:solidFill>
                  <a:srgbClr val="1B2A3B"/>
                </a:solidFill>
              </a:rPr>
              <a:t>Génère une description textuelle de chaque figure</a:t>
            </a:r>
            <a:endParaRPr lang="en-US" sz="1000" dirty="0"/>
          </a:p>
        </p:txBody>
      </p:sp>
      <p:pic>
        <p:nvPicPr>
          <p:cNvPr id="36" name="Image 10" descr="preencoded.png">    </p:cNvPr>
          <p:cNvPicPr>
            <a:picLocks noChangeAspect="1"/>
          </p:cNvPicPr>
          <p:nvPr/>
        </p:nvPicPr>
        <p:blipFill>
          <a:blip r:embed="rId11"/>
          <a:stretch>
            <a:fillRect/>
          </a:stretch>
        </p:blipFill>
        <p:spPr>
          <a:xfrm>
            <a:off x="4846320" y="3858768"/>
            <a:ext cx="201168" cy="201168"/>
          </a:xfrm>
          <a:prstGeom prst="rect">
            <a:avLst/>
          </a:prstGeom>
        </p:spPr>
      </p:pic>
      <p:sp>
        <p:nvSpPr>
          <p:cNvPr id="37" name="Text 24"/>
          <p:cNvSpPr/>
          <p:nvPr/>
        </p:nvSpPr>
        <p:spPr>
          <a:xfrm>
            <a:off x="5120640" y="3858768"/>
            <a:ext cx="3547872" cy="292608"/>
          </a:xfrm>
          <a:prstGeom prst="rect">
            <a:avLst/>
          </a:prstGeom>
          <a:noFill/>
          <a:ln/>
        </p:spPr>
        <p:txBody>
          <a:bodyPr wrap="square" lIns="0" tIns="0" rIns="0" bIns="0" rtlCol="0" anchor="ctr"/>
          <a:lstStyle/>
          <a:p>
            <a:pPr indent="0" marL="0">
              <a:buNone/>
            </a:pPr>
            <a:r>
              <a:rPr lang="en-US" sz="1000" dirty="0">
                <a:solidFill>
                  <a:srgbClr val="1B2A3B"/>
                </a:solidFill>
              </a:rPr>
              <a:t>Injecte ces descriptions dans les chunks</a:t>
            </a:r>
            <a:endParaRPr lang="en-US" sz="1000" dirty="0"/>
          </a:p>
        </p:txBody>
      </p:sp>
      <p:pic>
        <p:nvPicPr>
          <p:cNvPr id="38" name="Image 11" descr="preencoded.png">    </p:cNvPr>
          <p:cNvPicPr>
            <a:picLocks noChangeAspect="1"/>
          </p:cNvPicPr>
          <p:nvPr/>
        </p:nvPicPr>
        <p:blipFill>
          <a:blip r:embed="rId12"/>
          <a:stretch>
            <a:fillRect/>
          </a:stretch>
        </p:blipFill>
        <p:spPr>
          <a:xfrm>
            <a:off x="4846320" y="4261104"/>
            <a:ext cx="201168" cy="201168"/>
          </a:xfrm>
          <a:prstGeom prst="rect">
            <a:avLst/>
          </a:prstGeom>
        </p:spPr>
      </p:pic>
      <p:sp>
        <p:nvSpPr>
          <p:cNvPr id="39" name="Text 25"/>
          <p:cNvSpPr/>
          <p:nvPr/>
        </p:nvSpPr>
        <p:spPr>
          <a:xfrm>
            <a:off x="5120640" y="4261104"/>
            <a:ext cx="3547872" cy="292608"/>
          </a:xfrm>
          <a:prstGeom prst="rect">
            <a:avLst/>
          </a:prstGeom>
          <a:noFill/>
          <a:ln/>
        </p:spPr>
        <p:txBody>
          <a:bodyPr wrap="square" lIns="0" tIns="0" rIns="0" bIns="0" rtlCol="0" anchor="ctr"/>
          <a:lstStyle/>
          <a:p>
            <a:pPr indent="0" marL="0">
              <a:buNone/>
            </a:pPr>
            <a:r>
              <a:rPr lang="en-US" sz="1000" dirty="0">
                <a:solidFill>
                  <a:srgbClr val="1B2A3B"/>
                </a:solidFill>
              </a:rPr>
              <a:t>Rend les figures exploitables par le RAG</a:t>
            </a:r>
            <a:endParaRPr lang="en-US" sz="1000" dirty="0"/>
          </a:p>
        </p:txBody>
      </p:sp>
      <p:sp>
        <p:nvSpPr>
          <p:cNvPr id="40" name="Shape 26"/>
          <p:cNvSpPr/>
          <p:nvPr/>
        </p:nvSpPr>
        <p:spPr>
          <a:xfrm>
            <a:off x="365760" y="4864608"/>
            <a:ext cx="8412480" cy="0"/>
          </a:xfrm>
          <a:prstGeom prst="rect">
            <a:avLst/>
          </a:prstGeom>
          <a:solidFill>
            <a:srgbClr val="000000"/>
          </a:solidFill>
          <a:ln w="12700">
            <a:solidFill>
              <a:srgbClr val="00000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04 — PIPELINE : COUCHES AVANCÉES</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Similarity &amp; Resolver Cases — Deux couches intelligentes</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Aller au-delà de la simple recherche de texte</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4069080" cy="35844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4069080" cy="402336"/>
          </a:xfrm>
          <a:prstGeom prst="rect">
            <a:avLst/>
          </a:prstGeom>
          <a:solidFill>
            <a:srgbClr val="0D9488"/>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530352" y="1271016"/>
            <a:ext cx="292608" cy="292608"/>
          </a:xfrm>
          <a:prstGeom prst="rect">
            <a:avLst/>
          </a:prstGeom>
        </p:spPr>
      </p:pic>
      <p:sp>
        <p:nvSpPr>
          <p:cNvPr id="10" name="Text 7"/>
          <p:cNvSpPr/>
          <p:nvPr/>
        </p:nvSpPr>
        <p:spPr>
          <a:xfrm>
            <a:off x="896112" y="1271016"/>
            <a:ext cx="3429000" cy="274320"/>
          </a:xfrm>
          <a:prstGeom prst="rect">
            <a:avLst/>
          </a:prstGeom>
          <a:noFill/>
          <a:ln/>
        </p:spPr>
        <p:txBody>
          <a:bodyPr wrap="square" lIns="0" tIns="0" rIns="0" bIns="0" rtlCol="0" anchor="ctr"/>
          <a:lstStyle/>
          <a:p>
            <a:pPr indent="0" marL="0">
              <a:buNone/>
            </a:pPr>
            <a:r>
              <a:rPr lang="en-US" sz="1200" b="1" dirty="0">
                <a:solidFill>
                  <a:srgbClr val="FFFFFF"/>
                </a:solidFill>
              </a:rPr>
              <a:t>Similarity (Similarité d'issues)</a:t>
            </a:r>
            <a:endParaRPr lang="en-US" sz="1200" dirty="0"/>
          </a:p>
        </p:txBody>
      </p:sp>
      <p:sp>
        <p:nvSpPr>
          <p:cNvPr id="11" name="Text 8"/>
          <p:cNvSpPr/>
          <p:nvPr/>
        </p:nvSpPr>
        <p:spPr>
          <a:xfrm>
            <a:off x="512064" y="1719072"/>
            <a:ext cx="3767328" cy="219456"/>
          </a:xfrm>
          <a:prstGeom prst="rect">
            <a:avLst/>
          </a:prstGeom>
          <a:noFill/>
          <a:ln/>
        </p:spPr>
        <p:txBody>
          <a:bodyPr wrap="square" lIns="0" tIns="0" rIns="0" bIns="0" rtlCol="0" anchor="ctr"/>
          <a:lstStyle/>
          <a:p>
            <a:pPr indent="0" marL="0">
              <a:buNone/>
            </a:pPr>
            <a:r>
              <a:rPr lang="en-US" sz="1050" b="1" dirty="0">
                <a:solidFill>
                  <a:srgbClr val="EF4444"/>
                </a:solidFill>
              </a:rPr>
              <a:t>Problème :</a:t>
            </a:r>
            <a:endParaRPr lang="en-US" sz="1050" dirty="0"/>
          </a:p>
        </p:txBody>
      </p:sp>
      <p:sp>
        <p:nvSpPr>
          <p:cNvPr id="12" name="Text 9"/>
          <p:cNvSpPr/>
          <p:nvPr/>
        </p:nvSpPr>
        <p:spPr>
          <a:xfrm>
            <a:off x="512064" y="1938528"/>
            <a:ext cx="3767328" cy="640080"/>
          </a:xfrm>
          <a:prstGeom prst="rect">
            <a:avLst/>
          </a:prstGeom>
          <a:noFill/>
          <a:ln/>
        </p:spPr>
        <p:txBody>
          <a:bodyPr wrap="square" lIns="0" tIns="0" rIns="0" bIns="0" rtlCol="0" anchor="ctr"/>
          <a:lstStyle/>
          <a:p>
            <a:pPr indent="0" marL="0">
              <a:buNone/>
            </a:pPr>
            <a:r>
              <a:rPr lang="en-US" sz="1000" dirty="0">
                <a:solidFill>
                  <a:srgbClr val="1B2A3B"/>
                </a:solidFill>
              </a:rPr>
              <a:t>Deux utilisateurs signalent le même bug en l'écrivant différemment. Sans ce calcul, le système les traite comme deux problèmes distincts.</a:t>
            </a:r>
            <a:endParaRPr lang="en-US" sz="1000" dirty="0"/>
          </a:p>
        </p:txBody>
      </p:sp>
      <p:sp>
        <p:nvSpPr>
          <p:cNvPr id="13" name="Text 10"/>
          <p:cNvSpPr/>
          <p:nvPr/>
        </p:nvSpPr>
        <p:spPr>
          <a:xfrm>
            <a:off x="512064" y="2633472"/>
            <a:ext cx="3767328" cy="219456"/>
          </a:xfrm>
          <a:prstGeom prst="rect">
            <a:avLst/>
          </a:prstGeom>
          <a:noFill/>
          <a:ln/>
        </p:spPr>
        <p:txBody>
          <a:bodyPr wrap="square" lIns="0" tIns="0" rIns="0" bIns="0" rtlCol="0" anchor="ctr"/>
          <a:lstStyle/>
          <a:p>
            <a:pPr indent="0" marL="0">
              <a:buNone/>
            </a:pPr>
            <a:r>
              <a:rPr lang="en-US" sz="1050" b="1" dirty="0">
                <a:solidFill>
                  <a:srgbClr val="0D9488"/>
                </a:solidFill>
              </a:rPr>
              <a:t>Solution :</a:t>
            </a:r>
            <a:endParaRPr lang="en-US" sz="1050" dirty="0"/>
          </a:p>
        </p:txBody>
      </p:sp>
      <p:sp>
        <p:nvSpPr>
          <p:cNvPr id="14" name="Text 11"/>
          <p:cNvSpPr/>
          <p:nvPr/>
        </p:nvSpPr>
        <p:spPr>
          <a:xfrm>
            <a:off x="512064" y="2852928"/>
            <a:ext cx="3767328" cy="640080"/>
          </a:xfrm>
          <a:prstGeom prst="rect">
            <a:avLst/>
          </a:prstGeom>
          <a:noFill/>
          <a:ln/>
        </p:spPr>
        <p:txBody>
          <a:bodyPr wrap="square" lIns="0" tIns="0" rIns="0" bIns="0" rtlCol="0" anchor="ctr"/>
          <a:lstStyle/>
          <a:p>
            <a:pPr indent="0" marL="0">
              <a:buNone/>
            </a:pPr>
            <a:r>
              <a:rPr lang="en-US" sz="1000" dirty="0">
                <a:solidFill>
                  <a:srgbClr val="1B2A3B"/>
                </a:solidFill>
              </a:rPr>
              <a:t>On calcule un score de ressemblance entre toutes les issues (TF-IDF + cosine). Résultat : chaque issue sait quelles autres issues lui ressemblent → related_issue_ids.</a:t>
            </a:r>
            <a:endParaRPr lang="en-US" sz="1000" dirty="0"/>
          </a:p>
        </p:txBody>
      </p:sp>
      <p:sp>
        <p:nvSpPr>
          <p:cNvPr id="15" name="Shape 12"/>
          <p:cNvSpPr/>
          <p:nvPr/>
        </p:nvSpPr>
        <p:spPr>
          <a:xfrm>
            <a:off x="438912" y="3584448"/>
            <a:ext cx="3840480" cy="1097280"/>
          </a:xfrm>
          <a:prstGeom prst="rect">
            <a:avLst/>
          </a:prstGeom>
          <a:solidFill>
            <a:srgbClr val="F0FDFA"/>
          </a:solidFill>
          <a:ln w="12700">
            <a:solidFill>
              <a:srgbClr val="99F6E4"/>
            </a:solidFill>
            <a:prstDash val="solid"/>
          </a:ln>
        </p:spPr>
      </p:sp>
      <p:sp>
        <p:nvSpPr>
          <p:cNvPr id="16" name="Text 13"/>
          <p:cNvSpPr/>
          <p:nvPr/>
        </p:nvSpPr>
        <p:spPr>
          <a:xfrm>
            <a:off x="566928" y="3639312"/>
            <a:ext cx="3584448" cy="219456"/>
          </a:xfrm>
          <a:prstGeom prst="rect">
            <a:avLst/>
          </a:prstGeom>
          <a:noFill/>
          <a:ln/>
        </p:spPr>
        <p:txBody>
          <a:bodyPr wrap="square" lIns="0" tIns="0" rIns="0" bIns="0" rtlCol="0" anchor="ctr"/>
          <a:lstStyle/>
          <a:p>
            <a:pPr indent="0" marL="0">
              <a:buNone/>
            </a:pPr>
            <a:r>
              <a:rPr lang="en-US" sz="950" b="1" dirty="0">
                <a:solidFill>
                  <a:srgbClr val="0D9488"/>
                </a:solidFill>
              </a:rPr>
              <a:t>Exemple concret :</a:t>
            </a:r>
            <a:endParaRPr lang="en-US" sz="950" dirty="0"/>
          </a:p>
        </p:txBody>
      </p:sp>
      <p:sp>
        <p:nvSpPr>
          <p:cNvPr id="17" name="Text 14"/>
          <p:cNvSpPr/>
          <p:nvPr/>
        </p:nvSpPr>
        <p:spPr>
          <a:xfrm>
            <a:off x="566928" y="3858768"/>
            <a:ext cx="3584448" cy="694944"/>
          </a:xfrm>
          <a:prstGeom prst="rect">
            <a:avLst/>
          </a:prstGeom>
          <a:noFill/>
          <a:ln/>
        </p:spPr>
        <p:txBody>
          <a:bodyPr wrap="square" lIns="0" tIns="0" rIns="0" bIns="0" rtlCol="0" anchor="ctr"/>
          <a:lstStyle/>
          <a:p>
            <a:pPr indent="0" marL="0">
              <a:buNone/>
            </a:pPr>
            <a:r>
              <a:rPr lang="en-US" sz="950" dirty="0">
                <a:solidFill>
                  <a:srgbClr val="1B2A3B"/>
                </a:solidFill>
              </a:rPr>
              <a:t>Issue A : "DMA circulaire inconsistant"</a:t>
            </a:r>
            <a:endParaRPr lang="en-US" sz="950" dirty="0"/>
          </a:p>
          <a:p>
            <a:pPr indent="0" marL="0">
              <a:buNone/>
            </a:pPr>
            <a:r>
              <a:rPr lang="en-US" sz="950" dirty="0">
                <a:solidFill>
                  <a:srgbClr val="1B2A3B"/>
                </a:solidFill>
              </a:rPr>
              <a:t>Issue B (résolue) : "fix HAL_DMA circular mode"</a:t>
            </a:r>
            <a:endParaRPr lang="en-US" sz="950" dirty="0"/>
          </a:p>
          <a:p>
            <a:pPr indent="0" marL="0">
              <a:buNone/>
            </a:pPr>
            <a:r>
              <a:rPr lang="en-US" sz="950" dirty="0">
                <a:solidFill>
                  <a:srgbClr val="1B2A3B"/>
                </a:solidFill>
              </a:rPr>
              <a:t>→ Les deux sont liées → Issue A hérite du fix de B</a:t>
            </a:r>
            <a:endParaRPr lang="en-US" sz="950" dirty="0"/>
          </a:p>
        </p:txBody>
      </p:sp>
      <p:sp>
        <p:nvSpPr>
          <p:cNvPr id="18" name="Shape 15"/>
          <p:cNvSpPr/>
          <p:nvPr/>
        </p:nvSpPr>
        <p:spPr>
          <a:xfrm>
            <a:off x="4709160" y="1207008"/>
            <a:ext cx="4069080" cy="35844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9" name="Shape 16"/>
          <p:cNvSpPr/>
          <p:nvPr/>
        </p:nvSpPr>
        <p:spPr>
          <a:xfrm>
            <a:off x="4709160" y="1207008"/>
            <a:ext cx="4069080" cy="402336"/>
          </a:xfrm>
          <a:prstGeom prst="rect">
            <a:avLst/>
          </a:prstGeom>
          <a:solidFill>
            <a:srgbClr val="F59E0B"/>
          </a:solidFill>
          <a:ln w="12700">
            <a:solidFill>
              <a:srgbClr val="000000"/>
            </a:solidFill>
            <a:prstDash val="solid"/>
          </a:ln>
        </p:spPr>
      </p:sp>
      <p:pic>
        <p:nvPicPr>
          <p:cNvPr id="20" name="Image 1" descr="preencoded.png">    </p:cNvPr>
          <p:cNvPicPr>
            <a:picLocks noChangeAspect="1"/>
          </p:cNvPicPr>
          <p:nvPr/>
        </p:nvPicPr>
        <p:blipFill>
          <a:blip r:embed="rId2"/>
          <a:stretch>
            <a:fillRect/>
          </a:stretch>
        </p:blipFill>
        <p:spPr>
          <a:xfrm>
            <a:off x="4873752" y="1271016"/>
            <a:ext cx="292608" cy="292608"/>
          </a:xfrm>
          <a:prstGeom prst="rect">
            <a:avLst/>
          </a:prstGeom>
        </p:spPr>
      </p:pic>
      <p:sp>
        <p:nvSpPr>
          <p:cNvPr id="21" name="Text 17"/>
          <p:cNvSpPr/>
          <p:nvPr/>
        </p:nvSpPr>
        <p:spPr>
          <a:xfrm>
            <a:off x="5239512" y="1271016"/>
            <a:ext cx="3429000" cy="274320"/>
          </a:xfrm>
          <a:prstGeom prst="rect">
            <a:avLst/>
          </a:prstGeom>
          <a:noFill/>
          <a:ln/>
        </p:spPr>
        <p:txBody>
          <a:bodyPr wrap="square" lIns="0" tIns="0" rIns="0" bIns="0" rtlCol="0" anchor="ctr"/>
          <a:lstStyle/>
          <a:p>
            <a:pPr indent="0" marL="0">
              <a:buNone/>
            </a:pPr>
            <a:r>
              <a:rPr lang="en-US" sz="1200" b="1" dirty="0">
                <a:solidFill>
                  <a:srgbClr val="FFFFFF"/>
                </a:solidFill>
              </a:rPr>
              <a:t>Resolver Cases (Fiches de résolution)</a:t>
            </a:r>
            <a:endParaRPr lang="en-US" sz="1200" dirty="0"/>
          </a:p>
        </p:txBody>
      </p:sp>
      <p:sp>
        <p:nvSpPr>
          <p:cNvPr id="22" name="Text 18"/>
          <p:cNvSpPr/>
          <p:nvPr/>
        </p:nvSpPr>
        <p:spPr>
          <a:xfrm>
            <a:off x="4846320" y="1719072"/>
            <a:ext cx="3767328" cy="219456"/>
          </a:xfrm>
          <a:prstGeom prst="rect">
            <a:avLst/>
          </a:prstGeom>
          <a:noFill/>
          <a:ln/>
        </p:spPr>
        <p:txBody>
          <a:bodyPr wrap="square" lIns="0" tIns="0" rIns="0" bIns="0" rtlCol="0" anchor="ctr"/>
          <a:lstStyle/>
          <a:p>
            <a:pPr indent="0" marL="0">
              <a:buNone/>
            </a:pPr>
            <a:r>
              <a:rPr lang="en-US" sz="1050" b="1" dirty="0">
                <a:solidFill>
                  <a:srgbClr val="F59E0B"/>
                </a:solidFill>
              </a:rPr>
              <a:t>C'est quoi ?</a:t>
            </a:r>
            <a:endParaRPr lang="en-US" sz="1050" dirty="0"/>
          </a:p>
        </p:txBody>
      </p:sp>
      <p:sp>
        <p:nvSpPr>
          <p:cNvPr id="23" name="Text 19"/>
          <p:cNvSpPr/>
          <p:nvPr/>
        </p:nvSpPr>
        <p:spPr>
          <a:xfrm>
            <a:off x="4846320" y="1938528"/>
            <a:ext cx="3767328" cy="566928"/>
          </a:xfrm>
          <a:prstGeom prst="rect">
            <a:avLst/>
          </a:prstGeom>
          <a:noFill/>
          <a:ln/>
        </p:spPr>
        <p:txBody>
          <a:bodyPr wrap="square" lIns="0" tIns="0" rIns="0" bIns="0" rtlCol="0" anchor="ctr"/>
          <a:lstStyle/>
          <a:p>
            <a:pPr indent="0" marL="0">
              <a:buNone/>
            </a:pPr>
            <a:r>
              <a:rPr lang="en-US" sz="1000" dirty="0">
                <a:solidFill>
                  <a:srgbClr val="1B2A3B"/>
                </a:solidFill>
              </a:rPr>
              <a:t>Une fiche structurée générée automatiquement pour chaque bug résolu. Elle regroupe tout ce qu'on sait sur ce type de problème.</a:t>
            </a:r>
            <a:endParaRPr lang="en-US" sz="1000" dirty="0"/>
          </a:p>
        </p:txBody>
      </p:sp>
      <p:sp>
        <p:nvSpPr>
          <p:cNvPr id="24" name="Shape 20"/>
          <p:cNvSpPr/>
          <p:nvPr/>
        </p:nvSpPr>
        <p:spPr>
          <a:xfrm>
            <a:off x="4828032" y="2596896"/>
            <a:ext cx="1051560" cy="256032"/>
          </a:xfrm>
          <a:prstGeom prst="rect">
            <a:avLst>
              <a:gd name="adj" fmla="val 14286"/>
            </a:avLst>
          </a:prstGeom>
          <a:solidFill>
            <a:srgbClr val="FDE68A"/>
          </a:solidFill>
          <a:ln w="12700">
            <a:solidFill>
              <a:srgbClr val="000000"/>
            </a:solidFill>
            <a:prstDash val="solid"/>
          </a:ln>
        </p:spPr>
      </p:sp>
      <p:sp>
        <p:nvSpPr>
          <p:cNvPr id="25" name="Text 21"/>
          <p:cNvSpPr/>
          <p:nvPr/>
        </p:nvSpPr>
        <p:spPr>
          <a:xfrm>
            <a:off x="4828032" y="2596896"/>
            <a:ext cx="1051560" cy="256032"/>
          </a:xfrm>
          <a:prstGeom prst="rect">
            <a:avLst/>
          </a:prstGeom>
          <a:noFill/>
          <a:ln/>
        </p:spPr>
        <p:txBody>
          <a:bodyPr wrap="square" lIns="0" tIns="0" rIns="0" bIns="0" rtlCol="0" anchor="ctr"/>
          <a:lstStyle/>
          <a:p>
            <a:pPr algn="ctr" indent="0" marL="0">
              <a:buNone/>
            </a:pPr>
            <a:r>
              <a:rPr lang="en-US" sz="900" b="1" dirty="0">
                <a:solidFill>
                  <a:srgbClr val="1B2A3B"/>
                </a:solidFill>
              </a:rPr>
              <a:t>Problème</a:t>
            </a:r>
            <a:endParaRPr lang="en-US" sz="900" dirty="0"/>
          </a:p>
        </p:txBody>
      </p:sp>
      <p:sp>
        <p:nvSpPr>
          <p:cNvPr id="26" name="Text 22"/>
          <p:cNvSpPr/>
          <p:nvPr/>
        </p:nvSpPr>
        <p:spPr>
          <a:xfrm>
            <a:off x="5943600" y="2615184"/>
            <a:ext cx="2761488" cy="237744"/>
          </a:xfrm>
          <a:prstGeom prst="rect">
            <a:avLst/>
          </a:prstGeom>
          <a:noFill/>
          <a:ln/>
        </p:spPr>
        <p:txBody>
          <a:bodyPr wrap="square" lIns="0" tIns="0" rIns="0" bIns="0" rtlCol="0" anchor="ctr"/>
          <a:lstStyle/>
          <a:p>
            <a:pPr indent="0" marL="0">
              <a:buNone/>
            </a:pPr>
            <a:r>
              <a:rPr lang="en-US" sz="950" dirty="0">
                <a:solidFill>
                  <a:srgbClr val="1B2A3B"/>
                </a:solidFill>
              </a:rPr>
              <a:t>Description du bug (Problem)</a:t>
            </a:r>
            <a:endParaRPr lang="en-US" sz="950" dirty="0"/>
          </a:p>
        </p:txBody>
      </p:sp>
      <p:sp>
        <p:nvSpPr>
          <p:cNvPr id="27" name="Shape 23"/>
          <p:cNvSpPr/>
          <p:nvPr/>
        </p:nvSpPr>
        <p:spPr>
          <a:xfrm>
            <a:off x="4828032" y="2962656"/>
            <a:ext cx="1051560" cy="256032"/>
          </a:xfrm>
          <a:prstGeom prst="rect">
            <a:avLst>
              <a:gd name="adj" fmla="val 14286"/>
            </a:avLst>
          </a:prstGeom>
          <a:solidFill>
            <a:srgbClr val="FDE68A"/>
          </a:solidFill>
          <a:ln w="12700">
            <a:solidFill>
              <a:srgbClr val="000000"/>
            </a:solidFill>
            <a:prstDash val="solid"/>
          </a:ln>
        </p:spPr>
      </p:sp>
      <p:sp>
        <p:nvSpPr>
          <p:cNvPr id="28" name="Text 24"/>
          <p:cNvSpPr/>
          <p:nvPr/>
        </p:nvSpPr>
        <p:spPr>
          <a:xfrm>
            <a:off x="4828032" y="2962656"/>
            <a:ext cx="1051560" cy="256032"/>
          </a:xfrm>
          <a:prstGeom prst="rect">
            <a:avLst/>
          </a:prstGeom>
          <a:noFill/>
          <a:ln/>
        </p:spPr>
        <p:txBody>
          <a:bodyPr wrap="square" lIns="0" tIns="0" rIns="0" bIns="0" rtlCol="0" anchor="ctr"/>
          <a:lstStyle/>
          <a:p>
            <a:pPr algn="ctr" indent="0" marL="0">
              <a:buNone/>
            </a:pPr>
            <a:r>
              <a:rPr lang="en-US" sz="900" b="1" dirty="0">
                <a:solidFill>
                  <a:srgbClr val="1B2A3B"/>
                </a:solidFill>
              </a:rPr>
              <a:t>Preuve</a:t>
            </a:r>
            <a:endParaRPr lang="en-US" sz="900" dirty="0"/>
          </a:p>
        </p:txBody>
      </p:sp>
      <p:sp>
        <p:nvSpPr>
          <p:cNvPr id="29" name="Text 25"/>
          <p:cNvSpPr/>
          <p:nvPr/>
        </p:nvSpPr>
        <p:spPr>
          <a:xfrm>
            <a:off x="5943600" y="2980944"/>
            <a:ext cx="2761488" cy="237744"/>
          </a:xfrm>
          <a:prstGeom prst="rect">
            <a:avLst/>
          </a:prstGeom>
          <a:noFill/>
          <a:ln/>
        </p:spPr>
        <p:txBody>
          <a:bodyPr wrap="square" lIns="0" tIns="0" rIns="0" bIns="0" rtlCol="0" anchor="ctr"/>
          <a:lstStyle/>
          <a:p>
            <a:pPr indent="0" marL="0">
              <a:buNone/>
            </a:pPr>
            <a:r>
              <a:rPr lang="en-US" sz="950" dirty="0">
                <a:solidFill>
                  <a:srgbClr val="1B2A3B"/>
                </a:solidFill>
              </a:rPr>
              <a:t>Le PR/commit qui l'a corrigé (Evidence)</a:t>
            </a:r>
            <a:endParaRPr lang="en-US" sz="950" dirty="0"/>
          </a:p>
        </p:txBody>
      </p:sp>
      <p:sp>
        <p:nvSpPr>
          <p:cNvPr id="30" name="Shape 26"/>
          <p:cNvSpPr/>
          <p:nvPr/>
        </p:nvSpPr>
        <p:spPr>
          <a:xfrm>
            <a:off x="4828032" y="3328416"/>
            <a:ext cx="1051560" cy="256032"/>
          </a:xfrm>
          <a:prstGeom prst="rect">
            <a:avLst>
              <a:gd name="adj" fmla="val 14286"/>
            </a:avLst>
          </a:prstGeom>
          <a:solidFill>
            <a:srgbClr val="FDE68A"/>
          </a:solidFill>
          <a:ln w="12700">
            <a:solidFill>
              <a:srgbClr val="000000"/>
            </a:solidFill>
            <a:prstDash val="solid"/>
          </a:ln>
        </p:spPr>
      </p:sp>
      <p:sp>
        <p:nvSpPr>
          <p:cNvPr id="31" name="Text 27"/>
          <p:cNvSpPr/>
          <p:nvPr/>
        </p:nvSpPr>
        <p:spPr>
          <a:xfrm>
            <a:off x="4828032" y="3328416"/>
            <a:ext cx="1051560" cy="256032"/>
          </a:xfrm>
          <a:prstGeom prst="rect">
            <a:avLst/>
          </a:prstGeom>
          <a:noFill/>
          <a:ln/>
        </p:spPr>
        <p:txBody>
          <a:bodyPr wrap="square" lIns="0" tIns="0" rIns="0" bIns="0" rtlCol="0" anchor="ctr"/>
          <a:lstStyle/>
          <a:p>
            <a:pPr algn="ctr" indent="0" marL="0">
              <a:buNone/>
            </a:pPr>
            <a:r>
              <a:rPr lang="en-US" sz="900" b="1" dirty="0">
                <a:solidFill>
                  <a:srgbClr val="1B2A3B"/>
                </a:solidFill>
              </a:rPr>
              <a:t>Fix</a:t>
            </a:r>
            <a:endParaRPr lang="en-US" sz="900" dirty="0"/>
          </a:p>
        </p:txBody>
      </p:sp>
      <p:sp>
        <p:nvSpPr>
          <p:cNvPr id="32" name="Text 28"/>
          <p:cNvSpPr/>
          <p:nvPr/>
        </p:nvSpPr>
        <p:spPr>
          <a:xfrm>
            <a:off x="5943600" y="3346704"/>
            <a:ext cx="2761488" cy="237744"/>
          </a:xfrm>
          <a:prstGeom prst="rect">
            <a:avLst/>
          </a:prstGeom>
          <a:noFill/>
          <a:ln/>
        </p:spPr>
        <p:txBody>
          <a:bodyPr wrap="square" lIns="0" tIns="0" rIns="0" bIns="0" rtlCol="0" anchor="ctr"/>
          <a:lstStyle/>
          <a:p>
            <a:pPr indent="0" marL="0">
              <a:buNone/>
            </a:pPr>
            <a:r>
              <a:rPr lang="en-US" sz="950" dirty="0">
                <a:solidFill>
                  <a:srgbClr val="1B2A3B"/>
                </a:solidFill>
              </a:rPr>
              <a:t>La solution appliquée (Fix)</a:t>
            </a:r>
            <a:endParaRPr lang="en-US" sz="950" dirty="0"/>
          </a:p>
        </p:txBody>
      </p:sp>
      <p:sp>
        <p:nvSpPr>
          <p:cNvPr id="33" name="Shape 29"/>
          <p:cNvSpPr/>
          <p:nvPr/>
        </p:nvSpPr>
        <p:spPr>
          <a:xfrm>
            <a:off x="4828032" y="3694176"/>
            <a:ext cx="1051560" cy="256032"/>
          </a:xfrm>
          <a:prstGeom prst="rect">
            <a:avLst>
              <a:gd name="adj" fmla="val 14286"/>
            </a:avLst>
          </a:prstGeom>
          <a:solidFill>
            <a:srgbClr val="FDE68A"/>
          </a:solidFill>
          <a:ln w="12700">
            <a:solidFill>
              <a:srgbClr val="000000"/>
            </a:solidFill>
            <a:prstDash val="solid"/>
          </a:ln>
        </p:spPr>
      </p:sp>
      <p:sp>
        <p:nvSpPr>
          <p:cNvPr id="34" name="Text 30"/>
          <p:cNvSpPr/>
          <p:nvPr/>
        </p:nvSpPr>
        <p:spPr>
          <a:xfrm>
            <a:off x="4828032" y="3694176"/>
            <a:ext cx="1051560" cy="256032"/>
          </a:xfrm>
          <a:prstGeom prst="rect">
            <a:avLst/>
          </a:prstGeom>
          <a:noFill/>
          <a:ln/>
        </p:spPr>
        <p:txBody>
          <a:bodyPr wrap="square" lIns="0" tIns="0" rIns="0" bIns="0" rtlCol="0" anchor="ctr"/>
          <a:lstStyle/>
          <a:p>
            <a:pPr algn="ctr" indent="0" marL="0">
              <a:buNone/>
            </a:pPr>
            <a:r>
              <a:rPr lang="en-US" sz="900" b="1" dirty="0">
                <a:solidFill>
                  <a:srgbClr val="1B2A3B"/>
                </a:solidFill>
              </a:rPr>
              <a:t>Tags</a:t>
            </a:r>
            <a:endParaRPr lang="en-US" sz="900" dirty="0"/>
          </a:p>
        </p:txBody>
      </p:sp>
      <p:sp>
        <p:nvSpPr>
          <p:cNvPr id="35" name="Text 31"/>
          <p:cNvSpPr/>
          <p:nvPr/>
        </p:nvSpPr>
        <p:spPr>
          <a:xfrm>
            <a:off x="5943600" y="3712464"/>
            <a:ext cx="2761488" cy="237744"/>
          </a:xfrm>
          <a:prstGeom prst="rect">
            <a:avLst/>
          </a:prstGeom>
          <a:noFill/>
          <a:ln/>
        </p:spPr>
        <p:txBody>
          <a:bodyPr wrap="square" lIns="0" tIns="0" rIns="0" bIns="0" rtlCol="0" anchor="ctr"/>
          <a:lstStyle/>
          <a:p>
            <a:pPr indent="0" marL="0">
              <a:buNone/>
            </a:pPr>
            <a:r>
              <a:rPr lang="en-US" sz="950" dirty="0">
                <a:solidFill>
                  <a:srgbClr val="1B2A3B"/>
                </a:solidFill>
              </a:rPr>
              <a:t>overflow, uint16_limit, dma_size...</a:t>
            </a:r>
            <a:endParaRPr lang="en-US" sz="950" dirty="0"/>
          </a:p>
        </p:txBody>
      </p:sp>
      <p:sp>
        <p:nvSpPr>
          <p:cNvPr id="36" name="Shape 32"/>
          <p:cNvSpPr/>
          <p:nvPr/>
        </p:nvSpPr>
        <p:spPr>
          <a:xfrm>
            <a:off x="4828032" y="4059936"/>
            <a:ext cx="1051560" cy="256032"/>
          </a:xfrm>
          <a:prstGeom prst="rect">
            <a:avLst>
              <a:gd name="adj" fmla="val 14286"/>
            </a:avLst>
          </a:prstGeom>
          <a:solidFill>
            <a:srgbClr val="FDE68A"/>
          </a:solidFill>
          <a:ln w="12700">
            <a:solidFill>
              <a:srgbClr val="000000"/>
            </a:solidFill>
            <a:prstDash val="solid"/>
          </a:ln>
        </p:spPr>
      </p:sp>
      <p:sp>
        <p:nvSpPr>
          <p:cNvPr id="37" name="Text 33"/>
          <p:cNvSpPr/>
          <p:nvPr/>
        </p:nvSpPr>
        <p:spPr>
          <a:xfrm>
            <a:off x="4828032" y="4059936"/>
            <a:ext cx="1051560" cy="256032"/>
          </a:xfrm>
          <a:prstGeom prst="rect">
            <a:avLst/>
          </a:prstGeom>
          <a:noFill/>
          <a:ln/>
        </p:spPr>
        <p:txBody>
          <a:bodyPr wrap="square" lIns="0" tIns="0" rIns="0" bIns="0" rtlCol="0" anchor="ctr"/>
          <a:lstStyle/>
          <a:p>
            <a:pPr algn="ctr" indent="0" marL="0">
              <a:buNone/>
            </a:pPr>
            <a:r>
              <a:rPr lang="en-US" sz="900" b="1" dirty="0">
                <a:solidFill>
                  <a:srgbClr val="1B2A3B"/>
                </a:solidFill>
              </a:rPr>
              <a:t>Score</a:t>
            </a:r>
            <a:endParaRPr lang="en-US" sz="900" dirty="0"/>
          </a:p>
        </p:txBody>
      </p:sp>
      <p:sp>
        <p:nvSpPr>
          <p:cNvPr id="38" name="Text 34"/>
          <p:cNvSpPr/>
          <p:nvPr/>
        </p:nvSpPr>
        <p:spPr>
          <a:xfrm>
            <a:off x="5943600" y="4078224"/>
            <a:ext cx="2761488" cy="237744"/>
          </a:xfrm>
          <a:prstGeom prst="rect">
            <a:avLst/>
          </a:prstGeom>
          <a:noFill/>
          <a:ln/>
        </p:spPr>
        <p:txBody>
          <a:bodyPr wrap="square" lIns="0" tIns="0" rIns="0" bIns="0" rtlCol="0" anchor="ctr"/>
          <a:lstStyle/>
          <a:p>
            <a:pPr indent="0" marL="0">
              <a:buNone/>
            </a:pPr>
            <a:r>
              <a:rPr lang="en-US" sz="950" dirty="0">
                <a:solidFill>
                  <a:srgbClr val="1B2A3B"/>
                </a:solidFill>
              </a:rPr>
              <a:t>Niveau de confiance du lien issue↔PR</a:t>
            </a:r>
            <a:endParaRPr lang="en-US" sz="950" dirty="0"/>
          </a:p>
        </p:txBody>
      </p:sp>
      <p:sp>
        <p:nvSpPr>
          <p:cNvPr id="39" name="Shape 35"/>
          <p:cNvSpPr/>
          <p:nvPr/>
        </p:nvSpPr>
        <p:spPr>
          <a:xfrm>
            <a:off x="4754880" y="4480560"/>
            <a:ext cx="3913632" cy="274320"/>
          </a:xfrm>
          <a:prstGeom prst="rect">
            <a:avLst>
              <a:gd name="adj" fmla="val 20000"/>
            </a:avLst>
          </a:prstGeom>
          <a:solidFill>
            <a:srgbClr val="F0FDFA"/>
          </a:solidFill>
          <a:ln w="12700">
            <a:solidFill>
              <a:srgbClr val="F59E0B"/>
            </a:solidFill>
            <a:prstDash val="solid"/>
          </a:ln>
        </p:spPr>
      </p:sp>
      <p:sp>
        <p:nvSpPr>
          <p:cNvPr id="40" name="Text 36"/>
          <p:cNvSpPr/>
          <p:nvPr/>
        </p:nvSpPr>
        <p:spPr>
          <a:xfrm>
            <a:off x="4828032" y="4489704"/>
            <a:ext cx="3767328" cy="256032"/>
          </a:xfrm>
          <a:prstGeom prst="rect">
            <a:avLst/>
          </a:prstGeom>
          <a:noFill/>
          <a:ln/>
        </p:spPr>
        <p:txBody>
          <a:bodyPr wrap="square" lIns="0" tIns="0" rIns="0" bIns="0" rtlCol="0" anchor="ctr"/>
          <a:lstStyle/>
          <a:p>
            <a:pPr algn="ctr" indent="0" marL="0">
              <a:buNone/>
            </a:pPr>
            <a:r>
              <a:rPr lang="en-US" sz="850" dirty="0">
                <a:solidFill>
                  <a:srgbClr val="1B2A3B"/>
                </a:solidFill>
              </a:rPr>
              <a:t>Objectif : diagnostiquer les nouveaux bugs par classe (pattern), pas seulement par texte exact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05 — RÉSULTATS : RUN 50 QUESTIONS</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Comment on mesure si l'outil fonctionne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On pose 50 questions de référence et on analyse chaque réponse</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8412480" cy="713232"/>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64008" cy="713232"/>
          </a:xfrm>
          <a:prstGeom prst="rect">
            <a:avLst/>
          </a:prstGeom>
          <a:solidFill>
            <a:srgbClr val="0D9488"/>
          </a:solidFill>
          <a:ln w="12700">
            <a:solidFill>
              <a:srgbClr val="000000"/>
            </a:solidFill>
            <a:prstDash val="solid"/>
          </a:ln>
        </p:spPr>
      </p:sp>
      <p:sp>
        <p:nvSpPr>
          <p:cNvPr id="9" name="Text 7"/>
          <p:cNvSpPr/>
          <p:nvPr/>
        </p:nvSpPr>
        <p:spPr>
          <a:xfrm>
            <a:off x="566928" y="1298448"/>
            <a:ext cx="8092440" cy="530352"/>
          </a:xfrm>
          <a:prstGeom prst="rect">
            <a:avLst/>
          </a:prstGeom>
          <a:noFill/>
          <a:ln/>
        </p:spPr>
        <p:txBody>
          <a:bodyPr wrap="square" lIns="0" tIns="0" rIns="0" bIns="0" rtlCol="0" anchor="ctr"/>
          <a:lstStyle/>
          <a:p>
            <a:pPr indent="0" marL="0">
              <a:buNone/>
            </a:pPr>
            <a:r>
              <a:rPr lang="en-US" sz="1100" dirty="0">
                <a:solidFill>
                  <a:srgbClr val="1B2A3B"/>
                </a:solidFill>
              </a:rPr>
              <a:t>Principe : 50 questions techniques STM32 sont posées automatiquement à la persona. Chaque réponse est classée : réponse précise, réponse vague, ou crash technique. Ce cycle se répète après chaque amélioration.</a:t>
            </a:r>
            <a:endParaRPr lang="en-US" sz="1100" dirty="0"/>
          </a:p>
        </p:txBody>
      </p:sp>
      <p:sp>
        <p:nvSpPr>
          <p:cNvPr id="10" name="Shape 8"/>
          <p:cNvSpPr/>
          <p:nvPr/>
        </p:nvSpPr>
        <p:spPr>
          <a:xfrm>
            <a:off x="365760" y="2084832"/>
            <a:ext cx="1975104"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950976" y="2176272"/>
            <a:ext cx="804672" cy="804672"/>
          </a:xfrm>
          <a:prstGeom prst="ellipse">
            <a:avLst/>
          </a:prstGeom>
          <a:solidFill>
            <a:srgbClr val="1B2A3B"/>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12" name="Image 0" descr="preencoded.png">    </p:cNvPr>
          <p:cNvPicPr>
            <a:picLocks noChangeAspect="1"/>
          </p:cNvPicPr>
          <p:nvPr/>
        </p:nvPicPr>
        <p:blipFill>
          <a:blip r:embed="rId1"/>
          <a:stretch>
            <a:fillRect/>
          </a:stretch>
        </p:blipFill>
        <p:spPr>
          <a:xfrm>
            <a:off x="1152144" y="2368296"/>
            <a:ext cx="402336" cy="402336"/>
          </a:xfrm>
          <a:prstGeom prst="rect">
            <a:avLst/>
          </a:prstGeom>
        </p:spPr>
      </p:pic>
      <p:sp>
        <p:nvSpPr>
          <p:cNvPr id="13" name="Text 10"/>
          <p:cNvSpPr/>
          <p:nvPr/>
        </p:nvSpPr>
        <p:spPr>
          <a:xfrm>
            <a:off x="475488" y="3072384"/>
            <a:ext cx="1755648" cy="548640"/>
          </a:xfrm>
          <a:prstGeom prst="rect">
            <a:avLst/>
          </a:prstGeom>
          <a:noFill/>
          <a:ln/>
        </p:spPr>
        <p:txBody>
          <a:bodyPr wrap="square" lIns="0" tIns="0" rIns="0" bIns="0" rtlCol="0" anchor="ctr"/>
          <a:lstStyle/>
          <a:p>
            <a:pPr algn="ctr" indent="0" marL="0">
              <a:buNone/>
            </a:pPr>
            <a:r>
              <a:rPr lang="en-US" sz="3800" b="1" dirty="0">
                <a:solidFill>
                  <a:srgbClr val="1B2A3B"/>
                </a:solidFill>
              </a:rPr>
              <a:t>50</a:t>
            </a:r>
            <a:endParaRPr lang="en-US" sz="3800" dirty="0"/>
          </a:p>
        </p:txBody>
      </p:sp>
      <p:sp>
        <p:nvSpPr>
          <p:cNvPr id="14" name="Text 11"/>
          <p:cNvSpPr/>
          <p:nvPr/>
        </p:nvSpPr>
        <p:spPr>
          <a:xfrm>
            <a:off x="475488" y="3621024"/>
            <a:ext cx="1755648" cy="347472"/>
          </a:xfrm>
          <a:prstGeom prst="rect">
            <a:avLst/>
          </a:prstGeom>
          <a:noFill/>
          <a:ln/>
        </p:spPr>
        <p:txBody>
          <a:bodyPr wrap="square" lIns="0" tIns="0" rIns="0" bIns="0" rtlCol="0" anchor="ctr"/>
          <a:lstStyle/>
          <a:p>
            <a:pPr algn="ctr" indent="0" marL="0">
              <a:buNone/>
            </a:pPr>
            <a:r>
              <a:rPr lang="en-US" sz="1050" b="1" dirty="0">
                <a:solidFill>
                  <a:srgbClr val="1B2A3B"/>
                </a:solidFill>
              </a:rPr>
              <a:t>Questions</a:t>
            </a:r>
            <a:endParaRPr lang="en-US" sz="1050" dirty="0"/>
          </a:p>
          <a:p>
            <a:pPr algn="ctr" indent="0" marL="0">
              <a:buNone/>
            </a:pPr>
            <a:r>
              <a:rPr lang="en-US" sz="1050" b="1" dirty="0">
                <a:solidFill>
                  <a:srgbClr val="1B2A3B"/>
                </a:solidFill>
              </a:rPr>
              <a:t>entrées</a:t>
            </a:r>
            <a:endParaRPr lang="en-US" sz="1050" dirty="0"/>
          </a:p>
        </p:txBody>
      </p:sp>
      <p:sp>
        <p:nvSpPr>
          <p:cNvPr id="15" name="Text 12"/>
          <p:cNvSpPr/>
          <p:nvPr/>
        </p:nvSpPr>
        <p:spPr>
          <a:xfrm>
            <a:off x="457200" y="3986784"/>
            <a:ext cx="1792224" cy="621792"/>
          </a:xfrm>
          <a:prstGeom prst="rect">
            <a:avLst/>
          </a:prstGeom>
          <a:noFill/>
          <a:ln/>
        </p:spPr>
        <p:txBody>
          <a:bodyPr wrap="square" lIns="0" tIns="0" rIns="0" bIns="0" rtlCol="0" anchor="ctr"/>
          <a:lstStyle/>
          <a:p>
            <a:pPr algn="ctr" indent="0" marL="0">
              <a:buNone/>
            </a:pPr>
            <a:r>
              <a:rPr lang="en-US" sz="850" dirty="0">
                <a:solidFill>
                  <a:srgbClr val="64748B"/>
                </a:solidFill>
              </a:rPr>
              <a:t>Questions couvrant</a:t>
            </a:r>
            <a:endParaRPr lang="en-US" sz="850" dirty="0"/>
          </a:p>
          <a:p>
            <a:pPr algn="ctr" indent="0" marL="0">
              <a:buNone/>
            </a:pPr>
            <a:r>
              <a:rPr lang="en-US" sz="850" dirty="0">
                <a:solidFill>
                  <a:srgbClr val="64748B"/>
                </a:solidFill>
              </a:rPr>
              <a:t>P0 (critique) / P1 / P2</a:t>
            </a:r>
            <a:endParaRPr lang="en-US" sz="850" dirty="0"/>
          </a:p>
          <a:p>
            <a:pPr algn="ctr" indent="0" marL="0">
              <a:buNone/>
            </a:pPr>
            <a:r>
              <a:rPr lang="en-US" sz="850" dirty="0">
                <a:solidFill>
                  <a:srgbClr val="64748B"/>
                </a:solidFill>
              </a:rPr>
              <a:t>Sujets : DMA, USB, I2C...</a:t>
            </a:r>
            <a:endParaRPr lang="en-US" sz="850" dirty="0"/>
          </a:p>
        </p:txBody>
      </p:sp>
      <p:sp>
        <p:nvSpPr>
          <p:cNvPr id="16" name="Shape 13"/>
          <p:cNvSpPr/>
          <p:nvPr/>
        </p:nvSpPr>
        <p:spPr>
          <a:xfrm>
            <a:off x="2487168" y="2084832"/>
            <a:ext cx="1975104"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4"/>
          <p:cNvSpPr/>
          <p:nvPr/>
        </p:nvSpPr>
        <p:spPr>
          <a:xfrm>
            <a:off x="3072384" y="2176272"/>
            <a:ext cx="804672" cy="804672"/>
          </a:xfrm>
          <a:prstGeom prst="ellipse">
            <a:avLst/>
          </a:prstGeom>
          <a:solidFill>
            <a:srgbClr val="22C55E"/>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18" name="Image 1" descr="preencoded.png">    </p:cNvPr>
          <p:cNvPicPr>
            <a:picLocks noChangeAspect="1"/>
          </p:cNvPicPr>
          <p:nvPr/>
        </p:nvPicPr>
        <p:blipFill>
          <a:blip r:embed="rId2"/>
          <a:stretch>
            <a:fillRect/>
          </a:stretch>
        </p:blipFill>
        <p:spPr>
          <a:xfrm>
            <a:off x="3273552" y="2368296"/>
            <a:ext cx="402336" cy="402336"/>
          </a:xfrm>
          <a:prstGeom prst="rect">
            <a:avLst/>
          </a:prstGeom>
        </p:spPr>
      </p:pic>
      <p:sp>
        <p:nvSpPr>
          <p:cNvPr id="19" name="Text 15"/>
          <p:cNvSpPr/>
          <p:nvPr/>
        </p:nvSpPr>
        <p:spPr>
          <a:xfrm>
            <a:off x="2596896" y="3072384"/>
            <a:ext cx="1755648" cy="548640"/>
          </a:xfrm>
          <a:prstGeom prst="rect">
            <a:avLst/>
          </a:prstGeom>
          <a:noFill/>
          <a:ln/>
        </p:spPr>
        <p:txBody>
          <a:bodyPr wrap="square" lIns="0" tIns="0" rIns="0" bIns="0" rtlCol="0" anchor="ctr"/>
          <a:lstStyle/>
          <a:p>
            <a:pPr algn="ctr" indent="0" marL="0">
              <a:buNone/>
            </a:pPr>
            <a:r>
              <a:rPr lang="en-US" sz="3800" b="1" dirty="0">
                <a:solidFill>
                  <a:srgbClr val="22C55E"/>
                </a:solidFill>
              </a:rPr>
              <a:t>26</a:t>
            </a:r>
            <a:endParaRPr lang="en-US" sz="3800" dirty="0"/>
          </a:p>
        </p:txBody>
      </p:sp>
      <p:sp>
        <p:nvSpPr>
          <p:cNvPr id="20" name="Text 16"/>
          <p:cNvSpPr/>
          <p:nvPr/>
        </p:nvSpPr>
        <p:spPr>
          <a:xfrm>
            <a:off x="2596896" y="3621024"/>
            <a:ext cx="1755648" cy="347472"/>
          </a:xfrm>
          <a:prstGeom prst="rect">
            <a:avLst/>
          </a:prstGeom>
          <a:noFill/>
          <a:ln/>
        </p:spPr>
        <p:txBody>
          <a:bodyPr wrap="square" lIns="0" tIns="0" rIns="0" bIns="0" rtlCol="0" anchor="ctr"/>
          <a:lstStyle/>
          <a:p>
            <a:pPr algn="ctr" indent="0" marL="0">
              <a:buNone/>
            </a:pPr>
            <a:r>
              <a:rPr lang="en-US" sz="1050" b="1" dirty="0">
                <a:solidFill>
                  <a:srgbClr val="1B2A3B"/>
                </a:solidFill>
              </a:rPr>
              <a:t>Appels</a:t>
            </a:r>
            <a:endParaRPr lang="en-US" sz="1050" dirty="0"/>
          </a:p>
          <a:p>
            <a:pPr algn="ctr" indent="0" marL="0">
              <a:buNone/>
            </a:pPr>
            <a:r>
              <a:rPr lang="en-US" sz="1050" b="1" dirty="0">
                <a:solidFill>
                  <a:srgbClr val="1B2A3B"/>
                </a:solidFill>
              </a:rPr>
              <a:t>réussis</a:t>
            </a:r>
            <a:endParaRPr lang="en-US" sz="1050" dirty="0"/>
          </a:p>
        </p:txBody>
      </p:sp>
      <p:sp>
        <p:nvSpPr>
          <p:cNvPr id="21" name="Text 17"/>
          <p:cNvSpPr/>
          <p:nvPr/>
        </p:nvSpPr>
        <p:spPr>
          <a:xfrm>
            <a:off x="2578608" y="3986784"/>
            <a:ext cx="1792224" cy="621792"/>
          </a:xfrm>
          <a:prstGeom prst="rect">
            <a:avLst/>
          </a:prstGeom>
          <a:noFill/>
          <a:ln/>
        </p:spPr>
        <p:txBody>
          <a:bodyPr wrap="square" lIns="0" tIns="0" rIns="0" bIns="0" rtlCol="0" anchor="ctr"/>
          <a:lstStyle/>
          <a:p>
            <a:pPr algn="ctr" indent="0" marL="0">
              <a:buNone/>
            </a:pPr>
            <a:r>
              <a:rPr lang="en-US" sz="850" dirty="0">
                <a:solidFill>
                  <a:srgbClr val="64748B"/>
                </a:solidFill>
              </a:rPr>
              <a:t>L'API a répondu</a:t>
            </a:r>
            <a:endParaRPr lang="en-US" sz="850" dirty="0"/>
          </a:p>
          <a:p>
            <a:pPr algn="ctr" indent="0" marL="0">
              <a:buNone/>
            </a:pPr>
            <a:r>
              <a:rPr lang="en-US" sz="850" dirty="0">
                <a:solidFill>
                  <a:srgbClr val="64748B"/>
                </a:solidFill>
              </a:rPr>
              <a:t>sans erreur technique.</a:t>
            </a:r>
            <a:endParaRPr lang="en-US" sz="850" dirty="0"/>
          </a:p>
          <a:p>
            <a:pPr algn="ctr" indent="0" marL="0">
              <a:buNone/>
            </a:pPr>
            <a:r>
              <a:rPr lang="en-US" sz="850" dirty="0">
                <a:solidFill>
                  <a:srgbClr val="64748B"/>
                </a:solidFill>
              </a:rPr>
              <a:t>Base d'analyse = ces 26</a:t>
            </a:r>
            <a:endParaRPr lang="en-US" sz="850" dirty="0"/>
          </a:p>
        </p:txBody>
      </p:sp>
      <p:sp>
        <p:nvSpPr>
          <p:cNvPr id="22" name="Shape 18"/>
          <p:cNvSpPr/>
          <p:nvPr/>
        </p:nvSpPr>
        <p:spPr>
          <a:xfrm>
            <a:off x="4608576" y="2084832"/>
            <a:ext cx="1975104"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3" name="Shape 19"/>
          <p:cNvSpPr/>
          <p:nvPr/>
        </p:nvSpPr>
        <p:spPr>
          <a:xfrm>
            <a:off x="5193792" y="2176272"/>
            <a:ext cx="804672" cy="804672"/>
          </a:xfrm>
          <a:prstGeom prst="ellipse">
            <a:avLst/>
          </a:prstGeom>
          <a:solidFill>
            <a:srgbClr val="EF4444"/>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24" name="Image 2" descr="preencoded.png">    </p:cNvPr>
          <p:cNvPicPr>
            <a:picLocks noChangeAspect="1"/>
          </p:cNvPicPr>
          <p:nvPr/>
        </p:nvPicPr>
        <p:blipFill>
          <a:blip r:embed="rId3"/>
          <a:stretch>
            <a:fillRect/>
          </a:stretch>
        </p:blipFill>
        <p:spPr>
          <a:xfrm>
            <a:off x="5394960" y="2368296"/>
            <a:ext cx="402336" cy="402336"/>
          </a:xfrm>
          <a:prstGeom prst="rect">
            <a:avLst/>
          </a:prstGeom>
        </p:spPr>
      </p:pic>
      <p:sp>
        <p:nvSpPr>
          <p:cNvPr id="25" name="Text 20"/>
          <p:cNvSpPr/>
          <p:nvPr/>
        </p:nvSpPr>
        <p:spPr>
          <a:xfrm>
            <a:off x="4718304" y="3072384"/>
            <a:ext cx="1755648" cy="548640"/>
          </a:xfrm>
          <a:prstGeom prst="rect">
            <a:avLst/>
          </a:prstGeom>
          <a:noFill/>
          <a:ln/>
        </p:spPr>
        <p:txBody>
          <a:bodyPr wrap="square" lIns="0" tIns="0" rIns="0" bIns="0" rtlCol="0" anchor="ctr"/>
          <a:lstStyle/>
          <a:p>
            <a:pPr algn="ctr" indent="0" marL="0">
              <a:buNone/>
            </a:pPr>
            <a:r>
              <a:rPr lang="en-US" sz="3800" b="1" dirty="0">
                <a:solidFill>
                  <a:srgbClr val="EF4444"/>
                </a:solidFill>
              </a:rPr>
              <a:t>24</a:t>
            </a:r>
            <a:endParaRPr lang="en-US" sz="3800" dirty="0"/>
          </a:p>
        </p:txBody>
      </p:sp>
      <p:sp>
        <p:nvSpPr>
          <p:cNvPr id="26" name="Text 21"/>
          <p:cNvSpPr/>
          <p:nvPr/>
        </p:nvSpPr>
        <p:spPr>
          <a:xfrm>
            <a:off x="4718304" y="3621024"/>
            <a:ext cx="1755648" cy="347472"/>
          </a:xfrm>
          <a:prstGeom prst="rect">
            <a:avLst/>
          </a:prstGeom>
          <a:noFill/>
          <a:ln/>
        </p:spPr>
        <p:txBody>
          <a:bodyPr wrap="square" lIns="0" tIns="0" rIns="0" bIns="0" rtlCol="0" anchor="ctr"/>
          <a:lstStyle/>
          <a:p>
            <a:pPr algn="ctr" indent="0" marL="0">
              <a:buNone/>
            </a:pPr>
            <a:r>
              <a:rPr lang="en-US" sz="1050" b="1" dirty="0">
                <a:solidFill>
                  <a:srgbClr val="1B2A3B"/>
                </a:solidFill>
              </a:rPr>
              <a:t>Crashes</a:t>
            </a:r>
            <a:endParaRPr lang="en-US" sz="1050" dirty="0"/>
          </a:p>
          <a:p>
            <a:pPr algn="ctr" indent="0" marL="0">
              <a:buNone/>
            </a:pPr>
            <a:r>
              <a:rPr lang="en-US" sz="1050" b="1" dirty="0">
                <a:solidFill>
                  <a:srgbClr val="1B2A3B"/>
                </a:solidFill>
              </a:rPr>
              <a:t>runner</a:t>
            </a:r>
            <a:endParaRPr lang="en-US" sz="1050" dirty="0"/>
          </a:p>
        </p:txBody>
      </p:sp>
      <p:sp>
        <p:nvSpPr>
          <p:cNvPr id="27" name="Text 22"/>
          <p:cNvSpPr/>
          <p:nvPr/>
        </p:nvSpPr>
        <p:spPr>
          <a:xfrm>
            <a:off x="4700016" y="3986784"/>
            <a:ext cx="1792224" cy="621792"/>
          </a:xfrm>
          <a:prstGeom prst="rect">
            <a:avLst/>
          </a:prstGeom>
          <a:noFill/>
          <a:ln/>
        </p:spPr>
        <p:txBody>
          <a:bodyPr wrap="square" lIns="0" tIns="0" rIns="0" bIns="0" rtlCol="0" anchor="ctr"/>
          <a:lstStyle/>
          <a:p>
            <a:pPr algn="ctr" indent="0" marL="0">
              <a:buNone/>
            </a:pPr>
            <a:r>
              <a:rPr lang="en-US" sz="850" dirty="0">
                <a:solidFill>
                  <a:srgbClr val="64748B"/>
                </a:solidFill>
              </a:rPr>
              <a:t>Timeout / erreur API</a:t>
            </a:r>
            <a:endParaRPr lang="en-US" sz="850" dirty="0"/>
          </a:p>
          <a:p>
            <a:pPr algn="ctr" indent="0" marL="0">
              <a:buNone/>
            </a:pPr>
            <a:r>
              <a:rPr lang="en-US" sz="850" dirty="0">
                <a:solidFill>
                  <a:srgbClr val="64748B"/>
                </a:solidFill>
              </a:rPr>
              <a:t>Pas de mauvaise réponse</a:t>
            </a:r>
            <a:endParaRPr lang="en-US" sz="850" dirty="0"/>
          </a:p>
          <a:p>
            <a:pPr algn="ctr" indent="0" marL="0">
              <a:buNone/>
            </a:pPr>
            <a:r>
              <a:rPr lang="en-US" sz="850" dirty="0">
                <a:solidFill>
                  <a:srgbClr val="64748B"/>
                </a:solidFill>
              </a:rPr>
              <a:t>→ bug infra à corriger</a:t>
            </a:r>
            <a:endParaRPr lang="en-US" sz="850" dirty="0"/>
          </a:p>
        </p:txBody>
      </p:sp>
      <p:sp>
        <p:nvSpPr>
          <p:cNvPr id="28" name="Shape 23"/>
          <p:cNvSpPr/>
          <p:nvPr/>
        </p:nvSpPr>
        <p:spPr>
          <a:xfrm>
            <a:off x="6729984" y="2084832"/>
            <a:ext cx="1975104" cy="267004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9" name="Shape 24"/>
          <p:cNvSpPr/>
          <p:nvPr/>
        </p:nvSpPr>
        <p:spPr>
          <a:xfrm>
            <a:off x="7315200" y="2176272"/>
            <a:ext cx="804672" cy="804672"/>
          </a:xfrm>
          <a:prstGeom prst="ellipse">
            <a:avLst/>
          </a:prstGeom>
          <a:solidFill>
            <a:srgbClr val="0D9488"/>
          </a:solidFill>
          <a:ln w="12700">
            <a:solidFill>
              <a:srgbClr val="000000"/>
            </a:solidFill>
            <a:prstDash val="solid"/>
          </a:ln>
          <a:effectLst>
            <a:outerShdw sx="100000" sy="100000" kx="0" ky="0" algn="bl" rotWithShape="0" blurRad="101600" dist="38100" dir="8100000">
              <a:srgbClr val="000000">
                <a:alpha val="10000"/>
              </a:srgbClr>
            </a:outerShdw>
          </a:effectLst>
        </p:spPr>
      </p:sp>
      <p:pic>
        <p:nvPicPr>
          <p:cNvPr id="30" name="Image 3" descr="preencoded.png">    </p:cNvPr>
          <p:cNvPicPr>
            <a:picLocks noChangeAspect="1"/>
          </p:cNvPicPr>
          <p:nvPr/>
        </p:nvPicPr>
        <p:blipFill>
          <a:blip r:embed="rId4"/>
          <a:stretch>
            <a:fillRect/>
          </a:stretch>
        </p:blipFill>
        <p:spPr>
          <a:xfrm>
            <a:off x="7516368" y="2368296"/>
            <a:ext cx="402336" cy="402336"/>
          </a:xfrm>
          <a:prstGeom prst="rect">
            <a:avLst/>
          </a:prstGeom>
        </p:spPr>
      </p:pic>
      <p:sp>
        <p:nvSpPr>
          <p:cNvPr id="31" name="Text 25"/>
          <p:cNvSpPr/>
          <p:nvPr/>
        </p:nvSpPr>
        <p:spPr>
          <a:xfrm>
            <a:off x="6839712" y="3072384"/>
            <a:ext cx="1755648" cy="548640"/>
          </a:xfrm>
          <a:prstGeom prst="rect">
            <a:avLst/>
          </a:prstGeom>
          <a:noFill/>
          <a:ln/>
        </p:spPr>
        <p:txBody>
          <a:bodyPr wrap="square" lIns="0" tIns="0" rIns="0" bIns="0" rtlCol="0" anchor="ctr"/>
          <a:lstStyle/>
          <a:p>
            <a:pPr algn="ctr" indent="0" marL="0">
              <a:buNone/>
            </a:pPr>
            <a:r>
              <a:rPr lang="en-US" sz="3800" b="1" dirty="0">
                <a:solidFill>
                  <a:srgbClr val="0D9488"/>
                </a:solidFill>
              </a:rPr>
              <a:t>14</a:t>
            </a:r>
            <a:endParaRPr lang="en-US" sz="3800" dirty="0"/>
          </a:p>
        </p:txBody>
      </p:sp>
      <p:sp>
        <p:nvSpPr>
          <p:cNvPr id="32" name="Text 26"/>
          <p:cNvSpPr/>
          <p:nvPr/>
        </p:nvSpPr>
        <p:spPr>
          <a:xfrm>
            <a:off x="6839712" y="3621024"/>
            <a:ext cx="1755648" cy="347472"/>
          </a:xfrm>
          <a:prstGeom prst="rect">
            <a:avLst/>
          </a:prstGeom>
          <a:noFill/>
          <a:ln/>
        </p:spPr>
        <p:txBody>
          <a:bodyPr wrap="square" lIns="0" tIns="0" rIns="0" bIns="0" rtlCol="0" anchor="ctr"/>
          <a:lstStyle/>
          <a:p>
            <a:pPr algn="ctr" indent="0" marL="0">
              <a:buNone/>
            </a:pPr>
            <a:r>
              <a:rPr lang="en-US" sz="1050" b="1" dirty="0">
                <a:solidFill>
                  <a:srgbClr val="1B2A3B"/>
                </a:solidFill>
              </a:rPr>
              <a:t>Réponses</a:t>
            </a:r>
            <a:endParaRPr lang="en-US" sz="1050" dirty="0"/>
          </a:p>
          <a:p>
            <a:pPr algn="ctr" indent="0" marL="0">
              <a:buNone/>
            </a:pPr>
            <a:r>
              <a:rPr lang="en-US" sz="1050" b="1" dirty="0">
                <a:solidFill>
                  <a:srgbClr val="1B2A3B"/>
                </a:solidFill>
              </a:rPr>
              <a:t>utiles</a:t>
            </a:r>
            <a:endParaRPr lang="en-US" sz="1050" dirty="0"/>
          </a:p>
        </p:txBody>
      </p:sp>
      <p:sp>
        <p:nvSpPr>
          <p:cNvPr id="33" name="Text 27"/>
          <p:cNvSpPr/>
          <p:nvPr/>
        </p:nvSpPr>
        <p:spPr>
          <a:xfrm>
            <a:off x="6821424" y="3986784"/>
            <a:ext cx="1792224" cy="621792"/>
          </a:xfrm>
          <a:prstGeom prst="rect">
            <a:avLst/>
          </a:prstGeom>
          <a:noFill/>
          <a:ln/>
        </p:spPr>
        <p:txBody>
          <a:bodyPr wrap="square" lIns="0" tIns="0" rIns="0" bIns="0" rtlCol="0" anchor="ctr"/>
          <a:lstStyle/>
          <a:p>
            <a:pPr algn="ctr" indent="0" marL="0">
              <a:buNone/>
            </a:pPr>
            <a:r>
              <a:rPr lang="en-US" sz="850" dirty="0">
                <a:solidFill>
                  <a:srgbClr val="64748B"/>
                </a:solidFill>
              </a:rPr>
              <a:t>Diagnostic précis</a:t>
            </a:r>
            <a:endParaRPr lang="en-US" sz="850" dirty="0"/>
          </a:p>
          <a:p>
            <a:pPr algn="ctr" indent="0" marL="0">
              <a:buNone/>
            </a:pPr>
            <a:r>
              <a:rPr lang="en-US" sz="850" dirty="0">
                <a:solidFill>
                  <a:srgbClr val="64748B"/>
                </a:solidFill>
              </a:rPr>
              <a:t>Contexte technique</a:t>
            </a:r>
            <a:endParaRPr lang="en-US" sz="850" dirty="0"/>
          </a:p>
          <a:p>
            <a:pPr algn="ctr" indent="0" marL="0">
              <a:buNone/>
            </a:pPr>
            <a:r>
              <a:rPr lang="en-US" sz="850" dirty="0">
                <a:solidFill>
                  <a:srgbClr val="64748B"/>
                </a:solidFill>
              </a:rPr>
              <a:t>Orientation de fix</a:t>
            </a:r>
            <a:endParaRPr lang="en-US" sz="850" dirty="0"/>
          </a:p>
        </p:txBody>
      </p:sp>
      <p:sp>
        <p:nvSpPr>
          <p:cNvPr id="34" name="Shape 28"/>
          <p:cNvSpPr/>
          <p:nvPr/>
        </p:nvSpPr>
        <p:spPr>
          <a:xfrm>
            <a:off x="365760" y="4681728"/>
            <a:ext cx="8412480" cy="347472"/>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pic>
        <p:nvPicPr>
          <p:cNvPr id="35" name="Image 4" descr="preencoded.png">    </p:cNvPr>
          <p:cNvPicPr>
            <a:picLocks noChangeAspect="1"/>
          </p:cNvPicPr>
          <p:nvPr/>
        </p:nvPicPr>
        <p:blipFill>
          <a:blip r:embed="rId5"/>
          <a:stretch>
            <a:fillRect/>
          </a:stretch>
        </p:blipFill>
        <p:spPr>
          <a:xfrm>
            <a:off x="530352" y="4736592"/>
            <a:ext cx="237744" cy="237744"/>
          </a:xfrm>
          <a:prstGeom prst="rect">
            <a:avLst/>
          </a:prstGeom>
        </p:spPr>
      </p:pic>
      <p:sp>
        <p:nvSpPr>
          <p:cNvPr id="36" name="Text 29"/>
          <p:cNvSpPr/>
          <p:nvPr/>
        </p:nvSpPr>
        <p:spPr>
          <a:xfrm>
            <a:off x="859536" y="4727448"/>
            <a:ext cx="7790688" cy="274320"/>
          </a:xfrm>
          <a:prstGeom prst="rect">
            <a:avLst/>
          </a:prstGeom>
          <a:noFill/>
          <a:ln/>
        </p:spPr>
        <p:txBody>
          <a:bodyPr wrap="square" lIns="0" tIns="0" rIns="0" bIns="0" rtlCol="0" anchor="ctr"/>
          <a:lstStyle/>
          <a:p>
            <a:pPr indent="0" marL="0">
              <a:buNone/>
            </a:pPr>
            <a:r>
              <a:rPr lang="en-US" sz="950" dirty="0">
                <a:solidFill>
                  <a:srgbClr val="1B2A3B"/>
                </a:solidFill>
              </a:rPr>
              <a:t>Lecture : Le cœur fonctionne (14 réponses utiles). Le blocage n°1 = crashes techniques (24). Blocage n°2 = 12 réponses vagues sur sujets peu couverts.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06 — COMPARAISON A vs B</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Tester deux versions de la KB — Laquelle répond mieux ?</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Même outil, même questions — mais pas les mêmes données dans la KB</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07008"/>
            <a:ext cx="8412480" cy="658368"/>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07008"/>
            <a:ext cx="64008" cy="658368"/>
          </a:xfrm>
          <a:prstGeom prst="rect">
            <a:avLst/>
          </a:prstGeom>
          <a:solidFill>
            <a:srgbClr val="64748B"/>
          </a:solidFill>
          <a:ln w="12700">
            <a:solidFill>
              <a:srgbClr val="000000"/>
            </a:solidFill>
            <a:prstDash val="solid"/>
          </a:ln>
        </p:spPr>
      </p:sp>
      <p:sp>
        <p:nvSpPr>
          <p:cNvPr id="9" name="Text 7"/>
          <p:cNvSpPr/>
          <p:nvPr/>
        </p:nvSpPr>
        <p:spPr>
          <a:xfrm>
            <a:off x="566928" y="1280160"/>
            <a:ext cx="8092440" cy="512064"/>
          </a:xfrm>
          <a:prstGeom prst="rect">
            <a:avLst/>
          </a:prstGeom>
          <a:noFill/>
          <a:ln/>
        </p:spPr>
        <p:txBody>
          <a:bodyPr wrap="square" lIns="0" tIns="0" rIns="0" bIns="0" rtlCol="0" anchor="ctr"/>
          <a:lstStyle/>
          <a:p>
            <a:pPr indent="0" marL="0">
              <a:buNone/>
            </a:pPr>
            <a:r>
              <a:rPr lang="en-US" sz="1100" dirty="0">
                <a:solidFill>
                  <a:srgbClr val="1B2A3B"/>
                </a:solidFill>
              </a:rPr>
              <a:t>Principe du test A/B : On charge deux versions différentes de la KB et on pose les mêmes 50 questions. Le résultat mesure l'impact du contenu injecté sur la qualité des réponses — indépendamment du LLM.</a:t>
            </a:r>
            <a:endParaRPr lang="en-US" sz="1100" dirty="0"/>
          </a:p>
        </p:txBody>
      </p:sp>
      <p:sp>
        <p:nvSpPr>
          <p:cNvPr id="10" name="Shape 8"/>
          <p:cNvSpPr/>
          <p:nvPr/>
        </p:nvSpPr>
        <p:spPr>
          <a:xfrm>
            <a:off x="365760" y="2011680"/>
            <a:ext cx="4069080" cy="11155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65760" y="2011680"/>
            <a:ext cx="4069080" cy="402336"/>
          </a:xfrm>
          <a:prstGeom prst="rect">
            <a:avLst/>
          </a:prstGeom>
          <a:solidFill>
            <a:srgbClr val="1B2A3B"/>
          </a:solidFill>
          <a:ln w="12700">
            <a:solidFill>
              <a:srgbClr val="000000"/>
            </a:solidFill>
            <a:prstDash val="solid"/>
          </a:ln>
        </p:spPr>
      </p:sp>
      <p:sp>
        <p:nvSpPr>
          <p:cNvPr id="12" name="Text 10"/>
          <p:cNvSpPr/>
          <p:nvPr/>
        </p:nvSpPr>
        <p:spPr>
          <a:xfrm>
            <a:off x="502920" y="2048256"/>
            <a:ext cx="3803904" cy="329184"/>
          </a:xfrm>
          <a:prstGeom prst="rect">
            <a:avLst/>
          </a:prstGeom>
          <a:noFill/>
          <a:ln/>
        </p:spPr>
        <p:txBody>
          <a:bodyPr wrap="square" lIns="0" tIns="0" rIns="0" bIns="0" rtlCol="0" anchor="ctr"/>
          <a:lstStyle/>
          <a:p>
            <a:pPr indent="0" marL="0">
              <a:buNone/>
            </a:pPr>
            <a:r>
              <a:rPr lang="en-US" sz="1150" b="1" dirty="0">
                <a:solidFill>
                  <a:srgbClr val="FFFFFF"/>
                </a:solidFill>
              </a:rPr>
              <a:t>Configuration A — Issues uniquement</a:t>
            </a:r>
            <a:endParaRPr lang="en-US" sz="1150" dirty="0"/>
          </a:p>
        </p:txBody>
      </p:sp>
      <p:sp>
        <p:nvSpPr>
          <p:cNvPr id="13" name="Text 11"/>
          <p:cNvSpPr/>
          <p:nvPr/>
        </p:nvSpPr>
        <p:spPr>
          <a:xfrm>
            <a:off x="502920" y="2450592"/>
            <a:ext cx="3803904" cy="566928"/>
          </a:xfrm>
          <a:prstGeom prst="rect">
            <a:avLst/>
          </a:prstGeom>
          <a:noFill/>
          <a:ln/>
        </p:spPr>
        <p:txBody>
          <a:bodyPr wrap="square" lIns="0" tIns="0" rIns="0" bIns="0" rtlCol="0" anchor="ctr"/>
          <a:lstStyle/>
          <a:p>
            <a:pPr indent="0" marL="0">
              <a:buNone/>
            </a:pPr>
            <a:r>
              <a:rPr lang="en-US" sz="1000" dirty="0">
                <a:solidFill>
                  <a:srgbClr val="1B2A3B"/>
                </a:solidFill>
              </a:rPr>
              <a:t>KB chargée avec : issues GitHub STM32CubeH7 uniquement</a:t>
            </a:r>
            <a:endParaRPr lang="en-US" sz="1000" dirty="0"/>
          </a:p>
          <a:p>
            <a:pPr indent="0" marL="0">
              <a:buNone/>
            </a:pPr>
            <a:r>
              <a:rPr lang="en-US" sz="1000" dirty="0">
                <a:solidFill>
                  <a:srgbClr val="1B2A3B"/>
                </a:solidFill>
              </a:rPr>
              <a:t>Pas de fichiers techniques, pas de documentation</a:t>
            </a:r>
            <a:endParaRPr lang="en-US" sz="1000" dirty="0"/>
          </a:p>
        </p:txBody>
      </p:sp>
      <p:sp>
        <p:nvSpPr>
          <p:cNvPr id="14" name="Shape 12"/>
          <p:cNvSpPr/>
          <p:nvPr/>
        </p:nvSpPr>
        <p:spPr>
          <a:xfrm>
            <a:off x="4709160" y="2011680"/>
            <a:ext cx="4069080" cy="11155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4709160" y="2011680"/>
            <a:ext cx="4069080" cy="402336"/>
          </a:xfrm>
          <a:prstGeom prst="rect">
            <a:avLst/>
          </a:prstGeom>
          <a:solidFill>
            <a:srgbClr val="0D9488"/>
          </a:solidFill>
          <a:ln w="12700">
            <a:solidFill>
              <a:srgbClr val="000000"/>
            </a:solidFill>
            <a:prstDash val="solid"/>
          </a:ln>
        </p:spPr>
      </p:sp>
      <p:sp>
        <p:nvSpPr>
          <p:cNvPr id="16" name="Text 14"/>
          <p:cNvSpPr/>
          <p:nvPr/>
        </p:nvSpPr>
        <p:spPr>
          <a:xfrm>
            <a:off x="4846320" y="2048256"/>
            <a:ext cx="3803904" cy="329184"/>
          </a:xfrm>
          <a:prstGeom prst="rect">
            <a:avLst/>
          </a:prstGeom>
          <a:noFill/>
          <a:ln/>
        </p:spPr>
        <p:txBody>
          <a:bodyPr wrap="square" lIns="0" tIns="0" rIns="0" bIns="0" rtlCol="0" anchor="ctr"/>
          <a:lstStyle/>
          <a:p>
            <a:pPr indent="0" marL="0">
              <a:buNone/>
            </a:pPr>
            <a:r>
              <a:rPr lang="en-US" sz="1150" b="1" dirty="0">
                <a:solidFill>
                  <a:srgbClr val="FFFFFF"/>
                </a:solidFill>
              </a:rPr>
              <a:t>Configuration B — Issues + Fichiers techniques</a:t>
            </a:r>
            <a:endParaRPr lang="en-US" sz="1150" dirty="0"/>
          </a:p>
        </p:txBody>
      </p:sp>
      <p:sp>
        <p:nvSpPr>
          <p:cNvPr id="17" name="Text 15"/>
          <p:cNvSpPr/>
          <p:nvPr/>
        </p:nvSpPr>
        <p:spPr>
          <a:xfrm>
            <a:off x="4846320" y="2450592"/>
            <a:ext cx="3803904" cy="566928"/>
          </a:xfrm>
          <a:prstGeom prst="rect">
            <a:avLst/>
          </a:prstGeom>
          <a:noFill/>
          <a:ln/>
        </p:spPr>
        <p:txBody>
          <a:bodyPr wrap="square" lIns="0" tIns="0" rIns="0" bIns="0" rtlCol="0" anchor="ctr"/>
          <a:lstStyle/>
          <a:p>
            <a:pPr indent="0" marL="0">
              <a:buNone/>
            </a:pPr>
            <a:r>
              <a:rPr lang="en-US" sz="1000" dirty="0">
                <a:solidFill>
                  <a:srgbClr val="1B2A3B"/>
                </a:solidFill>
              </a:rPr>
              <a:t>KB chargée avec : issues + README + Release Notes + Docs + PDFs</a:t>
            </a:r>
            <a:endParaRPr lang="en-US" sz="1000" dirty="0"/>
          </a:p>
          <a:p>
            <a:pPr indent="0" marL="0">
              <a:buNone/>
            </a:pPr>
            <a:r>
              <a:rPr lang="en-US" sz="1000" dirty="0">
                <a:solidFill>
                  <a:srgbClr val="1B2A3B"/>
                </a:solidFill>
              </a:rPr>
              <a:t>Couverture documentaire complète</a:t>
            </a:r>
            <a:endParaRPr lang="en-US" sz="1000" dirty="0"/>
          </a:p>
        </p:txBody>
      </p:sp>
      <p:sp>
        <p:nvSpPr>
          <p:cNvPr id="18" name="Shape 16"/>
          <p:cNvSpPr/>
          <p:nvPr/>
        </p:nvSpPr>
        <p:spPr>
          <a:xfrm>
            <a:off x="365760" y="3255264"/>
            <a:ext cx="8412480" cy="329184"/>
          </a:xfrm>
          <a:prstGeom prst="rect">
            <a:avLst/>
          </a:prstGeom>
          <a:solidFill>
            <a:srgbClr val="1B2A3B"/>
          </a:solidFill>
          <a:ln w="12700">
            <a:solidFill>
              <a:srgbClr val="000000"/>
            </a:solidFill>
            <a:prstDash val="solid"/>
          </a:ln>
        </p:spPr>
      </p:sp>
      <p:sp>
        <p:nvSpPr>
          <p:cNvPr id="19" name="Text 17"/>
          <p:cNvSpPr/>
          <p:nvPr/>
        </p:nvSpPr>
        <p:spPr>
          <a:xfrm>
            <a:off x="502920" y="3291840"/>
            <a:ext cx="3090672" cy="256032"/>
          </a:xfrm>
          <a:prstGeom prst="rect">
            <a:avLst/>
          </a:prstGeom>
          <a:noFill/>
          <a:ln/>
        </p:spPr>
        <p:txBody>
          <a:bodyPr wrap="square" lIns="0" tIns="0" rIns="0" bIns="0" rtlCol="0" anchor="ctr"/>
          <a:lstStyle/>
          <a:p>
            <a:pPr indent="0" marL="0">
              <a:buNone/>
            </a:pPr>
            <a:r>
              <a:rPr lang="en-US" sz="1000" b="1" dirty="0">
                <a:solidFill>
                  <a:srgbClr val="FFFFFF"/>
                </a:solidFill>
              </a:rPr>
              <a:t>Type de question</a:t>
            </a:r>
            <a:endParaRPr lang="en-US" sz="1000" dirty="0"/>
          </a:p>
        </p:txBody>
      </p:sp>
      <p:sp>
        <p:nvSpPr>
          <p:cNvPr id="20" name="Text 18"/>
          <p:cNvSpPr/>
          <p:nvPr/>
        </p:nvSpPr>
        <p:spPr>
          <a:xfrm>
            <a:off x="3639312" y="3291840"/>
            <a:ext cx="1261872" cy="256032"/>
          </a:xfrm>
          <a:prstGeom prst="rect">
            <a:avLst/>
          </a:prstGeom>
          <a:noFill/>
          <a:ln/>
        </p:spPr>
        <p:txBody>
          <a:bodyPr wrap="square" lIns="0" tIns="0" rIns="0" bIns="0" rtlCol="0" anchor="ctr"/>
          <a:lstStyle/>
          <a:p>
            <a:pPr algn="ctr" indent="0" marL="0">
              <a:buNone/>
            </a:pPr>
            <a:r>
              <a:rPr lang="en-US" sz="1000" b="1" dirty="0">
                <a:solidFill>
                  <a:srgbClr val="FFFFFF"/>
                </a:solidFill>
              </a:rPr>
              <a:t>Config A</a:t>
            </a:r>
            <a:endParaRPr lang="en-US" sz="1000" dirty="0"/>
          </a:p>
        </p:txBody>
      </p:sp>
      <p:sp>
        <p:nvSpPr>
          <p:cNvPr id="21" name="Text 19"/>
          <p:cNvSpPr/>
          <p:nvPr/>
        </p:nvSpPr>
        <p:spPr>
          <a:xfrm>
            <a:off x="4956048" y="3291840"/>
            <a:ext cx="1261872" cy="256032"/>
          </a:xfrm>
          <a:prstGeom prst="rect">
            <a:avLst/>
          </a:prstGeom>
          <a:noFill/>
          <a:ln/>
        </p:spPr>
        <p:txBody>
          <a:bodyPr wrap="square" lIns="0" tIns="0" rIns="0" bIns="0" rtlCol="0" anchor="ctr"/>
          <a:lstStyle/>
          <a:p>
            <a:pPr algn="ctr" indent="0" marL="0">
              <a:buNone/>
            </a:pPr>
            <a:r>
              <a:rPr lang="en-US" sz="1000" b="1" dirty="0">
                <a:solidFill>
                  <a:srgbClr val="FFFFFF"/>
                </a:solidFill>
              </a:rPr>
              <a:t>Config B</a:t>
            </a:r>
            <a:endParaRPr lang="en-US" sz="1000" dirty="0"/>
          </a:p>
        </p:txBody>
      </p:sp>
      <p:sp>
        <p:nvSpPr>
          <p:cNvPr id="22" name="Text 20"/>
          <p:cNvSpPr/>
          <p:nvPr/>
        </p:nvSpPr>
        <p:spPr>
          <a:xfrm>
            <a:off x="6291072" y="3291840"/>
            <a:ext cx="2377440" cy="256032"/>
          </a:xfrm>
          <a:prstGeom prst="rect">
            <a:avLst/>
          </a:prstGeom>
          <a:noFill/>
          <a:ln/>
        </p:spPr>
        <p:txBody>
          <a:bodyPr wrap="square" lIns="0" tIns="0" rIns="0" bIns="0" rtlCol="0" anchor="ctr"/>
          <a:lstStyle/>
          <a:p>
            <a:pPr indent="0" marL="0">
              <a:buNone/>
            </a:pPr>
            <a:r>
              <a:rPr lang="en-US" sz="1000" b="1" dirty="0">
                <a:solidFill>
                  <a:srgbClr val="FFFFFF"/>
                </a:solidFill>
              </a:rPr>
              <a:t>Explication</a:t>
            </a:r>
            <a:endParaRPr lang="en-US" sz="1000" dirty="0"/>
          </a:p>
        </p:txBody>
      </p:sp>
      <p:sp>
        <p:nvSpPr>
          <p:cNvPr id="23" name="Shape 21"/>
          <p:cNvSpPr/>
          <p:nvPr/>
        </p:nvSpPr>
        <p:spPr>
          <a:xfrm>
            <a:off x="365760" y="3547872"/>
            <a:ext cx="8412480" cy="475488"/>
          </a:xfrm>
          <a:prstGeom prst="rect">
            <a:avLst/>
          </a:prstGeom>
          <a:solidFill>
            <a:srgbClr val="FFFFFF"/>
          </a:solidFill>
          <a:ln w="6350">
            <a:solidFill>
              <a:srgbClr val="CBD5E1"/>
            </a:solidFill>
            <a:prstDash val="solid"/>
          </a:ln>
        </p:spPr>
      </p:sp>
      <p:sp>
        <p:nvSpPr>
          <p:cNvPr id="24" name="Text 22"/>
          <p:cNvSpPr/>
          <p:nvPr/>
        </p:nvSpPr>
        <p:spPr>
          <a:xfrm>
            <a:off x="502920" y="3584448"/>
            <a:ext cx="3090672" cy="402336"/>
          </a:xfrm>
          <a:prstGeom prst="rect">
            <a:avLst/>
          </a:prstGeom>
          <a:noFill/>
          <a:ln/>
        </p:spPr>
        <p:txBody>
          <a:bodyPr wrap="square" lIns="0" tIns="0" rIns="0" bIns="0" rtlCol="0" anchor="ctr"/>
          <a:lstStyle/>
          <a:p>
            <a:pPr indent="0" marL="0">
              <a:buNone/>
            </a:pPr>
            <a:r>
              <a:rPr lang="en-US" sz="950" dirty="0">
                <a:solidFill>
                  <a:srgbClr val="1B2A3B"/>
                </a:solidFill>
              </a:rPr>
              <a:t>Questions sur des bugs signalés</a:t>
            </a:r>
            <a:endParaRPr lang="en-US" sz="950" dirty="0"/>
          </a:p>
          <a:p>
            <a:pPr indent="0" marL="0">
              <a:buNone/>
            </a:pPr>
            <a:r>
              <a:rPr lang="en-US" sz="950" dirty="0">
                <a:solidFill>
                  <a:srgbClr val="1B2A3B"/>
                </a:solidFill>
              </a:rPr>
              <a:t>(issues GitHub)</a:t>
            </a:r>
            <a:endParaRPr lang="en-US" sz="950" dirty="0"/>
          </a:p>
        </p:txBody>
      </p:sp>
      <p:sp>
        <p:nvSpPr>
          <p:cNvPr id="25" name="Text 23"/>
          <p:cNvSpPr/>
          <p:nvPr/>
        </p:nvSpPr>
        <p:spPr>
          <a:xfrm>
            <a:off x="3639312" y="3639312"/>
            <a:ext cx="1261872" cy="292608"/>
          </a:xfrm>
          <a:prstGeom prst="rect">
            <a:avLst/>
          </a:prstGeom>
          <a:noFill/>
          <a:ln/>
        </p:spPr>
        <p:txBody>
          <a:bodyPr wrap="square" lIns="0" tIns="0" rIns="0" bIns="0" rtlCol="0" anchor="ctr"/>
          <a:lstStyle/>
          <a:p>
            <a:pPr algn="ctr" indent="0" marL="0">
              <a:buNone/>
            </a:pPr>
            <a:r>
              <a:rPr lang="en-US" sz="1100" b="1" dirty="0">
                <a:solidFill>
                  <a:srgbClr val="22C55E"/>
                </a:solidFill>
              </a:rPr>
              <a:t>✅ Très bon</a:t>
            </a:r>
            <a:endParaRPr lang="en-US" sz="1100" dirty="0"/>
          </a:p>
        </p:txBody>
      </p:sp>
      <p:sp>
        <p:nvSpPr>
          <p:cNvPr id="26" name="Text 24"/>
          <p:cNvSpPr/>
          <p:nvPr/>
        </p:nvSpPr>
        <p:spPr>
          <a:xfrm>
            <a:off x="4956048" y="3639312"/>
            <a:ext cx="1261872" cy="292608"/>
          </a:xfrm>
          <a:prstGeom prst="rect">
            <a:avLst/>
          </a:prstGeom>
          <a:noFill/>
          <a:ln/>
        </p:spPr>
        <p:txBody>
          <a:bodyPr wrap="square" lIns="0" tIns="0" rIns="0" bIns="0" rtlCol="0" anchor="ctr"/>
          <a:lstStyle/>
          <a:p>
            <a:pPr algn="ctr" indent="0" marL="0">
              <a:buNone/>
            </a:pPr>
            <a:r>
              <a:rPr lang="en-US" sz="1100" b="1" dirty="0">
                <a:solidFill>
                  <a:srgbClr val="22C55E"/>
                </a:solidFill>
              </a:rPr>
              <a:t>✅ Très bon</a:t>
            </a:r>
            <a:endParaRPr lang="en-US" sz="1100" dirty="0"/>
          </a:p>
        </p:txBody>
      </p:sp>
      <p:sp>
        <p:nvSpPr>
          <p:cNvPr id="27" name="Text 25"/>
          <p:cNvSpPr/>
          <p:nvPr/>
        </p:nvSpPr>
        <p:spPr>
          <a:xfrm>
            <a:off x="6291072" y="3584448"/>
            <a:ext cx="2377440" cy="402336"/>
          </a:xfrm>
          <a:prstGeom prst="rect">
            <a:avLst/>
          </a:prstGeom>
          <a:noFill/>
          <a:ln/>
        </p:spPr>
        <p:txBody>
          <a:bodyPr wrap="square" lIns="0" tIns="0" rIns="0" bIns="0" rtlCol="0" anchor="ctr"/>
          <a:lstStyle/>
          <a:p>
            <a:pPr indent="0" marL="0">
              <a:buNone/>
            </a:pPr>
            <a:r>
              <a:rPr lang="en-US" sz="850" dirty="0">
                <a:solidFill>
                  <a:srgbClr val="64748B"/>
                </a:solidFill>
              </a:rPr>
              <a:t>Les deux configs ont les issues → résultat identique</a:t>
            </a:r>
            <a:endParaRPr lang="en-US" sz="850" dirty="0"/>
          </a:p>
        </p:txBody>
      </p:sp>
      <p:sp>
        <p:nvSpPr>
          <p:cNvPr id="28" name="Shape 26"/>
          <p:cNvSpPr/>
          <p:nvPr/>
        </p:nvSpPr>
        <p:spPr>
          <a:xfrm>
            <a:off x="365760" y="4005072"/>
            <a:ext cx="8412480" cy="475488"/>
          </a:xfrm>
          <a:prstGeom prst="rect">
            <a:avLst/>
          </a:prstGeom>
          <a:solidFill>
            <a:srgbClr val="F8FAFC"/>
          </a:solidFill>
          <a:ln w="6350">
            <a:solidFill>
              <a:srgbClr val="CBD5E1"/>
            </a:solidFill>
            <a:prstDash val="solid"/>
          </a:ln>
        </p:spPr>
      </p:sp>
      <p:sp>
        <p:nvSpPr>
          <p:cNvPr id="29" name="Text 27"/>
          <p:cNvSpPr/>
          <p:nvPr/>
        </p:nvSpPr>
        <p:spPr>
          <a:xfrm>
            <a:off x="502920" y="4041648"/>
            <a:ext cx="3090672" cy="402336"/>
          </a:xfrm>
          <a:prstGeom prst="rect">
            <a:avLst/>
          </a:prstGeom>
          <a:noFill/>
          <a:ln/>
        </p:spPr>
        <p:txBody>
          <a:bodyPr wrap="square" lIns="0" tIns="0" rIns="0" bIns="0" rtlCol="0" anchor="ctr"/>
          <a:lstStyle/>
          <a:p>
            <a:pPr indent="0" marL="0">
              <a:buNone/>
            </a:pPr>
            <a:r>
              <a:rPr lang="en-US" sz="950" dirty="0">
                <a:solidFill>
                  <a:srgbClr val="1B2A3B"/>
                </a:solidFill>
              </a:rPr>
              <a:t>Questions sur la documentation</a:t>
            </a:r>
            <a:endParaRPr lang="en-US" sz="950" dirty="0"/>
          </a:p>
          <a:p>
            <a:pPr indent="0" marL="0">
              <a:buNone/>
            </a:pPr>
            <a:r>
              <a:rPr lang="en-US" sz="950" dirty="0">
                <a:solidFill>
                  <a:srgbClr val="1B2A3B"/>
                </a:solidFill>
              </a:rPr>
              <a:t>(README, API, config)</a:t>
            </a:r>
            <a:endParaRPr lang="en-US" sz="950" dirty="0"/>
          </a:p>
        </p:txBody>
      </p:sp>
      <p:sp>
        <p:nvSpPr>
          <p:cNvPr id="30" name="Text 28"/>
          <p:cNvSpPr/>
          <p:nvPr/>
        </p:nvSpPr>
        <p:spPr>
          <a:xfrm>
            <a:off x="3639312" y="4096512"/>
            <a:ext cx="1261872" cy="292608"/>
          </a:xfrm>
          <a:prstGeom prst="rect">
            <a:avLst/>
          </a:prstGeom>
          <a:noFill/>
          <a:ln/>
        </p:spPr>
        <p:txBody>
          <a:bodyPr wrap="square" lIns="0" tIns="0" rIns="0" bIns="0" rtlCol="0" anchor="ctr"/>
          <a:lstStyle/>
          <a:p>
            <a:pPr algn="ctr" indent="0" marL="0">
              <a:buNone/>
            </a:pPr>
            <a:r>
              <a:rPr lang="en-US" sz="1100" b="1" dirty="0">
                <a:solidFill>
                  <a:srgbClr val="EF4444"/>
                </a:solidFill>
              </a:rPr>
              <a:t>❌ Échoue</a:t>
            </a:r>
            <a:endParaRPr lang="en-US" sz="1100" dirty="0"/>
          </a:p>
        </p:txBody>
      </p:sp>
      <p:sp>
        <p:nvSpPr>
          <p:cNvPr id="31" name="Text 29"/>
          <p:cNvSpPr/>
          <p:nvPr/>
        </p:nvSpPr>
        <p:spPr>
          <a:xfrm>
            <a:off x="4956048" y="4096512"/>
            <a:ext cx="1261872" cy="292608"/>
          </a:xfrm>
          <a:prstGeom prst="rect">
            <a:avLst/>
          </a:prstGeom>
          <a:noFill/>
          <a:ln/>
        </p:spPr>
        <p:txBody>
          <a:bodyPr wrap="square" lIns="0" tIns="0" rIns="0" bIns="0" rtlCol="0" anchor="ctr"/>
          <a:lstStyle/>
          <a:p>
            <a:pPr algn="ctr" indent="0" marL="0">
              <a:buNone/>
            </a:pPr>
            <a:r>
              <a:rPr lang="en-US" sz="1100" b="1" dirty="0">
                <a:solidFill>
                  <a:srgbClr val="22C55E"/>
                </a:solidFill>
              </a:rPr>
              <a:t>✅ Gain fort</a:t>
            </a:r>
            <a:endParaRPr lang="en-US" sz="1100" dirty="0"/>
          </a:p>
        </p:txBody>
      </p:sp>
      <p:sp>
        <p:nvSpPr>
          <p:cNvPr id="32" name="Text 30"/>
          <p:cNvSpPr/>
          <p:nvPr/>
        </p:nvSpPr>
        <p:spPr>
          <a:xfrm>
            <a:off x="6291072" y="4041648"/>
            <a:ext cx="2377440" cy="402336"/>
          </a:xfrm>
          <a:prstGeom prst="rect">
            <a:avLst/>
          </a:prstGeom>
          <a:noFill/>
          <a:ln/>
        </p:spPr>
        <p:txBody>
          <a:bodyPr wrap="square" lIns="0" tIns="0" rIns="0" bIns="0" rtlCol="0" anchor="ctr"/>
          <a:lstStyle/>
          <a:p>
            <a:pPr indent="0" marL="0">
              <a:buNone/>
            </a:pPr>
            <a:r>
              <a:rPr lang="en-US" sz="850" dirty="0">
                <a:solidFill>
                  <a:srgbClr val="64748B"/>
                </a:solidFill>
              </a:rPr>
              <a:t>A n'a pas les fichiers → ne peut pas répondre</a:t>
            </a:r>
            <a:endParaRPr lang="en-US" sz="850" dirty="0"/>
          </a:p>
        </p:txBody>
      </p:sp>
      <p:sp>
        <p:nvSpPr>
          <p:cNvPr id="33" name="Shape 31"/>
          <p:cNvSpPr/>
          <p:nvPr/>
        </p:nvSpPr>
        <p:spPr>
          <a:xfrm>
            <a:off x="365760" y="4462272"/>
            <a:ext cx="8412480" cy="475488"/>
          </a:xfrm>
          <a:prstGeom prst="rect">
            <a:avLst/>
          </a:prstGeom>
          <a:solidFill>
            <a:srgbClr val="FFFFFF"/>
          </a:solidFill>
          <a:ln w="6350">
            <a:solidFill>
              <a:srgbClr val="CBD5E1"/>
            </a:solidFill>
            <a:prstDash val="solid"/>
          </a:ln>
        </p:spPr>
      </p:sp>
      <p:sp>
        <p:nvSpPr>
          <p:cNvPr id="34" name="Text 32"/>
          <p:cNvSpPr/>
          <p:nvPr/>
        </p:nvSpPr>
        <p:spPr>
          <a:xfrm>
            <a:off x="502920" y="4498848"/>
            <a:ext cx="3090672" cy="402336"/>
          </a:xfrm>
          <a:prstGeom prst="rect">
            <a:avLst/>
          </a:prstGeom>
          <a:noFill/>
          <a:ln/>
        </p:spPr>
        <p:txBody>
          <a:bodyPr wrap="square" lIns="0" tIns="0" rIns="0" bIns="0" rtlCol="0" anchor="ctr"/>
          <a:lstStyle/>
          <a:p>
            <a:pPr indent="0" marL="0">
              <a:buNone/>
            </a:pPr>
            <a:r>
              <a:rPr lang="en-US" sz="950" dirty="0">
                <a:solidFill>
                  <a:srgbClr val="1B2A3B"/>
                </a:solidFill>
              </a:rPr>
              <a:t>Questions mixtes</a:t>
            </a:r>
            <a:endParaRPr lang="en-US" sz="950" dirty="0"/>
          </a:p>
          <a:p>
            <a:pPr indent="0" marL="0">
              <a:buNone/>
            </a:pPr>
            <a:r>
              <a:rPr lang="en-US" sz="950" dirty="0">
                <a:solidFill>
                  <a:srgbClr val="1B2A3B"/>
                </a:solidFill>
              </a:rPr>
              <a:t>(bug + contexte documentaire)</a:t>
            </a:r>
            <a:endParaRPr lang="en-US" sz="950" dirty="0"/>
          </a:p>
        </p:txBody>
      </p:sp>
      <p:sp>
        <p:nvSpPr>
          <p:cNvPr id="35" name="Text 33"/>
          <p:cNvSpPr/>
          <p:nvPr/>
        </p:nvSpPr>
        <p:spPr>
          <a:xfrm>
            <a:off x="3639312" y="4553712"/>
            <a:ext cx="1261872" cy="292608"/>
          </a:xfrm>
          <a:prstGeom prst="rect">
            <a:avLst/>
          </a:prstGeom>
          <a:noFill/>
          <a:ln/>
        </p:spPr>
        <p:txBody>
          <a:bodyPr wrap="square" lIns="0" tIns="0" rIns="0" bIns="0" rtlCol="0" anchor="ctr"/>
          <a:lstStyle/>
          <a:p>
            <a:pPr algn="ctr" indent="0" marL="0">
              <a:buNone/>
            </a:pPr>
            <a:r>
              <a:rPr lang="en-US" sz="1100" b="1" dirty="0">
                <a:solidFill>
                  <a:srgbClr val="F59E0B"/>
                </a:solidFill>
              </a:rPr>
              <a:t>⚠️ Partiel</a:t>
            </a:r>
            <a:endParaRPr lang="en-US" sz="1100" dirty="0"/>
          </a:p>
        </p:txBody>
      </p:sp>
      <p:sp>
        <p:nvSpPr>
          <p:cNvPr id="36" name="Text 34"/>
          <p:cNvSpPr/>
          <p:nvPr/>
        </p:nvSpPr>
        <p:spPr>
          <a:xfrm>
            <a:off x="4956048" y="4553712"/>
            <a:ext cx="1261872" cy="292608"/>
          </a:xfrm>
          <a:prstGeom prst="rect">
            <a:avLst/>
          </a:prstGeom>
          <a:noFill/>
          <a:ln/>
        </p:spPr>
        <p:txBody>
          <a:bodyPr wrap="square" lIns="0" tIns="0" rIns="0" bIns="0" rtlCol="0" anchor="ctr"/>
          <a:lstStyle/>
          <a:p>
            <a:pPr algn="ctr" indent="0" marL="0">
              <a:buNone/>
            </a:pPr>
            <a:r>
              <a:rPr lang="en-US" sz="1100" b="1" dirty="0">
                <a:solidFill>
                  <a:srgbClr val="22C55E"/>
                </a:solidFill>
              </a:rPr>
              <a:t>✅ Meilleur</a:t>
            </a:r>
            <a:endParaRPr lang="en-US" sz="1100" dirty="0"/>
          </a:p>
        </p:txBody>
      </p:sp>
      <p:sp>
        <p:nvSpPr>
          <p:cNvPr id="37" name="Text 35"/>
          <p:cNvSpPr/>
          <p:nvPr/>
        </p:nvSpPr>
        <p:spPr>
          <a:xfrm>
            <a:off x="6291072" y="4498848"/>
            <a:ext cx="2377440" cy="402336"/>
          </a:xfrm>
          <a:prstGeom prst="rect">
            <a:avLst/>
          </a:prstGeom>
          <a:noFill/>
          <a:ln/>
        </p:spPr>
        <p:txBody>
          <a:bodyPr wrap="square" lIns="0" tIns="0" rIns="0" bIns="0" rtlCol="0" anchor="ctr"/>
          <a:lstStyle/>
          <a:p>
            <a:pPr indent="0" marL="0">
              <a:buNone/>
            </a:pPr>
            <a:r>
              <a:rPr lang="en-US" sz="850" dirty="0">
                <a:solidFill>
                  <a:srgbClr val="64748B"/>
                </a:solidFill>
              </a:rPr>
              <a:t>B meilleur mais retrieval encore améliorable</a:t>
            </a:r>
            <a:endParaRPr lang="en-US" sz="850" dirty="0"/>
          </a:p>
        </p:txBody>
      </p:sp>
      <p:sp>
        <p:nvSpPr>
          <p:cNvPr id="38" name="Shape 36"/>
          <p:cNvSpPr/>
          <p:nvPr/>
        </p:nvSpPr>
        <p:spPr>
          <a:xfrm>
            <a:off x="365760" y="4901184"/>
            <a:ext cx="8412480" cy="201168"/>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9" name="Text 37"/>
          <p:cNvSpPr/>
          <p:nvPr/>
        </p:nvSpPr>
        <p:spPr>
          <a:xfrm>
            <a:off x="512064" y="4910328"/>
            <a:ext cx="8119872" cy="182880"/>
          </a:xfrm>
          <a:prstGeom prst="rect">
            <a:avLst/>
          </a:prstGeom>
          <a:noFill/>
          <a:ln/>
        </p:spPr>
        <p:txBody>
          <a:bodyPr wrap="square" lIns="0" tIns="0" rIns="0" bIns="0" rtlCol="0" anchor="ctr"/>
          <a:lstStyle/>
          <a:p>
            <a:pPr indent="0" marL="0">
              <a:buNone/>
            </a:pPr>
            <a:r>
              <a:rPr lang="en-US" sz="950" b="1" dirty="0">
                <a:solidFill>
                  <a:srgbClr val="0D9488"/>
                </a:solidFill>
              </a:rPr>
              <a:t>Conclusion : B (Issues + Fichiers) = meilleure couverture globale. A échoue complètement sur les questions documentaires.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1B2A3B"/>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07 — PLAN CONCRET</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Ce qu'il reste à faire — 6 actions concrètes</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Classées par priorité : P0 (critique) → P1 (important) → P2 (extension)</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3444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34440"/>
            <a:ext cx="457200" cy="1133856"/>
          </a:xfrm>
          <a:prstGeom prst="rect">
            <a:avLst/>
          </a:prstGeom>
          <a:solidFill>
            <a:srgbClr val="EF4444"/>
          </a:solidFill>
          <a:ln w="12700">
            <a:solidFill>
              <a:srgbClr val="000000"/>
            </a:solidFill>
            <a:prstDash val="solid"/>
          </a:ln>
        </p:spPr>
      </p:sp>
      <p:sp>
        <p:nvSpPr>
          <p:cNvPr id="9" name="Text 7"/>
          <p:cNvSpPr/>
          <p:nvPr/>
        </p:nvSpPr>
        <p:spPr>
          <a:xfrm>
            <a:off x="365760" y="125272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p:nvPr/>
        </p:nvSpPr>
        <p:spPr>
          <a:xfrm>
            <a:off x="365760" y="156362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P0</a:t>
            </a:r>
            <a:endParaRPr lang="en-US" sz="800" dirty="0"/>
          </a:p>
        </p:txBody>
      </p:sp>
      <p:pic>
        <p:nvPicPr>
          <p:cNvPr id="11" name="Image 0" descr="preencoded.png">    </p:cNvPr>
          <p:cNvPicPr>
            <a:picLocks noChangeAspect="1"/>
          </p:cNvPicPr>
          <p:nvPr/>
        </p:nvPicPr>
        <p:blipFill>
          <a:blip r:embed="rId1"/>
          <a:stretch>
            <a:fillRect/>
          </a:stretch>
        </p:blipFill>
        <p:spPr>
          <a:xfrm>
            <a:off x="914400" y="1307592"/>
            <a:ext cx="256032" cy="256032"/>
          </a:xfrm>
          <a:prstGeom prst="rect">
            <a:avLst/>
          </a:prstGeom>
        </p:spPr>
      </p:pic>
      <p:sp>
        <p:nvSpPr>
          <p:cNvPr id="12" name="Text 9"/>
          <p:cNvSpPr/>
          <p:nvPr/>
        </p:nvSpPr>
        <p:spPr>
          <a:xfrm>
            <a:off x="1234440" y="128930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Stabiliser le runner</a:t>
            </a:r>
            <a:endParaRPr lang="en-US" sz="1100" dirty="0"/>
          </a:p>
        </p:txBody>
      </p:sp>
      <p:sp>
        <p:nvSpPr>
          <p:cNvPr id="13" name="Text 10"/>
          <p:cNvSpPr/>
          <p:nvPr/>
        </p:nvSpPr>
        <p:spPr>
          <a:xfrm>
            <a:off x="914400" y="161848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24/50 appels crashent → aucune mesure fiable possible</a:t>
            </a:r>
            <a:endParaRPr lang="en-US" sz="850" dirty="0"/>
          </a:p>
        </p:txBody>
      </p:sp>
      <p:sp>
        <p:nvSpPr>
          <p:cNvPr id="14" name="Text 11"/>
          <p:cNvSpPr/>
          <p:nvPr/>
        </p:nvSpPr>
        <p:spPr>
          <a:xfrm>
            <a:off x="914400" y="185623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Corriger timeouts + erreurs API + retry automatique</a:t>
            </a:r>
            <a:endParaRPr lang="en-US" sz="850" dirty="0"/>
          </a:p>
        </p:txBody>
      </p:sp>
      <p:sp>
        <p:nvSpPr>
          <p:cNvPr id="15" name="Text 12"/>
          <p:cNvSpPr/>
          <p:nvPr/>
        </p:nvSpPr>
        <p:spPr>
          <a:xfrm>
            <a:off x="914400" y="209397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0 crash sur run 50Q</a:t>
            </a:r>
            <a:endParaRPr lang="en-US" sz="850" dirty="0"/>
          </a:p>
        </p:txBody>
      </p:sp>
      <p:sp>
        <p:nvSpPr>
          <p:cNvPr id="16" name="Shape 13"/>
          <p:cNvSpPr/>
          <p:nvPr/>
        </p:nvSpPr>
        <p:spPr>
          <a:xfrm>
            <a:off x="4773168" y="123444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7" name="Shape 14"/>
          <p:cNvSpPr/>
          <p:nvPr/>
        </p:nvSpPr>
        <p:spPr>
          <a:xfrm>
            <a:off x="4773168" y="1234440"/>
            <a:ext cx="457200" cy="1133856"/>
          </a:xfrm>
          <a:prstGeom prst="rect">
            <a:avLst/>
          </a:prstGeom>
          <a:solidFill>
            <a:srgbClr val="EF4444"/>
          </a:solidFill>
          <a:ln w="12700">
            <a:solidFill>
              <a:srgbClr val="000000"/>
            </a:solidFill>
            <a:prstDash val="solid"/>
          </a:ln>
        </p:spPr>
      </p:sp>
      <p:sp>
        <p:nvSpPr>
          <p:cNvPr id="18" name="Text 15"/>
          <p:cNvSpPr/>
          <p:nvPr/>
        </p:nvSpPr>
        <p:spPr>
          <a:xfrm>
            <a:off x="4773168" y="125272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9" name="Text 16"/>
          <p:cNvSpPr/>
          <p:nvPr/>
        </p:nvSpPr>
        <p:spPr>
          <a:xfrm>
            <a:off x="4773168" y="156362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P0</a:t>
            </a:r>
            <a:endParaRPr lang="en-US" sz="800" dirty="0"/>
          </a:p>
        </p:txBody>
      </p:sp>
      <p:pic>
        <p:nvPicPr>
          <p:cNvPr id="20" name="Image 1" descr="preencoded.png">    </p:cNvPr>
          <p:cNvPicPr>
            <a:picLocks noChangeAspect="1"/>
          </p:cNvPicPr>
          <p:nvPr/>
        </p:nvPicPr>
        <p:blipFill>
          <a:blip r:embed="rId2"/>
          <a:stretch>
            <a:fillRect/>
          </a:stretch>
        </p:blipFill>
        <p:spPr>
          <a:xfrm>
            <a:off x="5321808" y="1307592"/>
            <a:ext cx="256032" cy="256032"/>
          </a:xfrm>
          <a:prstGeom prst="rect">
            <a:avLst/>
          </a:prstGeom>
        </p:spPr>
      </p:pic>
      <p:sp>
        <p:nvSpPr>
          <p:cNvPr id="21" name="Text 17"/>
          <p:cNvSpPr/>
          <p:nvPr/>
        </p:nvSpPr>
        <p:spPr>
          <a:xfrm>
            <a:off x="5641848" y="128930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Renforcer le retrieval</a:t>
            </a:r>
            <a:endParaRPr lang="en-US" sz="1100" dirty="0"/>
          </a:p>
        </p:txBody>
      </p:sp>
      <p:sp>
        <p:nvSpPr>
          <p:cNvPr id="22" name="Text 18"/>
          <p:cNvSpPr/>
          <p:nvPr/>
        </p:nvSpPr>
        <p:spPr>
          <a:xfrm>
            <a:off x="5321808" y="161848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12 réponses vagues = USB, I2C, ADC, Ethernet non couverts</a:t>
            </a:r>
            <a:endParaRPr lang="en-US" sz="850" dirty="0"/>
          </a:p>
        </p:txBody>
      </p:sp>
      <p:sp>
        <p:nvSpPr>
          <p:cNvPr id="23" name="Text 19"/>
          <p:cNvSpPr/>
          <p:nvPr/>
        </p:nvSpPr>
        <p:spPr>
          <a:xfrm>
            <a:off x="5321808" y="185623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Ajouter issues + fichiers ciblés sur ces domaines</a:t>
            </a:r>
            <a:endParaRPr lang="en-US" sz="850" dirty="0"/>
          </a:p>
        </p:txBody>
      </p:sp>
      <p:sp>
        <p:nvSpPr>
          <p:cNvPr id="24" name="Text 20"/>
          <p:cNvSpPr/>
          <p:nvPr/>
        </p:nvSpPr>
        <p:spPr>
          <a:xfrm>
            <a:off x="5321808" y="209397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Réponses vagues &lt; 20%</a:t>
            </a:r>
            <a:endParaRPr lang="en-US" sz="850" dirty="0"/>
          </a:p>
        </p:txBody>
      </p:sp>
      <p:sp>
        <p:nvSpPr>
          <p:cNvPr id="25" name="Shape 21"/>
          <p:cNvSpPr/>
          <p:nvPr/>
        </p:nvSpPr>
        <p:spPr>
          <a:xfrm>
            <a:off x="365760" y="251460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6" name="Shape 22"/>
          <p:cNvSpPr/>
          <p:nvPr/>
        </p:nvSpPr>
        <p:spPr>
          <a:xfrm>
            <a:off x="365760" y="2514600"/>
            <a:ext cx="457200" cy="1133856"/>
          </a:xfrm>
          <a:prstGeom prst="rect">
            <a:avLst/>
          </a:prstGeom>
          <a:solidFill>
            <a:srgbClr val="F59E0B"/>
          </a:solidFill>
          <a:ln w="12700">
            <a:solidFill>
              <a:srgbClr val="000000"/>
            </a:solidFill>
            <a:prstDash val="solid"/>
          </a:ln>
        </p:spPr>
      </p:sp>
      <p:sp>
        <p:nvSpPr>
          <p:cNvPr id="27" name="Text 23"/>
          <p:cNvSpPr/>
          <p:nvPr/>
        </p:nvSpPr>
        <p:spPr>
          <a:xfrm>
            <a:off x="365760" y="253288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8" name="Text 24"/>
          <p:cNvSpPr/>
          <p:nvPr/>
        </p:nvSpPr>
        <p:spPr>
          <a:xfrm>
            <a:off x="365760" y="284378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P1</a:t>
            </a:r>
            <a:endParaRPr lang="en-US" sz="800" dirty="0"/>
          </a:p>
        </p:txBody>
      </p:sp>
      <p:pic>
        <p:nvPicPr>
          <p:cNvPr id="29" name="Image 2" descr="preencoded.png">    </p:cNvPr>
          <p:cNvPicPr>
            <a:picLocks noChangeAspect="1"/>
          </p:cNvPicPr>
          <p:nvPr/>
        </p:nvPicPr>
        <p:blipFill>
          <a:blip r:embed="rId3"/>
          <a:stretch>
            <a:fillRect/>
          </a:stretch>
        </p:blipFill>
        <p:spPr>
          <a:xfrm>
            <a:off x="914400" y="2587752"/>
            <a:ext cx="256032" cy="256032"/>
          </a:xfrm>
          <a:prstGeom prst="rect">
            <a:avLst/>
          </a:prstGeom>
        </p:spPr>
      </p:pic>
      <p:sp>
        <p:nvSpPr>
          <p:cNvPr id="30" name="Text 25"/>
          <p:cNvSpPr/>
          <p:nvPr/>
        </p:nvSpPr>
        <p:spPr>
          <a:xfrm>
            <a:off x="1234440" y="256946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Enrichir les Resolver Cases</a:t>
            </a:r>
            <a:endParaRPr lang="en-US" sz="1100" dirty="0"/>
          </a:p>
        </p:txBody>
      </p:sp>
      <p:sp>
        <p:nvSpPr>
          <p:cNvPr id="31" name="Text 26"/>
          <p:cNvSpPr/>
          <p:nvPr/>
        </p:nvSpPr>
        <p:spPr>
          <a:xfrm>
            <a:off x="914400" y="289864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Nouveau bug sans issue liée → réponse 'I don't know'</a:t>
            </a:r>
            <a:endParaRPr lang="en-US" sz="850" dirty="0"/>
          </a:p>
        </p:txBody>
      </p:sp>
      <p:sp>
        <p:nvSpPr>
          <p:cNvPr id="32" name="Text 27"/>
          <p:cNvSpPr/>
          <p:nvPr/>
        </p:nvSpPr>
        <p:spPr>
          <a:xfrm>
            <a:off x="914400" y="313639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Ajouter tags : overflow, uint16_limit, dma_size...</a:t>
            </a:r>
            <a:endParaRPr lang="en-US" sz="850" dirty="0"/>
          </a:p>
        </p:txBody>
      </p:sp>
      <p:sp>
        <p:nvSpPr>
          <p:cNvPr id="33" name="Text 28"/>
          <p:cNvSpPr/>
          <p:nvPr/>
        </p:nvSpPr>
        <p:spPr>
          <a:xfrm>
            <a:off x="914400" y="337413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Couverture nouveaux bugs améliorée</a:t>
            </a:r>
            <a:endParaRPr lang="en-US" sz="850" dirty="0"/>
          </a:p>
        </p:txBody>
      </p:sp>
      <p:sp>
        <p:nvSpPr>
          <p:cNvPr id="34" name="Shape 29"/>
          <p:cNvSpPr/>
          <p:nvPr/>
        </p:nvSpPr>
        <p:spPr>
          <a:xfrm>
            <a:off x="4773168" y="251460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35" name="Shape 30"/>
          <p:cNvSpPr/>
          <p:nvPr/>
        </p:nvSpPr>
        <p:spPr>
          <a:xfrm>
            <a:off x="4773168" y="2514600"/>
            <a:ext cx="457200" cy="1133856"/>
          </a:xfrm>
          <a:prstGeom prst="rect">
            <a:avLst/>
          </a:prstGeom>
          <a:solidFill>
            <a:srgbClr val="F59E0B"/>
          </a:solidFill>
          <a:ln w="12700">
            <a:solidFill>
              <a:srgbClr val="000000"/>
            </a:solidFill>
            <a:prstDash val="solid"/>
          </a:ln>
        </p:spPr>
      </p:sp>
      <p:sp>
        <p:nvSpPr>
          <p:cNvPr id="36" name="Text 31"/>
          <p:cNvSpPr/>
          <p:nvPr/>
        </p:nvSpPr>
        <p:spPr>
          <a:xfrm>
            <a:off x="4773168" y="253288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7" name="Text 32"/>
          <p:cNvSpPr/>
          <p:nvPr/>
        </p:nvSpPr>
        <p:spPr>
          <a:xfrm>
            <a:off x="4773168" y="284378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P1</a:t>
            </a:r>
            <a:endParaRPr lang="en-US" sz="800" dirty="0"/>
          </a:p>
        </p:txBody>
      </p:sp>
      <p:pic>
        <p:nvPicPr>
          <p:cNvPr id="38" name="Image 3" descr="preencoded.png">    </p:cNvPr>
          <p:cNvPicPr>
            <a:picLocks noChangeAspect="1"/>
          </p:cNvPicPr>
          <p:nvPr/>
        </p:nvPicPr>
        <p:blipFill>
          <a:blip r:embed="rId4"/>
          <a:stretch>
            <a:fillRect/>
          </a:stretch>
        </p:blipFill>
        <p:spPr>
          <a:xfrm>
            <a:off x="5321808" y="2587752"/>
            <a:ext cx="256032" cy="256032"/>
          </a:xfrm>
          <a:prstGeom prst="rect">
            <a:avLst/>
          </a:prstGeom>
        </p:spPr>
      </p:pic>
      <p:sp>
        <p:nvSpPr>
          <p:cNvPr id="39" name="Text 33"/>
          <p:cNvSpPr/>
          <p:nvPr/>
        </p:nvSpPr>
        <p:spPr>
          <a:xfrm>
            <a:off x="5641848" y="256946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Évaluation formelle de l'agent</a:t>
            </a:r>
            <a:endParaRPr lang="en-US" sz="1100" dirty="0"/>
          </a:p>
        </p:txBody>
      </p:sp>
      <p:sp>
        <p:nvSpPr>
          <p:cNvPr id="40" name="Text 34"/>
          <p:cNvSpPr/>
          <p:nvPr/>
        </p:nvSpPr>
        <p:spPr>
          <a:xfrm>
            <a:off x="5321808" y="289864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Impact réel de l'agent non mesuré actuellement</a:t>
            </a:r>
            <a:endParaRPr lang="en-US" sz="850" dirty="0"/>
          </a:p>
        </p:txBody>
      </p:sp>
      <p:sp>
        <p:nvSpPr>
          <p:cNvPr id="41" name="Text 35"/>
          <p:cNvSpPr/>
          <p:nvPr/>
        </p:nvSpPr>
        <p:spPr>
          <a:xfrm>
            <a:off x="5321808" y="313639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Définir métriques : temps, qualité descriptions, taux erreur</a:t>
            </a:r>
            <a:endParaRPr lang="en-US" sz="850" dirty="0"/>
          </a:p>
        </p:txBody>
      </p:sp>
      <p:sp>
        <p:nvSpPr>
          <p:cNvPr id="42" name="Text 36"/>
          <p:cNvSpPr/>
          <p:nvPr/>
        </p:nvSpPr>
        <p:spPr>
          <a:xfrm>
            <a:off x="5321808" y="337413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Rapport d'évaluation produit</a:t>
            </a:r>
            <a:endParaRPr lang="en-US" sz="850" dirty="0"/>
          </a:p>
        </p:txBody>
      </p:sp>
      <p:sp>
        <p:nvSpPr>
          <p:cNvPr id="43" name="Shape 37"/>
          <p:cNvSpPr/>
          <p:nvPr/>
        </p:nvSpPr>
        <p:spPr>
          <a:xfrm>
            <a:off x="365760" y="379476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44" name="Shape 38"/>
          <p:cNvSpPr/>
          <p:nvPr/>
        </p:nvSpPr>
        <p:spPr>
          <a:xfrm>
            <a:off x="365760" y="3794760"/>
            <a:ext cx="457200" cy="1133856"/>
          </a:xfrm>
          <a:prstGeom prst="rect">
            <a:avLst/>
          </a:prstGeom>
          <a:solidFill>
            <a:srgbClr val="64748B"/>
          </a:solidFill>
          <a:ln w="12700">
            <a:solidFill>
              <a:srgbClr val="000000"/>
            </a:solidFill>
            <a:prstDash val="solid"/>
          </a:ln>
        </p:spPr>
      </p:sp>
      <p:sp>
        <p:nvSpPr>
          <p:cNvPr id="45" name="Text 39"/>
          <p:cNvSpPr/>
          <p:nvPr/>
        </p:nvSpPr>
        <p:spPr>
          <a:xfrm>
            <a:off x="365760" y="381304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46" name="Text 40"/>
          <p:cNvSpPr/>
          <p:nvPr/>
        </p:nvSpPr>
        <p:spPr>
          <a:xfrm>
            <a:off x="365760" y="412394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P2</a:t>
            </a:r>
            <a:endParaRPr lang="en-US" sz="800" dirty="0"/>
          </a:p>
        </p:txBody>
      </p:sp>
      <p:pic>
        <p:nvPicPr>
          <p:cNvPr id="47" name="Image 4" descr="preencoded.png">    </p:cNvPr>
          <p:cNvPicPr>
            <a:picLocks noChangeAspect="1"/>
          </p:cNvPicPr>
          <p:nvPr/>
        </p:nvPicPr>
        <p:blipFill>
          <a:blip r:embed="rId5"/>
          <a:stretch>
            <a:fillRect/>
          </a:stretch>
        </p:blipFill>
        <p:spPr>
          <a:xfrm>
            <a:off x="914400" y="3867912"/>
            <a:ext cx="256032" cy="256032"/>
          </a:xfrm>
          <a:prstGeom prst="rect">
            <a:avLst/>
          </a:prstGeom>
        </p:spPr>
      </p:pic>
      <p:sp>
        <p:nvSpPr>
          <p:cNvPr id="48" name="Text 41"/>
          <p:cNvSpPr/>
          <p:nvPr/>
        </p:nvSpPr>
        <p:spPr>
          <a:xfrm>
            <a:off x="1234440" y="384962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Généraliser à d'autres repos</a:t>
            </a:r>
            <a:endParaRPr lang="en-US" sz="1100" dirty="0"/>
          </a:p>
        </p:txBody>
      </p:sp>
      <p:sp>
        <p:nvSpPr>
          <p:cNvPr id="49" name="Text 42"/>
          <p:cNvSpPr/>
          <p:nvPr/>
        </p:nvSpPr>
        <p:spPr>
          <a:xfrm>
            <a:off x="914400" y="417880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Actuellement H7 seulement — support veut couverture large</a:t>
            </a:r>
            <a:endParaRPr lang="en-US" sz="850" dirty="0"/>
          </a:p>
        </p:txBody>
      </p:sp>
      <p:sp>
        <p:nvSpPr>
          <p:cNvPr id="50" name="Text 43"/>
          <p:cNvSpPr/>
          <p:nvPr/>
        </p:nvSpPr>
        <p:spPr>
          <a:xfrm>
            <a:off x="914400" y="441655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Étendre à STM32CubeH5 après stabilisation H7</a:t>
            </a:r>
            <a:endParaRPr lang="en-US" sz="850" dirty="0"/>
          </a:p>
        </p:txBody>
      </p:sp>
      <p:sp>
        <p:nvSpPr>
          <p:cNvPr id="51" name="Text 44"/>
          <p:cNvSpPr/>
          <p:nvPr/>
        </p:nvSpPr>
        <p:spPr>
          <a:xfrm>
            <a:off x="914400" y="465429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H5 pipeline opérationnel</a:t>
            </a:r>
            <a:endParaRPr lang="en-US" sz="850" dirty="0"/>
          </a:p>
        </p:txBody>
      </p:sp>
      <p:sp>
        <p:nvSpPr>
          <p:cNvPr id="52" name="Shape 45"/>
          <p:cNvSpPr/>
          <p:nvPr/>
        </p:nvSpPr>
        <p:spPr>
          <a:xfrm>
            <a:off x="4773168" y="3794760"/>
            <a:ext cx="4206240" cy="1133856"/>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53" name="Shape 46"/>
          <p:cNvSpPr/>
          <p:nvPr/>
        </p:nvSpPr>
        <p:spPr>
          <a:xfrm>
            <a:off x="4773168" y="3794760"/>
            <a:ext cx="457200" cy="1133856"/>
          </a:xfrm>
          <a:prstGeom prst="rect">
            <a:avLst/>
          </a:prstGeom>
          <a:solidFill>
            <a:srgbClr val="64748B"/>
          </a:solidFill>
          <a:ln w="12700">
            <a:solidFill>
              <a:srgbClr val="000000"/>
            </a:solidFill>
            <a:prstDash val="solid"/>
          </a:ln>
        </p:spPr>
      </p:sp>
      <p:sp>
        <p:nvSpPr>
          <p:cNvPr id="54" name="Text 47"/>
          <p:cNvSpPr/>
          <p:nvPr/>
        </p:nvSpPr>
        <p:spPr>
          <a:xfrm>
            <a:off x="4773168" y="3813048"/>
            <a:ext cx="457200" cy="29260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55" name="Text 48"/>
          <p:cNvSpPr/>
          <p:nvPr/>
        </p:nvSpPr>
        <p:spPr>
          <a:xfrm>
            <a:off x="4773168" y="4123944"/>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rPr>
              <a:t>P2</a:t>
            </a:r>
            <a:endParaRPr lang="en-US" sz="800" dirty="0"/>
          </a:p>
        </p:txBody>
      </p:sp>
      <p:pic>
        <p:nvPicPr>
          <p:cNvPr id="56" name="Image 5" descr="preencoded.png">    </p:cNvPr>
          <p:cNvPicPr>
            <a:picLocks noChangeAspect="1"/>
          </p:cNvPicPr>
          <p:nvPr/>
        </p:nvPicPr>
        <p:blipFill>
          <a:blip r:embed="rId6"/>
          <a:stretch>
            <a:fillRect/>
          </a:stretch>
        </p:blipFill>
        <p:spPr>
          <a:xfrm>
            <a:off x="5321808" y="3867912"/>
            <a:ext cx="256032" cy="256032"/>
          </a:xfrm>
          <a:prstGeom prst="rect">
            <a:avLst/>
          </a:prstGeom>
        </p:spPr>
      </p:pic>
      <p:sp>
        <p:nvSpPr>
          <p:cNvPr id="57" name="Text 49"/>
          <p:cNvSpPr/>
          <p:nvPr/>
        </p:nvSpPr>
        <p:spPr>
          <a:xfrm>
            <a:off x="5641848" y="3849624"/>
            <a:ext cx="3218688" cy="256032"/>
          </a:xfrm>
          <a:prstGeom prst="rect">
            <a:avLst/>
          </a:prstGeom>
          <a:noFill/>
          <a:ln/>
        </p:spPr>
        <p:txBody>
          <a:bodyPr wrap="square" lIns="0" tIns="0" rIns="0" bIns="0" rtlCol="0" anchor="ctr"/>
          <a:lstStyle/>
          <a:p>
            <a:pPr indent="0" marL="0">
              <a:buNone/>
            </a:pPr>
            <a:r>
              <a:rPr lang="en-US" sz="1100" b="1" dirty="0">
                <a:solidFill>
                  <a:srgbClr val="1B2A3B"/>
                </a:solidFill>
              </a:rPr>
              <a:t>Relancer cycle complet 50Q</a:t>
            </a:r>
            <a:endParaRPr lang="en-US" sz="1100" dirty="0"/>
          </a:p>
        </p:txBody>
      </p:sp>
      <p:sp>
        <p:nvSpPr>
          <p:cNvPr id="58" name="Text 50"/>
          <p:cNvSpPr/>
          <p:nvPr/>
        </p:nvSpPr>
        <p:spPr>
          <a:xfrm>
            <a:off x="5321808" y="4178808"/>
            <a:ext cx="3547872" cy="237744"/>
          </a:xfrm>
          <a:prstGeom prst="rect">
            <a:avLst/>
          </a:prstGeom>
          <a:noFill/>
          <a:ln/>
        </p:spPr>
        <p:txBody>
          <a:bodyPr wrap="square" lIns="0" tIns="0" rIns="0" bIns="0" rtlCol="0" anchor="ctr"/>
          <a:lstStyle/>
          <a:p>
            <a:pPr indent="0" marL="0">
              <a:buNone/>
            </a:pPr>
            <a:r>
              <a:rPr lang="en-US" sz="850" dirty="0">
                <a:solidFill>
                  <a:srgbClr val="EF4444"/>
                </a:solidFill>
              </a:rPr>
              <a:t>Pourquoi : Mesurer le progrès après actions P0/P1</a:t>
            </a:r>
            <a:endParaRPr lang="en-US" sz="850" dirty="0"/>
          </a:p>
        </p:txBody>
      </p:sp>
      <p:sp>
        <p:nvSpPr>
          <p:cNvPr id="59" name="Text 51"/>
          <p:cNvSpPr/>
          <p:nvPr/>
        </p:nvSpPr>
        <p:spPr>
          <a:xfrm>
            <a:off x="5321808" y="4416552"/>
            <a:ext cx="3547872" cy="237744"/>
          </a:xfrm>
          <a:prstGeom prst="rect">
            <a:avLst/>
          </a:prstGeom>
          <a:noFill/>
          <a:ln/>
        </p:spPr>
        <p:txBody>
          <a:bodyPr wrap="square" lIns="0" tIns="0" rIns="0" bIns="0" rtlCol="0" anchor="ctr"/>
          <a:lstStyle/>
          <a:p>
            <a:pPr indent="0" marL="0">
              <a:buNone/>
            </a:pPr>
            <a:r>
              <a:rPr lang="en-US" sz="850" dirty="0">
                <a:solidFill>
                  <a:srgbClr val="64748B"/>
                </a:solidFill>
              </a:rPr>
              <a:t>Comment : Run automatique → comparer vs baseline actuel</a:t>
            </a:r>
            <a:endParaRPr lang="en-US" sz="850" dirty="0"/>
          </a:p>
        </p:txBody>
      </p:sp>
      <p:sp>
        <p:nvSpPr>
          <p:cNvPr id="60" name="Text 52"/>
          <p:cNvSpPr/>
          <p:nvPr/>
        </p:nvSpPr>
        <p:spPr>
          <a:xfrm>
            <a:off x="5321808" y="4654296"/>
            <a:ext cx="3547872" cy="201168"/>
          </a:xfrm>
          <a:prstGeom prst="rect">
            <a:avLst/>
          </a:prstGeom>
          <a:noFill/>
          <a:ln/>
        </p:spPr>
        <p:txBody>
          <a:bodyPr wrap="square" lIns="0" tIns="0" rIns="0" bIns="0" rtlCol="0" anchor="ctr"/>
          <a:lstStyle/>
          <a:p>
            <a:pPr indent="0" marL="0">
              <a:buNone/>
            </a:pPr>
            <a:r>
              <a:rPr lang="en-US" sz="850" b="1" dirty="0">
                <a:solidFill>
                  <a:srgbClr val="0D9488"/>
                </a:solidFill>
              </a:rPr>
              <a:t>KPI : Amélioration mesurable vs baseline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3B"/>
        </a:solidFill>
      </p:bgPr>
    </p:bg>
    <p:spTree>
      <p:nvGrpSpPr>
        <p:cNvPr id="1" name=""/>
        <p:cNvGrpSpPr/>
        <p:nvPr/>
      </p:nvGrpSpPr>
      <p:grpSpPr>
        <a:xfrm>
          <a:off x="0" y="0"/>
          <a:ext cx="0" cy="0"/>
          <a:chOff x="0" y="0"/>
          <a:chExt cx="0" cy="0"/>
        </a:xfrm>
      </p:grpSpPr>
      <p:sp>
        <p:nvSpPr>
          <p:cNvPr id="2" name="Shape 0"/>
          <p:cNvSpPr/>
          <p:nvPr/>
        </p:nvSpPr>
        <p:spPr>
          <a:xfrm>
            <a:off x="-914400" y="-1371600"/>
            <a:ext cx="4572000" cy="4572000"/>
          </a:xfrm>
          <a:prstGeom prst="ellipse">
            <a:avLst/>
          </a:prstGeom>
          <a:solidFill>
            <a:srgbClr val="0D9488">
              <a:alpha val="12000"/>
            </a:srgbClr>
          </a:solidFill>
          <a:ln w="12700">
            <a:solidFill>
              <a:srgbClr val="000000"/>
            </a:solidFill>
            <a:prstDash val="solid"/>
          </a:ln>
        </p:spPr>
      </p:sp>
      <p:sp>
        <p:nvSpPr>
          <p:cNvPr id="3" name="Shape 1"/>
          <p:cNvSpPr/>
          <p:nvPr/>
        </p:nvSpPr>
        <p:spPr>
          <a:xfrm>
            <a:off x="6858000" y="2560320"/>
            <a:ext cx="3657600" cy="3657600"/>
          </a:xfrm>
          <a:prstGeom prst="ellipse">
            <a:avLst/>
          </a:prstGeom>
          <a:solidFill>
            <a:srgbClr val="0D9488">
              <a:alpha val="8000"/>
            </a:srgbClr>
          </a:solidFill>
          <a:ln w="12700">
            <a:solidFill>
              <a:srgbClr val="000000"/>
            </a:solidFill>
            <a:prstDash val="solid"/>
          </a:ln>
        </p:spPr>
      </p:sp>
      <p:sp>
        <p:nvSpPr>
          <p:cNvPr id="4" name="Shape 2"/>
          <p:cNvSpPr/>
          <p:nvPr/>
        </p:nvSpPr>
        <p:spPr>
          <a:xfrm>
            <a:off x="0" y="0"/>
            <a:ext cx="201168" cy="5143500"/>
          </a:xfrm>
          <a:prstGeom prst="rect">
            <a:avLst/>
          </a:prstGeom>
          <a:solidFill>
            <a:srgbClr val="0D9488"/>
          </a:solidFill>
          <a:ln w="12700">
            <a:solidFill>
              <a:srgbClr val="000000"/>
            </a:solidFill>
            <a:prstDash val="solid"/>
          </a:ln>
        </p:spPr>
      </p:sp>
      <p:sp>
        <p:nvSpPr>
          <p:cNvPr id="5" name="Text 3"/>
          <p:cNvSpPr/>
          <p:nvPr/>
        </p:nvSpPr>
        <p:spPr>
          <a:xfrm>
            <a:off x="502920" y="274320"/>
            <a:ext cx="8229600" cy="502920"/>
          </a:xfrm>
          <a:prstGeom prst="rect">
            <a:avLst/>
          </a:prstGeom>
          <a:noFill/>
          <a:ln/>
        </p:spPr>
        <p:txBody>
          <a:bodyPr wrap="square" rtlCol="0" anchor="ctr"/>
          <a:lstStyle/>
          <a:p>
            <a:pPr indent="0" marL="0">
              <a:buNone/>
            </a:pPr>
            <a:r>
              <a:rPr lang="en-US" sz="3000" b="1" dirty="0">
                <a:solidFill>
                  <a:srgbClr val="FFFFFF"/>
                </a:solidFill>
              </a:rPr>
              <a:t>En résumé</a:t>
            </a:r>
            <a:endParaRPr lang="en-US" sz="3000" dirty="0"/>
          </a:p>
        </p:txBody>
      </p:sp>
      <p:sp>
        <p:nvSpPr>
          <p:cNvPr id="6" name="Text 4"/>
          <p:cNvSpPr/>
          <p:nvPr/>
        </p:nvSpPr>
        <p:spPr>
          <a:xfrm>
            <a:off x="502920" y="960120"/>
            <a:ext cx="8229600" cy="365760"/>
          </a:xfrm>
          <a:prstGeom prst="rect">
            <a:avLst/>
          </a:prstGeom>
          <a:noFill/>
          <a:ln/>
        </p:spPr>
        <p:txBody>
          <a:bodyPr wrap="square" lIns="0" tIns="0" rIns="0" bIns="0" rtlCol="0" anchor="ctr"/>
          <a:lstStyle/>
          <a:p>
            <a:pPr indent="0" marL="0">
              <a:buNone/>
            </a:pPr>
            <a:r>
              <a:rPr lang="en-US" sz="1250" dirty="0">
                <a:solidFill>
                  <a:srgbClr val="99F6E4"/>
                </a:solidFill>
              </a:rPr>
              <a:t>✅  Pipeline complet 7 étapes — opérationnel sur STM32CubeH7</a:t>
            </a:r>
            <a:endParaRPr lang="en-US" sz="1250" dirty="0"/>
          </a:p>
        </p:txBody>
      </p:sp>
      <p:sp>
        <p:nvSpPr>
          <p:cNvPr id="7" name="Text 5"/>
          <p:cNvSpPr/>
          <p:nvPr/>
        </p:nvSpPr>
        <p:spPr>
          <a:xfrm>
            <a:off x="502920" y="1435608"/>
            <a:ext cx="8229600" cy="365760"/>
          </a:xfrm>
          <a:prstGeom prst="rect">
            <a:avLst/>
          </a:prstGeom>
          <a:noFill/>
          <a:ln/>
        </p:spPr>
        <p:txBody>
          <a:bodyPr wrap="square" lIns="0" tIns="0" rIns="0" bIns="0" rtlCol="0" anchor="ctr"/>
          <a:lstStyle/>
          <a:p>
            <a:pPr indent="0" marL="0">
              <a:buNone/>
            </a:pPr>
            <a:r>
              <a:rPr lang="en-US" sz="1250" dirty="0">
                <a:solidFill>
                  <a:srgbClr val="99F6E4"/>
                </a:solidFill>
              </a:rPr>
              <a:t>✅  Issues + Fichiers + PRs + Resolver Cases indexés dans la KB ST</a:t>
            </a:r>
            <a:endParaRPr lang="en-US" sz="1250" dirty="0"/>
          </a:p>
        </p:txBody>
      </p:sp>
      <p:sp>
        <p:nvSpPr>
          <p:cNvPr id="8" name="Text 6"/>
          <p:cNvSpPr/>
          <p:nvPr/>
        </p:nvSpPr>
        <p:spPr>
          <a:xfrm>
            <a:off x="502920" y="1911096"/>
            <a:ext cx="8229600" cy="365760"/>
          </a:xfrm>
          <a:prstGeom prst="rect">
            <a:avLst/>
          </a:prstGeom>
          <a:noFill/>
          <a:ln/>
        </p:spPr>
        <p:txBody>
          <a:bodyPr wrap="square" lIns="0" tIns="0" rIns="0" bIns="0" rtlCol="0" anchor="ctr"/>
          <a:lstStyle/>
          <a:p>
            <a:pPr indent="0" marL="0">
              <a:buNone/>
            </a:pPr>
            <a:r>
              <a:rPr lang="en-US" sz="1250" dirty="0">
                <a:solidFill>
                  <a:srgbClr val="99F6E4"/>
                </a:solidFill>
              </a:rPr>
              <a:t>✅  14 réponses précises sur 26 appels réussis — signal positif validé</a:t>
            </a:r>
            <a:endParaRPr lang="en-US" sz="1250" dirty="0"/>
          </a:p>
        </p:txBody>
      </p:sp>
      <p:sp>
        <p:nvSpPr>
          <p:cNvPr id="9" name="Text 7"/>
          <p:cNvSpPr/>
          <p:nvPr/>
        </p:nvSpPr>
        <p:spPr>
          <a:xfrm>
            <a:off x="502920" y="2386584"/>
            <a:ext cx="8229600" cy="365760"/>
          </a:xfrm>
          <a:prstGeom prst="rect">
            <a:avLst/>
          </a:prstGeom>
          <a:noFill/>
          <a:ln/>
        </p:spPr>
        <p:txBody>
          <a:bodyPr wrap="square" lIns="0" tIns="0" rIns="0" bIns="0" rtlCol="0" anchor="ctr"/>
          <a:lstStyle/>
          <a:p>
            <a:pPr indent="0" marL="0">
              <a:buNone/>
            </a:pPr>
            <a:r>
              <a:rPr lang="en-US" sz="1250" dirty="0">
                <a:solidFill>
                  <a:srgbClr val="99F6E4"/>
                </a:solidFill>
              </a:rPr>
              <a:t>✅  5 000+ fichiers traités · 50 questions de test cadrees · 18 fiches diagnostic</a:t>
            </a:r>
            <a:endParaRPr lang="en-US" sz="1250" dirty="0"/>
          </a:p>
        </p:txBody>
      </p:sp>
      <p:sp>
        <p:nvSpPr>
          <p:cNvPr id="10" name="Shape 8"/>
          <p:cNvSpPr/>
          <p:nvPr/>
        </p:nvSpPr>
        <p:spPr>
          <a:xfrm>
            <a:off x="502920" y="2944368"/>
            <a:ext cx="8229600" cy="22860"/>
          </a:xfrm>
          <a:prstGeom prst="rect">
            <a:avLst/>
          </a:prstGeom>
          <a:solidFill>
            <a:srgbClr val="0D9488">
              <a:alpha val="60000"/>
            </a:srgbClr>
          </a:solidFill>
          <a:ln w="12700">
            <a:solidFill>
              <a:srgbClr val="000000"/>
            </a:solidFill>
            <a:prstDash val="solid"/>
          </a:ln>
        </p:spPr>
      </p:sp>
      <p:sp>
        <p:nvSpPr>
          <p:cNvPr id="11" name="Text 9"/>
          <p:cNvSpPr/>
          <p:nvPr/>
        </p:nvSpPr>
        <p:spPr>
          <a:xfrm>
            <a:off x="502920" y="3017520"/>
            <a:ext cx="8229600" cy="347472"/>
          </a:xfrm>
          <a:prstGeom prst="rect">
            <a:avLst/>
          </a:prstGeom>
          <a:noFill/>
          <a:ln/>
        </p:spPr>
        <p:txBody>
          <a:bodyPr wrap="square" rtlCol="0" anchor="ctr"/>
          <a:lstStyle/>
          <a:p>
            <a:pPr indent="0" marL="0">
              <a:buNone/>
            </a:pPr>
            <a:r>
              <a:rPr lang="en-US" sz="1300" b="1" dirty="0">
                <a:solidFill>
                  <a:srgbClr val="F59E0B"/>
                </a:solidFill>
              </a:rPr>
              <a:t>⚡  Priorité immédiate : stabiliser le runner + renforcer retrieval domaines faibles</a:t>
            </a:r>
            <a:endParaRPr lang="en-US" sz="1300" dirty="0"/>
          </a:p>
        </p:txBody>
      </p:sp>
      <p:sp>
        <p:nvSpPr>
          <p:cNvPr id="12" name="Text 10"/>
          <p:cNvSpPr/>
          <p:nvPr/>
        </p:nvSpPr>
        <p:spPr>
          <a:xfrm>
            <a:off x="502920" y="3401568"/>
            <a:ext cx="8229600" cy="402336"/>
          </a:xfrm>
          <a:prstGeom prst="rect">
            <a:avLst/>
          </a:prstGeom>
          <a:noFill/>
          <a:ln/>
        </p:spPr>
        <p:txBody>
          <a:bodyPr wrap="square" rtlCol="0" anchor="ctr"/>
          <a:lstStyle/>
          <a:p>
            <a:pPr indent="0" marL="0">
              <a:buNone/>
            </a:pPr>
            <a:r>
              <a:rPr lang="en-US" sz="1200" dirty="0">
                <a:solidFill>
                  <a:srgbClr val="FFFFFF"/>
                </a:solidFill>
              </a:rPr>
              <a:t>🎯  Objectif final : une persona ST ChatGPT utile, précise et traçable pour l'assistance technique STM32</a:t>
            </a:r>
            <a:endParaRPr lang="en-US" sz="1200" dirty="0"/>
          </a:p>
        </p:txBody>
      </p:sp>
      <p:sp>
        <p:nvSpPr>
          <p:cNvPr id="13" name="Shape 11"/>
          <p:cNvSpPr/>
          <p:nvPr/>
        </p:nvSpPr>
        <p:spPr>
          <a:xfrm>
            <a:off x="0" y="4663440"/>
            <a:ext cx="9144000" cy="480060"/>
          </a:xfrm>
          <a:prstGeom prst="rect">
            <a:avLst/>
          </a:prstGeom>
          <a:solidFill>
            <a:srgbClr val="152232"/>
          </a:solidFill>
          <a:ln w="12700">
            <a:solidFill>
              <a:srgbClr val="000000"/>
            </a:solidFill>
            <a:prstDash val="solid"/>
          </a:ln>
        </p:spPr>
      </p:sp>
      <p:sp>
        <p:nvSpPr>
          <p:cNvPr id="14" name="Text 12"/>
          <p:cNvSpPr/>
          <p:nvPr/>
        </p:nvSpPr>
        <p:spPr>
          <a:xfrm>
            <a:off x="502920" y="4718304"/>
            <a:ext cx="8412480" cy="292608"/>
          </a:xfrm>
          <a:prstGeom prst="rect">
            <a:avLst/>
          </a:prstGeom>
          <a:noFill/>
          <a:ln/>
        </p:spPr>
        <p:txBody>
          <a:bodyPr wrap="square" lIns="0" tIns="0" rIns="0" bIns="0" rtlCol="0" anchor="ctr"/>
          <a:lstStyle/>
          <a:p>
            <a:pPr algn="l" indent="0" marL="0">
              <a:buNone/>
            </a:pPr>
            <a:r>
              <a:rPr lang="en-US" sz="900" dirty="0">
                <a:solidFill>
                  <a:srgbClr val="CBD5E1"/>
                </a:solidFill>
              </a:rPr>
              <a:t>STMicroelectronics Tunis   |   Abir GHARBI   |   Encadrant : AMAMOU Mohamed Ridha   |   Mai 2025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65760" y="164592"/>
            <a:ext cx="1828800" cy="256032"/>
          </a:xfrm>
          <a:prstGeom prst="rect">
            <a:avLst>
              <a:gd name="adj" fmla="val 14286"/>
            </a:avLst>
          </a:prstGeom>
          <a:solidFill>
            <a:srgbClr val="0D9488"/>
          </a:solidFill>
          <a:ln w="12700">
            <a:solidFill>
              <a:srgbClr val="000000"/>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algn="ctr" indent="0" marL="0">
              <a:buNone/>
            </a:pPr>
            <a:r>
              <a:rPr lang="en-US" sz="800" b="1" dirty="0">
                <a:solidFill>
                  <a:srgbClr val="FFFFFF"/>
                </a:solidFill>
              </a:rPr>
              <a:t>08 — DISCUSSION</a:t>
            </a:r>
            <a:endParaRPr lang="en-US" sz="800" dirty="0"/>
          </a:p>
        </p:txBody>
      </p:sp>
      <p:sp>
        <p:nvSpPr>
          <p:cNvPr id="4" name="Text 2"/>
          <p:cNvSpPr/>
          <p:nvPr/>
        </p:nvSpPr>
        <p:spPr>
          <a:xfrm>
            <a:off x="457200" y="201168"/>
            <a:ext cx="8229600" cy="502920"/>
          </a:xfrm>
          <a:prstGeom prst="rect">
            <a:avLst/>
          </a:prstGeom>
          <a:noFill/>
          <a:ln/>
        </p:spPr>
        <p:txBody>
          <a:bodyPr wrap="square" lIns="0" tIns="0" rIns="0" bIns="0" rtlCol="0" anchor="ctr"/>
          <a:lstStyle/>
          <a:p>
            <a:pPr algn="l" indent="0" marL="0">
              <a:buNone/>
            </a:pPr>
            <a:r>
              <a:rPr lang="en-US" sz="2600" b="1" dirty="0">
                <a:solidFill>
                  <a:srgbClr val="1B2A3B"/>
                </a:solidFill>
              </a:rPr>
              <a:t>Échanges &amp; Discussion</a:t>
            </a:r>
            <a:endParaRPr lang="en-US" sz="2600" dirty="0"/>
          </a:p>
        </p:txBody>
      </p:sp>
      <p:sp>
        <p:nvSpPr>
          <p:cNvPr id="5" name="Text 3"/>
          <p:cNvSpPr/>
          <p:nvPr/>
        </p:nvSpPr>
        <p:spPr>
          <a:xfrm>
            <a:off x="457200" y="713232"/>
            <a:ext cx="8229600" cy="256032"/>
          </a:xfrm>
          <a:prstGeom prst="rect">
            <a:avLst/>
          </a:prstGeom>
          <a:noFill/>
          <a:ln/>
        </p:spPr>
        <p:txBody>
          <a:bodyPr wrap="square" lIns="0" tIns="0" rIns="0" bIns="0" rtlCol="0" anchor="ctr"/>
          <a:lstStyle/>
          <a:p>
            <a:pPr algn="l" indent="0" marL="0">
              <a:buNone/>
            </a:pPr>
            <a:r>
              <a:rPr lang="en-US" sz="1200" i="1" dirty="0">
                <a:solidFill>
                  <a:srgbClr val="64748B"/>
                </a:solidFill>
              </a:rPr>
              <a:t>Vos retours sont essentiels pour la suite du projet</a:t>
            </a:r>
            <a:endParaRPr lang="en-US" sz="1200" dirty="0"/>
          </a:p>
        </p:txBody>
      </p:sp>
      <p:sp>
        <p:nvSpPr>
          <p:cNvPr id="6" name="Shape 4"/>
          <p:cNvSpPr/>
          <p:nvPr/>
        </p:nvSpPr>
        <p:spPr>
          <a:xfrm>
            <a:off x="457200" y="987552"/>
            <a:ext cx="8229600" cy="22860"/>
          </a:xfrm>
          <a:prstGeom prst="rect">
            <a:avLst/>
          </a:prstGeom>
          <a:solidFill>
            <a:srgbClr val="CBD5E1"/>
          </a:solidFill>
          <a:ln w="12700">
            <a:solidFill>
              <a:srgbClr val="000000"/>
            </a:solidFill>
            <a:prstDash val="solid"/>
          </a:ln>
        </p:spPr>
      </p:sp>
      <p:sp>
        <p:nvSpPr>
          <p:cNvPr id="7" name="Shape 5"/>
          <p:cNvSpPr/>
          <p:nvPr/>
        </p:nvSpPr>
        <p:spPr>
          <a:xfrm>
            <a:off x="365760" y="1234440"/>
            <a:ext cx="4224528" cy="15727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8" name="Shape 6"/>
          <p:cNvSpPr/>
          <p:nvPr/>
        </p:nvSpPr>
        <p:spPr>
          <a:xfrm>
            <a:off x="365760" y="1234440"/>
            <a:ext cx="64008" cy="1572768"/>
          </a:xfrm>
          <a:prstGeom prst="rect">
            <a:avLst/>
          </a:prstGeom>
          <a:solidFill>
            <a:srgbClr val="0D9488"/>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566928" y="1435608"/>
            <a:ext cx="384048" cy="384048"/>
          </a:xfrm>
          <a:prstGeom prst="rect">
            <a:avLst/>
          </a:prstGeom>
        </p:spPr>
      </p:pic>
      <p:sp>
        <p:nvSpPr>
          <p:cNvPr id="10" name="Text 7"/>
          <p:cNvSpPr/>
          <p:nvPr/>
        </p:nvSpPr>
        <p:spPr>
          <a:xfrm>
            <a:off x="1051560" y="1362456"/>
            <a:ext cx="3429000" cy="621792"/>
          </a:xfrm>
          <a:prstGeom prst="rect">
            <a:avLst/>
          </a:prstGeom>
          <a:noFill/>
          <a:ln/>
        </p:spPr>
        <p:txBody>
          <a:bodyPr wrap="square" lIns="0" tIns="0" rIns="0" bIns="0" rtlCol="0" anchor="ctr"/>
          <a:lstStyle/>
          <a:p>
            <a:pPr indent="0" marL="0">
              <a:buNone/>
            </a:pPr>
            <a:r>
              <a:rPr lang="en-US" sz="1100" b="1" dirty="0">
                <a:solidFill>
                  <a:srgbClr val="1B2A3B"/>
                </a:solidFill>
              </a:rPr>
              <a:t>Quels bugs STM32 reviennent le plus souvent dans vos tickets ?</a:t>
            </a:r>
            <a:endParaRPr lang="en-US" sz="1100" dirty="0"/>
          </a:p>
        </p:txBody>
      </p:sp>
      <p:sp>
        <p:nvSpPr>
          <p:cNvPr id="11" name="Text 8"/>
          <p:cNvSpPr/>
          <p:nvPr/>
        </p:nvSpPr>
        <p:spPr>
          <a:xfrm>
            <a:off x="566928" y="2075688"/>
            <a:ext cx="3858768" cy="566928"/>
          </a:xfrm>
          <a:prstGeom prst="rect">
            <a:avLst/>
          </a:prstGeom>
          <a:noFill/>
          <a:ln/>
        </p:spPr>
        <p:txBody>
          <a:bodyPr wrap="square" lIns="0" tIns="0" rIns="0" bIns="0" rtlCol="0" anchor="ctr"/>
          <a:lstStyle/>
          <a:p>
            <a:pPr indent="0" marL="0">
              <a:buNone/>
            </a:pPr>
            <a:r>
              <a:rPr lang="en-US" sz="950" i="1" dirty="0">
                <a:solidFill>
                  <a:srgbClr val="64748B"/>
                </a:solidFill>
              </a:rPr>
              <a:t>Aide à prioriser les domaines à couvrir en premier (USB, DMA, I2C...)</a:t>
            </a:r>
            <a:endParaRPr lang="en-US" sz="950" dirty="0"/>
          </a:p>
        </p:txBody>
      </p:sp>
      <p:sp>
        <p:nvSpPr>
          <p:cNvPr id="12" name="Shape 9"/>
          <p:cNvSpPr/>
          <p:nvPr/>
        </p:nvSpPr>
        <p:spPr>
          <a:xfrm>
            <a:off x="4754880" y="1234440"/>
            <a:ext cx="4224528" cy="15727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54880" y="1234440"/>
            <a:ext cx="64008" cy="1572768"/>
          </a:xfrm>
          <a:prstGeom prst="rect">
            <a:avLst/>
          </a:prstGeom>
          <a:solidFill>
            <a:srgbClr val="F59E0B"/>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4956048" y="1435608"/>
            <a:ext cx="384048" cy="384048"/>
          </a:xfrm>
          <a:prstGeom prst="rect">
            <a:avLst/>
          </a:prstGeom>
        </p:spPr>
      </p:pic>
      <p:sp>
        <p:nvSpPr>
          <p:cNvPr id="15" name="Text 11"/>
          <p:cNvSpPr/>
          <p:nvPr/>
        </p:nvSpPr>
        <p:spPr>
          <a:xfrm>
            <a:off x="5440680" y="1362456"/>
            <a:ext cx="3429000" cy="621792"/>
          </a:xfrm>
          <a:prstGeom prst="rect">
            <a:avLst/>
          </a:prstGeom>
          <a:noFill/>
          <a:ln/>
        </p:spPr>
        <p:txBody>
          <a:bodyPr wrap="square" lIns="0" tIns="0" rIns="0" bIns="0" rtlCol="0" anchor="ctr"/>
          <a:lstStyle/>
          <a:p>
            <a:pPr indent="0" marL="0">
              <a:buNone/>
            </a:pPr>
            <a:r>
              <a:rPr lang="en-US" sz="1100" b="1" dirty="0">
                <a:solidFill>
                  <a:srgbClr val="1B2A3B"/>
                </a:solidFill>
              </a:rPr>
              <a:t>Quel type de réponse vous serait le plus utile ?</a:t>
            </a:r>
            <a:endParaRPr lang="en-US" sz="1100" dirty="0"/>
          </a:p>
        </p:txBody>
      </p:sp>
      <p:sp>
        <p:nvSpPr>
          <p:cNvPr id="16" name="Text 12"/>
          <p:cNvSpPr/>
          <p:nvPr/>
        </p:nvSpPr>
        <p:spPr>
          <a:xfrm>
            <a:off x="4956048" y="2075688"/>
            <a:ext cx="3858768" cy="566928"/>
          </a:xfrm>
          <a:prstGeom prst="rect">
            <a:avLst/>
          </a:prstGeom>
          <a:noFill/>
          <a:ln/>
        </p:spPr>
        <p:txBody>
          <a:bodyPr wrap="square" lIns="0" tIns="0" rIns="0" bIns="0" rtlCol="0" anchor="ctr"/>
          <a:lstStyle/>
          <a:p>
            <a:pPr indent="0" marL="0">
              <a:buNone/>
            </a:pPr>
            <a:r>
              <a:rPr lang="en-US" sz="950" i="1" dirty="0">
                <a:solidFill>
                  <a:srgbClr val="64748B"/>
                </a:solidFill>
              </a:rPr>
              <a:t>Diagnostic seulement ? Fix direct ? Contexte doc ? Workaround ?</a:t>
            </a:r>
            <a:endParaRPr lang="en-US" sz="950" dirty="0"/>
          </a:p>
        </p:txBody>
      </p:sp>
      <p:sp>
        <p:nvSpPr>
          <p:cNvPr id="17" name="Shape 13"/>
          <p:cNvSpPr/>
          <p:nvPr/>
        </p:nvSpPr>
        <p:spPr>
          <a:xfrm>
            <a:off x="365760" y="2971800"/>
            <a:ext cx="4224528" cy="15727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18" name="Shape 14"/>
          <p:cNvSpPr/>
          <p:nvPr/>
        </p:nvSpPr>
        <p:spPr>
          <a:xfrm>
            <a:off x="365760" y="2971800"/>
            <a:ext cx="64008" cy="1572768"/>
          </a:xfrm>
          <a:prstGeom prst="rect">
            <a:avLst/>
          </a:prstGeom>
          <a:solidFill>
            <a:srgbClr val="0D9488"/>
          </a:solidFill>
          <a:ln w="1270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566928" y="3172968"/>
            <a:ext cx="384048" cy="384048"/>
          </a:xfrm>
          <a:prstGeom prst="rect">
            <a:avLst/>
          </a:prstGeom>
        </p:spPr>
      </p:pic>
      <p:sp>
        <p:nvSpPr>
          <p:cNvPr id="20" name="Text 15"/>
          <p:cNvSpPr/>
          <p:nvPr/>
        </p:nvSpPr>
        <p:spPr>
          <a:xfrm>
            <a:off x="1051560" y="3099816"/>
            <a:ext cx="3429000" cy="621792"/>
          </a:xfrm>
          <a:prstGeom prst="rect">
            <a:avLst/>
          </a:prstGeom>
          <a:noFill/>
          <a:ln/>
        </p:spPr>
        <p:txBody>
          <a:bodyPr wrap="square" lIns="0" tIns="0" rIns="0" bIns="0" rtlCol="0" anchor="ctr"/>
          <a:lstStyle/>
          <a:p>
            <a:pPr indent="0" marL="0">
              <a:buNone/>
            </a:pPr>
            <a:r>
              <a:rPr lang="en-US" sz="1100" b="1" dirty="0">
                <a:solidFill>
                  <a:srgbClr val="1B2A3B"/>
                </a:solidFill>
              </a:rPr>
              <a:t>Comment mesurez-vous aujourd'hui la qualité d'une réponse support ?</a:t>
            </a:r>
            <a:endParaRPr lang="en-US" sz="1100" dirty="0"/>
          </a:p>
        </p:txBody>
      </p:sp>
      <p:sp>
        <p:nvSpPr>
          <p:cNvPr id="21" name="Text 16"/>
          <p:cNvSpPr/>
          <p:nvPr/>
        </p:nvSpPr>
        <p:spPr>
          <a:xfrm>
            <a:off x="566928" y="3813048"/>
            <a:ext cx="3858768" cy="566928"/>
          </a:xfrm>
          <a:prstGeom prst="rect">
            <a:avLst/>
          </a:prstGeom>
          <a:noFill/>
          <a:ln/>
        </p:spPr>
        <p:txBody>
          <a:bodyPr wrap="square" lIns="0" tIns="0" rIns="0" bIns="0" rtlCol="0" anchor="ctr"/>
          <a:lstStyle/>
          <a:p>
            <a:pPr indent="0" marL="0">
              <a:buNone/>
            </a:pPr>
            <a:r>
              <a:rPr lang="en-US" sz="950" i="1" dirty="0">
                <a:solidFill>
                  <a:srgbClr val="64748B"/>
                </a:solidFill>
              </a:rPr>
              <a:t>Critères de satisfaction client, temps de résolution, escalades...</a:t>
            </a:r>
            <a:endParaRPr lang="en-US" sz="950" dirty="0"/>
          </a:p>
        </p:txBody>
      </p:sp>
      <p:sp>
        <p:nvSpPr>
          <p:cNvPr id="22" name="Shape 17"/>
          <p:cNvSpPr/>
          <p:nvPr/>
        </p:nvSpPr>
        <p:spPr>
          <a:xfrm>
            <a:off x="4754880" y="2971800"/>
            <a:ext cx="4224528" cy="1572768"/>
          </a:xfrm>
          <a:prstGeom prst="rect">
            <a:avLst/>
          </a:prstGeom>
          <a:solidFill>
            <a:srgbClr val="FFFFFF"/>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3" name="Shape 18"/>
          <p:cNvSpPr/>
          <p:nvPr/>
        </p:nvSpPr>
        <p:spPr>
          <a:xfrm>
            <a:off x="4754880" y="2971800"/>
            <a:ext cx="64008" cy="1572768"/>
          </a:xfrm>
          <a:prstGeom prst="rect">
            <a:avLst/>
          </a:prstGeom>
          <a:solidFill>
            <a:srgbClr val="F59E0B"/>
          </a:solidFill>
          <a:ln w="12700">
            <a:solidFill>
              <a:srgbClr val="000000"/>
            </a:solidFill>
            <a:prstDash val="solid"/>
          </a:ln>
        </p:spPr>
      </p:sp>
      <p:pic>
        <p:nvPicPr>
          <p:cNvPr id="24" name="Image 3" descr="preencoded.png">    </p:cNvPr>
          <p:cNvPicPr>
            <a:picLocks noChangeAspect="1"/>
          </p:cNvPicPr>
          <p:nvPr/>
        </p:nvPicPr>
        <p:blipFill>
          <a:blip r:embed="rId4"/>
          <a:stretch>
            <a:fillRect/>
          </a:stretch>
        </p:blipFill>
        <p:spPr>
          <a:xfrm>
            <a:off x="4956048" y="3172968"/>
            <a:ext cx="384048" cy="384048"/>
          </a:xfrm>
          <a:prstGeom prst="rect">
            <a:avLst/>
          </a:prstGeom>
        </p:spPr>
      </p:pic>
      <p:sp>
        <p:nvSpPr>
          <p:cNvPr id="25" name="Text 19"/>
          <p:cNvSpPr/>
          <p:nvPr/>
        </p:nvSpPr>
        <p:spPr>
          <a:xfrm>
            <a:off x="5440680" y="3099816"/>
            <a:ext cx="3429000" cy="621792"/>
          </a:xfrm>
          <a:prstGeom prst="rect">
            <a:avLst/>
          </a:prstGeom>
          <a:noFill/>
          <a:ln/>
        </p:spPr>
        <p:txBody>
          <a:bodyPr wrap="square" lIns="0" tIns="0" rIns="0" bIns="0" rtlCol="0" anchor="ctr"/>
          <a:lstStyle/>
          <a:p>
            <a:pPr indent="0" marL="0">
              <a:buNone/>
            </a:pPr>
            <a:r>
              <a:rPr lang="en-US" sz="1100" b="1" dirty="0">
                <a:solidFill>
                  <a:srgbClr val="1B2A3B"/>
                </a:solidFill>
              </a:rPr>
              <a:t>Quelles limites sont acceptables pour cet outil ?</a:t>
            </a:r>
            <a:endParaRPr lang="en-US" sz="1100" dirty="0"/>
          </a:p>
        </p:txBody>
      </p:sp>
      <p:sp>
        <p:nvSpPr>
          <p:cNvPr id="26" name="Text 20"/>
          <p:cNvSpPr/>
          <p:nvPr/>
        </p:nvSpPr>
        <p:spPr>
          <a:xfrm>
            <a:off x="4956048" y="3813048"/>
            <a:ext cx="3858768" cy="566928"/>
          </a:xfrm>
          <a:prstGeom prst="rect">
            <a:avLst/>
          </a:prstGeom>
          <a:noFill/>
          <a:ln/>
        </p:spPr>
        <p:txBody>
          <a:bodyPr wrap="square" lIns="0" tIns="0" rIns="0" bIns="0" rtlCol="0" anchor="ctr"/>
          <a:lstStyle/>
          <a:p>
            <a:pPr indent="0" marL="0">
              <a:buNone/>
            </a:pPr>
            <a:r>
              <a:rPr lang="en-US" sz="950" i="1" dirty="0">
                <a:solidFill>
                  <a:srgbClr val="64748B"/>
                </a:solidFill>
              </a:rPr>
              <a:t>Niveau de détail attendu, sources à citer, cas où l'outil doit dire qu'il ne sait pas</a:t>
            </a:r>
            <a:endParaRPr lang="en-US" sz="950" dirty="0"/>
          </a:p>
        </p:txBody>
      </p:sp>
      <p:sp>
        <p:nvSpPr>
          <p:cNvPr id="27" name="Shape 21"/>
          <p:cNvSpPr/>
          <p:nvPr/>
        </p:nvSpPr>
        <p:spPr>
          <a:xfrm>
            <a:off x="365760" y="4809744"/>
            <a:ext cx="8412480" cy="237744"/>
          </a:xfrm>
          <a:prstGeom prst="rect">
            <a:avLst/>
          </a:prstGeom>
          <a:solidFill>
            <a:srgbClr val="F0FDFA"/>
          </a:solidFill>
          <a:ln w="9525">
            <a:solidFill>
              <a:srgbClr val="E2E8F0"/>
            </a:solidFill>
            <a:prstDash val="solid"/>
          </a:ln>
          <a:effectLst>
            <a:outerShdw sx="100000" sy="100000" kx="0" ky="0" algn="bl" rotWithShape="0" blurRad="101600" dist="38100" dir="8100000">
              <a:srgbClr val="000000">
                <a:alpha val="10000"/>
              </a:srgbClr>
            </a:outerShdw>
          </a:effectLst>
        </p:spPr>
      </p:sp>
      <p:sp>
        <p:nvSpPr>
          <p:cNvPr id="28" name="Text 22"/>
          <p:cNvSpPr/>
          <p:nvPr/>
        </p:nvSpPr>
        <p:spPr>
          <a:xfrm>
            <a:off x="502920" y="4828032"/>
            <a:ext cx="8119872" cy="201168"/>
          </a:xfrm>
          <a:prstGeom prst="rect">
            <a:avLst/>
          </a:prstGeom>
          <a:noFill/>
          <a:ln/>
        </p:spPr>
        <p:txBody>
          <a:bodyPr wrap="square" lIns="0" tIns="0" rIns="0" bIns="0" rtlCol="0" anchor="ctr"/>
          <a:lstStyle/>
          <a:p>
            <a:pPr algn="ctr" indent="0" marL="0">
              <a:buNone/>
            </a:pPr>
            <a:r>
              <a:rPr lang="en-US" sz="1000" b="1" dirty="0">
                <a:solidFill>
                  <a:srgbClr val="0D9488"/>
                </a:solidFill>
              </a:rPr>
              <a:t>Merci pour votre attention — toutes les questions sont les bienvenues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ST ChatGPT RAG — Equipe Support</dc:title>
  <dc:subject>PptxGenJS Presentation</dc:subject>
  <dc:creator>PptxGenJS</dc:creator>
  <cp:lastModifiedBy>PptxGenJS</cp:lastModifiedBy>
  <cp:revision>1</cp:revision>
  <dcterms:created xsi:type="dcterms:W3CDTF">2026-05-03T20:40:58Z</dcterms:created>
  <dcterms:modified xsi:type="dcterms:W3CDTF">2026-05-03T20:40:58Z</dcterms:modified>
</cp:coreProperties>
</file>