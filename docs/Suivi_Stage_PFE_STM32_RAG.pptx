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987" autoAdjust="0"/>
  </p:normalViewPr>
  <p:slideViewPr>
    <p:cSldViewPr snapToGrid="0" snapToObjects="1">
      <p:cViewPr>
        <p:scale>
          <a:sx n="82" d="100"/>
          <a:sy n="82" d="100"/>
        </p:scale>
        <p:origin x="1474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06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4209935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Résultats run 50 questions</a:t>
            </a:r>
          </a:p>
          <a:p>
            <a:endParaRPr lang="fr-FR" dirty="0"/>
          </a:p>
          <a:p>
            <a:r>
              <a:rPr lang="fr-FR" dirty="0"/>
              <a:t>50 questions exécutées</a:t>
            </a:r>
          </a:p>
          <a:p>
            <a:r>
              <a:rPr lang="fr-FR" dirty="0"/>
              <a:t>• 26 réponses générées (sans crash)</a:t>
            </a:r>
          </a:p>
          <a:p>
            <a:r>
              <a:rPr lang="fr-FR" dirty="0"/>
              <a:t>• 24 exceptions </a:t>
            </a:r>
            <a:r>
              <a:rPr lang="fr-FR" dirty="0" err="1"/>
              <a:t>runner</a:t>
            </a:r>
            <a:r>
              <a:rPr lang="fr-FR" dirty="0"/>
              <a:t> (à corriger)</a:t>
            </a:r>
          </a:p>
          <a:p>
            <a:endParaRPr lang="fr-FR" dirty="0"/>
          </a:p>
          <a:p>
            <a:r>
              <a:rPr lang="fr-FR" dirty="0"/>
              <a:t>Parmi les 26 réponses :</a:t>
            </a:r>
          </a:p>
          <a:p>
            <a:r>
              <a:rPr lang="fr-FR" dirty="0"/>
              <a:t>• 12 précises / actionnables</a:t>
            </a:r>
          </a:p>
          <a:p>
            <a:r>
              <a:rPr lang="fr-FR" dirty="0"/>
              <a:t>• 14 partielles</a:t>
            </a:r>
          </a:p>
          <a:p>
            <a:r>
              <a:rPr lang="fr-FR" dirty="0"/>
              <a:t>• 24/50 trop génériques (global)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STAGE — PFE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STM32Cube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plateforme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ChatGPT (RAG)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GitHub à l'assistant technique 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4206240"/>
            <a:ext cx="8942832" cy="9372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365760" y="4315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AMAMOU Mohamed Ridha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8275AAC-4E6B-AAA3-FC70-5394E1ACDD23}"/>
              </a:ext>
            </a:extLst>
          </p:cNvPr>
          <p:cNvSpPr txBox="1"/>
          <p:nvPr/>
        </p:nvSpPr>
        <p:spPr>
          <a:xfrm>
            <a:off x="457200" y="3755171"/>
            <a:ext cx="5178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 GHARBI</a:t>
            </a:r>
            <a:endParaRPr lang="en-US" sz="14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AE4BBA5-D767-ADBF-38F0-C2D6B0E2363E}"/>
              </a:ext>
            </a:extLst>
          </p:cNvPr>
          <p:cNvSpPr txBox="1"/>
          <p:nvPr/>
        </p:nvSpPr>
        <p:spPr>
          <a:xfrm>
            <a:off x="365760" y="4640354"/>
            <a:ext cx="5178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STMicroelectronics Tunis   </a:t>
            </a:r>
            <a:endParaRPr lang="fr-T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57200" y="94183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941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métier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3327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KB · Data Source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57200" y="2953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33272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33272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données traitées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PRs, PDFs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4892040" y="94183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68112" y="941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spécialisés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Agent · PDF Vision Agent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1" name="Shape 29"/>
          <p:cNvSpPr/>
          <p:nvPr/>
        </p:nvSpPr>
        <p:spPr>
          <a:xfrm>
            <a:off x="4754880" y="187452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4892040" y="194767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68112" y="1947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actuel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&amp; résultats tests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4754880" y="28803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4892040" y="295351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68112" y="2953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faire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concret &amp; critères de validation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1148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4754880" y="3886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892040" y="3959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68112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échanges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68112" y="4343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&amp; priorisation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40690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517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" y="15087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technique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déjà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60604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dispersée dans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docs, release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370332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n'est pas facilement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51760" cy="40690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6517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4"/>
          <p:cNvSpPr/>
          <p:nvPr/>
        </p:nvSpPr>
        <p:spPr>
          <a:xfrm>
            <a:off x="329184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4992" y="150876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3703320" y="14630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difficiles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exploiter directement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64992" y="260604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370332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structure commune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issues, fichiers, PRs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3703320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3703320" y="36576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incohérents selon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formulation des questions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868680"/>
            <a:ext cx="2651760" cy="40690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6080760" y="868680"/>
            <a:ext cx="26517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6172200" y="8686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45352" y="15087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6583680" y="14630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de haute qualité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45352" y="260604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6583680" y="25603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l’investigation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récurrents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nouveaux 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37033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6583680" y="36576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l'assistance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au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ST ChatGPT — Fonctionnement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0" y="2148840"/>
            <a:ext cx="502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377440" y="2093976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3977640" y="2148840"/>
            <a:ext cx="502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4343400" y="2093976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5943600" y="2148840"/>
            <a:ext cx="502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6309360" y="2093976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7909560" y="2148840"/>
            <a:ext cx="5029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Shape 10"/>
          <p:cNvSpPr/>
          <p:nvPr/>
        </p:nvSpPr>
        <p:spPr>
          <a:xfrm>
            <a:off x="8275320" y="2093976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347472" y="15544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2075688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</a:t>
            </a:r>
            <a:r>
              <a:rPr lang="en-US" sz="95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PRs, Commits,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resolver cases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0280" y="141732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2333326" y="1380744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22576" y="1642424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PARENT_CHILD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06240" y="141732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4279392" y="15544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79392" y="2075688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6245352" y="15544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45352" y="2075688"/>
            <a:ext cx="15910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3794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Mon travail : préparer les Data Sources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RAG en arrière-plan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45720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" y="40507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reçue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06040" y="4069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260604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07792" y="40507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dans KB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069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475488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56632" y="40507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passages pertinents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03720" y="4069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6903720" y="4069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05472" y="40507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réponse sourçée</a:t>
            </a:r>
            <a:endParaRPr lang="en-US" sz="95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3236B761-6BD6-9368-5E26-410097F0D542}"/>
              </a:ext>
            </a:extLst>
          </p:cNvPr>
          <p:cNvSpPr txBox="1"/>
          <p:nvPr/>
        </p:nvSpPr>
        <p:spPr>
          <a:xfrm>
            <a:off x="2298951" y="2061415"/>
            <a:ext cx="21472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800" dirty="0">
              <a:solidFill>
                <a:srgbClr val="FFC000"/>
              </a:solidFill>
            </a:endParaRPr>
          </a:p>
          <a:p>
            <a:r>
              <a:rPr lang="fr-FR" sz="800" dirty="0">
                <a:solidFill>
                  <a:srgbClr val="FFC000"/>
                </a:solidFill>
              </a:rPr>
              <a:t>• Parent = contexte long (≈3000)</a:t>
            </a:r>
          </a:p>
          <a:p>
            <a:r>
              <a:rPr lang="fr-FR" sz="800" dirty="0">
                <a:solidFill>
                  <a:srgbClr val="FFC000"/>
                </a:solidFill>
              </a:rPr>
              <a:t>• Child = passages courts (≈1000)</a:t>
            </a:r>
          </a:p>
          <a:p>
            <a:r>
              <a:rPr lang="fr-FR" sz="800" dirty="0">
                <a:solidFill>
                  <a:srgbClr val="FFC000"/>
                </a:solidFill>
                <a:sym typeface="Wingdings" panose="05000000000000000000" pitchFamily="2" charset="2"/>
              </a:rPr>
              <a:t> </a:t>
            </a:r>
            <a:r>
              <a:rPr lang="fr-FR" sz="800" dirty="0">
                <a:solidFill>
                  <a:srgbClr val="FFC000"/>
                </a:solidFill>
              </a:rPr>
              <a:t>Recherche sur </a:t>
            </a:r>
            <a:r>
              <a:rPr lang="fr-FR" sz="800" dirty="0" err="1">
                <a:solidFill>
                  <a:srgbClr val="FFC000"/>
                </a:solidFill>
              </a:rPr>
              <a:t>child</a:t>
            </a:r>
            <a:r>
              <a:rPr lang="fr-FR" sz="800" dirty="0">
                <a:solidFill>
                  <a:srgbClr val="FFC000"/>
                </a:solidFill>
              </a:rPr>
              <a:t>, </a:t>
            </a:r>
          </a:p>
          <a:p>
            <a:r>
              <a:rPr lang="fr-FR" sz="800" dirty="0">
                <a:solidFill>
                  <a:srgbClr val="FFC000"/>
                </a:solidFill>
              </a:rPr>
              <a:t>réponse avec parent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5CE4-DA0C-33CA-A40A-8454A769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666ABA7-6181-E177-ECC4-41ABD90A77F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689AF-A9BE-2805-2184-9FA6A32D742C}"/>
              </a:ext>
            </a:extLst>
          </p:cNvPr>
          <p:cNvSpPr txBox="1"/>
          <p:nvPr/>
        </p:nvSpPr>
        <p:spPr>
          <a:xfrm>
            <a:off x="252548" y="122884"/>
            <a:ext cx="37936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dirty="0">
                <a:solidFill>
                  <a:schemeClr val="bg1"/>
                </a:solidFill>
              </a:rPr>
              <a:t>Data Preprocessing (pour RAG)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1652F0D-4F90-BFA5-B0E0-BFAFA4244171}"/>
              </a:ext>
            </a:extLst>
          </p:cNvPr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D1568AF-B5E4-79C1-2AB0-B13C1A8FE895}"/>
              </a:ext>
            </a:extLst>
          </p:cNvPr>
          <p:cNvSpPr/>
          <p:nvPr/>
        </p:nvSpPr>
        <p:spPr>
          <a:xfrm flipV="1">
            <a:off x="4071256" y="1687815"/>
            <a:ext cx="1702307" cy="438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26D47D-9E9E-4792-D1A1-677BB1D8A9B8}"/>
              </a:ext>
            </a:extLst>
          </p:cNvPr>
          <p:cNvSpPr/>
          <p:nvPr/>
        </p:nvSpPr>
        <p:spPr>
          <a:xfrm>
            <a:off x="5365650" y="1619794"/>
            <a:ext cx="1371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157BF24-5DBC-8714-E149-2F8D73289D60}"/>
              </a:ext>
            </a:extLst>
          </p:cNvPr>
          <p:cNvSpPr/>
          <p:nvPr/>
        </p:nvSpPr>
        <p:spPr>
          <a:xfrm>
            <a:off x="775524" y="960678"/>
            <a:ext cx="3310213" cy="1574496"/>
          </a:xfrm>
          <a:prstGeom prst="roundRect">
            <a:avLst>
              <a:gd name="adj" fmla="val 7500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F38BEE9-FC64-66FE-CBEF-98E88374495C}"/>
              </a:ext>
            </a:extLst>
          </p:cNvPr>
          <p:cNvSpPr/>
          <p:nvPr/>
        </p:nvSpPr>
        <p:spPr>
          <a:xfrm>
            <a:off x="1635102" y="943137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1319969-26F0-438C-1FC4-DB4FD41AF1A8}"/>
              </a:ext>
            </a:extLst>
          </p:cNvPr>
          <p:cNvSpPr/>
          <p:nvPr/>
        </p:nvSpPr>
        <p:spPr>
          <a:xfrm>
            <a:off x="5228489" y="943137"/>
            <a:ext cx="3288493" cy="1592037"/>
          </a:xfrm>
          <a:prstGeom prst="roundRect">
            <a:avLst>
              <a:gd name="adj" fmla="val 7500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C4F51BF-FE07-29E9-33CD-B248B9CE2887}"/>
              </a:ext>
            </a:extLst>
          </p:cNvPr>
          <p:cNvSpPr/>
          <p:nvPr/>
        </p:nvSpPr>
        <p:spPr>
          <a:xfrm>
            <a:off x="5960650" y="1046325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critique  </a:t>
            </a:r>
            <a:endParaRPr lang="en-US" sz="12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811F9B9-E962-0813-4FB9-072EB4D9BFEB}"/>
              </a:ext>
            </a:extLst>
          </p:cNvPr>
          <p:cNvSpPr txBox="1"/>
          <p:nvPr/>
        </p:nvSpPr>
        <p:spPr>
          <a:xfrm>
            <a:off x="940526" y="1481016"/>
            <a:ext cx="28599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dirty="0">
                <a:solidFill>
                  <a:schemeClr val="bg1"/>
                </a:solidFill>
              </a:rPr>
              <a:t>Transformation des données brutes en contenus structurés exploitables par un moteur RAG.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7BA5F6D-3A86-703F-D63B-6F61B7972306}"/>
              </a:ext>
            </a:extLst>
          </p:cNvPr>
          <p:cNvSpPr txBox="1"/>
          <p:nvPr/>
        </p:nvSpPr>
        <p:spPr>
          <a:xfrm>
            <a:off x="5400484" y="1582554"/>
            <a:ext cx="2894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dirty="0">
                <a:solidFill>
                  <a:schemeClr val="bg1"/>
                </a:solidFill>
              </a:rPr>
              <a:t> La qualité du </a:t>
            </a:r>
            <a:r>
              <a:rPr lang="fr-FR" sz="1400" dirty="0" err="1">
                <a:solidFill>
                  <a:schemeClr val="bg1"/>
                </a:solidFill>
              </a:rPr>
              <a:t>preprocessing</a:t>
            </a:r>
            <a:r>
              <a:rPr lang="fr-FR" sz="1400" dirty="0">
                <a:solidFill>
                  <a:schemeClr val="bg1"/>
                </a:solidFill>
              </a:rPr>
              <a:t> détermine directement la qualité du </a:t>
            </a:r>
            <a:r>
              <a:rPr lang="fr-FR" sz="1400" dirty="0" err="1">
                <a:solidFill>
                  <a:schemeClr val="bg1"/>
                </a:solidFill>
              </a:rPr>
              <a:t>retrieval</a:t>
            </a:r>
            <a:r>
              <a:rPr lang="fr-FR" sz="1400" dirty="0">
                <a:solidFill>
                  <a:schemeClr val="bg1"/>
                </a:solidFill>
              </a:rPr>
              <a:t> et donc des réponses.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DB690AB-A26F-3332-E20A-2A4A5169A8EF}"/>
              </a:ext>
            </a:extLst>
          </p:cNvPr>
          <p:cNvSpPr txBox="1"/>
          <p:nvPr/>
        </p:nvSpPr>
        <p:spPr>
          <a:xfrm>
            <a:off x="174171" y="2835547"/>
            <a:ext cx="87608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fr-FR" sz="1400" i="1" dirty="0"/>
              <a:t>• </a:t>
            </a:r>
            <a:r>
              <a:rPr lang="fr-FR" sz="1400" b="1" i="1" u="sng" dirty="0">
                <a:solidFill>
                  <a:srgbClr val="0D9488"/>
                </a:solidFill>
              </a:rPr>
              <a:t>Étapes standard</a:t>
            </a:r>
            <a:r>
              <a:rPr lang="fr-FR" sz="1400" i="1" dirty="0"/>
              <a:t> : </a:t>
            </a:r>
            <a:r>
              <a:rPr lang="fr-FR" sz="1400" dirty="0"/>
              <a:t>collecte → </a:t>
            </a:r>
            <a:r>
              <a:rPr lang="fr-FR" sz="1400" dirty="0" err="1"/>
              <a:t>cleaning</a:t>
            </a:r>
            <a:r>
              <a:rPr lang="fr-FR" sz="1400" dirty="0"/>
              <a:t> → normalisation → structuration → enrichissement → </a:t>
            </a:r>
            <a:r>
              <a:rPr lang="fr-FR" sz="1400" dirty="0" err="1"/>
              <a:t>chunking</a:t>
            </a:r>
            <a:r>
              <a:rPr lang="fr-FR" sz="1400" dirty="0"/>
              <a:t> → validation → export.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i="1" u="sng" dirty="0">
                <a:solidFill>
                  <a:srgbClr val="0D9488"/>
                </a:solidFill>
              </a:rPr>
              <a:t> </a:t>
            </a:r>
            <a:r>
              <a:rPr lang="fr-FR" sz="1400" b="1" i="1" u="sng" dirty="0" err="1">
                <a:solidFill>
                  <a:srgbClr val="0D9488"/>
                </a:solidFill>
              </a:rPr>
              <a:t>Cleaning</a:t>
            </a:r>
            <a:r>
              <a:rPr lang="fr-FR" sz="1400" b="1" i="1" u="sng" dirty="0">
                <a:solidFill>
                  <a:srgbClr val="0D9488"/>
                </a:solidFill>
              </a:rPr>
              <a:t> </a:t>
            </a:r>
            <a:r>
              <a:rPr lang="fr-FR" sz="1400" dirty="0"/>
              <a:t>: supprimer bruit (HTML, logs inutiles...), gérer images/liens, concaténer </a:t>
            </a:r>
            <a:r>
              <a:rPr lang="fr-FR" sz="1400" dirty="0" err="1"/>
              <a:t>issue+comments</a:t>
            </a:r>
            <a:r>
              <a:rPr lang="fr-FR" sz="1400" dirty="0"/>
              <a:t>, </a:t>
            </a:r>
            <a:r>
              <a:rPr lang="fr-FR" sz="1400" dirty="0" err="1"/>
              <a:t>ect</a:t>
            </a:r>
            <a:r>
              <a:rPr lang="fr-FR" sz="1400" dirty="0"/>
              <a:t> ..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dirty="0"/>
              <a:t> </a:t>
            </a:r>
            <a:r>
              <a:rPr lang="fr-FR" sz="1400" b="1" i="1" u="sng" dirty="0">
                <a:solidFill>
                  <a:srgbClr val="0D9488"/>
                </a:solidFill>
              </a:rPr>
              <a:t>Normalisation</a:t>
            </a:r>
            <a:r>
              <a:rPr lang="fr-FR" sz="1400" b="1" dirty="0"/>
              <a:t> </a:t>
            </a:r>
            <a:r>
              <a:rPr lang="fr-FR" sz="1400" dirty="0"/>
              <a:t>: uniformiser formats repo/</a:t>
            </a:r>
            <a:r>
              <a:rPr lang="fr-FR" sz="1400" dirty="0" err="1"/>
              <a:t>path</a:t>
            </a:r>
            <a:r>
              <a:rPr lang="fr-FR" sz="1400" dirty="0"/>
              <a:t>, dates, champs, vocabulaire technique (HAL, DMA, USB...).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dirty="0"/>
              <a:t> </a:t>
            </a:r>
            <a:r>
              <a:rPr lang="fr-FR" sz="1400" b="1" i="1" u="sng" dirty="0">
                <a:solidFill>
                  <a:srgbClr val="0D9488"/>
                </a:solidFill>
              </a:rPr>
              <a:t>Structuration</a:t>
            </a:r>
            <a:r>
              <a:rPr lang="fr-FR" sz="1400" b="1" dirty="0"/>
              <a:t> </a:t>
            </a:r>
            <a:r>
              <a:rPr lang="fr-FR" sz="1400" dirty="0"/>
              <a:t>: organiser l’information en sections (</a:t>
            </a:r>
            <a:r>
              <a:rPr lang="fr-FR" sz="1400" dirty="0" err="1"/>
              <a:t>Problem</a:t>
            </a:r>
            <a:r>
              <a:rPr lang="fr-FR" sz="1400" dirty="0"/>
              <a:t> / </a:t>
            </a:r>
            <a:r>
              <a:rPr lang="fr-FR" sz="1400" dirty="0" err="1"/>
              <a:t>Context</a:t>
            </a:r>
            <a:r>
              <a:rPr lang="fr-FR" sz="1400" dirty="0"/>
              <a:t> / Root cause / Fix / </a:t>
            </a:r>
            <a:r>
              <a:rPr lang="fr-FR" sz="1400" dirty="0" err="1"/>
              <a:t>Constraints</a:t>
            </a:r>
            <a:r>
              <a:rPr lang="fr-FR" sz="1400" dirty="0"/>
              <a:t>...).</a:t>
            </a:r>
          </a:p>
          <a:p>
            <a:pPr>
              <a:defRPr sz="2000"/>
            </a:pPr>
            <a:r>
              <a:rPr lang="fr-FR" sz="1400" dirty="0"/>
              <a:t>•</a:t>
            </a:r>
            <a:r>
              <a:rPr lang="fr-FR" sz="1400" b="1" i="1" u="sng" dirty="0">
                <a:solidFill>
                  <a:srgbClr val="0D9488"/>
                </a:solidFill>
              </a:rPr>
              <a:t> Enrichissement</a:t>
            </a:r>
            <a:r>
              <a:rPr lang="fr-FR" sz="1400" b="1" i="1" u="sng" dirty="0"/>
              <a:t> </a:t>
            </a:r>
            <a:r>
              <a:rPr lang="fr-FR" sz="1400" dirty="0"/>
              <a:t>: ajout </a:t>
            </a:r>
            <a:r>
              <a:rPr lang="fr-FR" sz="1400" dirty="0" err="1"/>
              <a:t>metadata</a:t>
            </a:r>
            <a:r>
              <a:rPr lang="fr-FR" sz="1400" dirty="0"/>
              <a:t> (</a:t>
            </a:r>
            <a:r>
              <a:rPr lang="fr-FR" sz="1400" dirty="0" err="1"/>
              <a:t>board</a:t>
            </a:r>
            <a:r>
              <a:rPr lang="fr-FR" sz="1400" dirty="0"/>
              <a:t>, component, layer, </a:t>
            </a:r>
            <a:r>
              <a:rPr lang="fr-FR" sz="1400" dirty="0" err="1"/>
              <a:t>severity</a:t>
            </a:r>
            <a:r>
              <a:rPr lang="fr-FR" sz="1400" dirty="0"/>
              <a:t>, </a:t>
            </a:r>
            <a:r>
              <a:rPr lang="fr-FR" sz="1400" dirty="0" err="1"/>
              <a:t>issue_kind</a:t>
            </a:r>
            <a:r>
              <a:rPr lang="fr-FR" sz="1400" dirty="0"/>
              <a:t>) + liens PR/commit</a:t>
            </a:r>
          </a:p>
          <a:p>
            <a:pPr>
              <a:defRPr sz="2000"/>
            </a:pPr>
            <a:r>
              <a:rPr lang="fr-FR" sz="1400" dirty="0"/>
              <a:t> → meilleure recherche.</a:t>
            </a:r>
          </a:p>
          <a:p>
            <a:pPr>
              <a:defRPr sz="2000"/>
            </a:pPr>
            <a:r>
              <a:rPr lang="fr-FR" sz="1400" dirty="0"/>
              <a:t>• </a:t>
            </a:r>
            <a:r>
              <a:rPr lang="fr-FR" sz="1400" b="1" i="1" u="sng" dirty="0">
                <a:solidFill>
                  <a:srgbClr val="0D9488"/>
                </a:solidFill>
              </a:rPr>
              <a:t>Validation</a:t>
            </a:r>
            <a:r>
              <a:rPr lang="fr-FR" sz="1400" dirty="0"/>
              <a:t> : contrôle schéma JSON + cohérence champs + benchmark (run 50Q) pour mesurer la qualité.</a:t>
            </a:r>
          </a:p>
          <a:p>
            <a:pPr>
              <a:defRPr sz="2000"/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2661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pipeline — Vue d'ensemble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15568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310896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fetch_issues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fetch_files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89888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1481328" y="914400"/>
            <a:ext cx="1115568" cy="1417320"/>
          </a:xfrm>
          <a:prstGeom prst="rect">
            <a:avLst/>
          </a:prstGeom>
          <a:solidFill>
            <a:srgbClr val="1A4B6D"/>
          </a:solidFill>
          <a:ln w="12700">
            <a:solidFill>
              <a:srgbClr val="1A4B6D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1517904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17904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96896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2688336" y="914400"/>
            <a:ext cx="1115568" cy="1417320"/>
          </a:xfrm>
          <a:prstGeom prst="rect">
            <a:avLst/>
          </a:prstGeom>
          <a:solidFill>
            <a:srgbClr val="15596B"/>
          </a:solidFill>
          <a:ln w="12700">
            <a:solidFill>
              <a:srgbClr val="15596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2724912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board/component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layer/severity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3895344" y="914400"/>
            <a:ext cx="111556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3931920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related_issue_ids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10912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5102352" y="914400"/>
            <a:ext cx="1115568" cy="1417320"/>
          </a:xfrm>
          <a:prstGeom prst="rect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5138928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38928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paragraphes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v2 JSON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6309360" y="914400"/>
            <a:ext cx="111556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6345936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45936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cohérence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50Q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24928" y="162306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7516368" y="914400"/>
            <a:ext cx="1115568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7552944" y="98755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52944" y="1417320"/>
            <a:ext cx="1042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 JSON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livraison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542032"/>
            <a:ext cx="41148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Text 31"/>
          <p:cNvSpPr/>
          <p:nvPr/>
        </p:nvSpPr>
        <p:spPr>
          <a:xfrm>
            <a:off x="347472" y="257860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(docs_issues_v2 / docs_files_v2) — source de vérité riche en metadata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542032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4828032" y="257860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Format ST-ready  (st_ready_issues / st_ready_files) — adapté au moteur RAG 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7" name="Shape 35"/>
          <p:cNvSpPr/>
          <p:nvPr/>
        </p:nvSpPr>
        <p:spPr>
          <a:xfrm>
            <a:off x="274320" y="3154680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36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st_ready_text (issues) — champs exposés au moteur RAG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6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54864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51760" y="36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269748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6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484632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36118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44"/>
          <p:cNvSpPr/>
          <p:nvPr/>
        </p:nvSpPr>
        <p:spPr>
          <a:xfrm>
            <a:off x="6995160" y="3611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0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8" name="Text 46"/>
          <p:cNvSpPr/>
          <p:nvPr/>
        </p:nvSpPr>
        <p:spPr>
          <a:xfrm>
            <a:off x="548640" y="40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51760" y="40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2697480" y="40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40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4846320" y="40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40690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4" name="Text 52"/>
          <p:cNvSpPr/>
          <p:nvPr/>
        </p:nvSpPr>
        <p:spPr>
          <a:xfrm>
            <a:off x="6995160" y="4069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données traitées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 STM32Cube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258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body, labels, state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/ closed_at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context technique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image_urls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: STM32CubeH7, H5...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773168" y="86868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(racine &amp; sous-dossiers)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(.html/.md)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(texte)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sous Documentation/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Projects/**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384048" y="306324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&amp; Commits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520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raw_prs_&lt;repo&gt;.json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raw_commits_&lt;repo&gt;.json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issue ↔ PR ↔ commit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link_score + confidence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resolution_status (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merged_fix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2011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148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4773168" y="3063240"/>
            <a:ext cx="3895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Cases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520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resolver_cases structurés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resolver_card_text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PRs + evidence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pattern tags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'patterns de 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spécialisés du projet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329184" y="868680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08760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dédié à l'analyse et documentation du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2257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411480" y="23225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3500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de données et sorties JSON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29169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schémas de données, résultats de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348386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structuration / chunking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08760" y="40507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documentaire + lisibilité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54864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4809744" y="868680"/>
            <a:ext cx="405993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864608" y="8686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1755648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4864608" y="17556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17830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figures &amp; schémas extraits des PDFs techniques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64608" y="2322576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4864608" y="23225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61888" y="235000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2889504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4864608" y="28895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61888" y="291693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/ diagrammes des PDFs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3456432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38"/>
          <p:cNvSpPr/>
          <p:nvPr/>
        </p:nvSpPr>
        <p:spPr>
          <a:xfrm>
            <a:off x="4864608" y="3456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61888" y="348386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textuelles techniques injectables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64608" y="4023360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Text 41"/>
          <p:cNvSpPr/>
          <p:nvPr/>
        </p:nvSpPr>
        <p:spPr>
          <a:xfrm>
            <a:off x="4864608" y="4023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61888" y="40507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perdre l'info dans les schémas PDF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983480"/>
            <a:ext cx="859536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44"/>
          <p:cNvSpPr/>
          <p:nvPr/>
        </p:nvSpPr>
        <p:spPr>
          <a:xfrm>
            <a:off x="4114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PDF multimodal 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883806" y="5029200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texte →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70791" y="5029200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pages images →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05073" y="5029200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figures →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38928" y="5029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61888" y="5029767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JSONL →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90660" y="5029200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JSON →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78193" y="5029200"/>
            <a:ext cx="132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Réinjection enrichi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actuel — Indicateurs &amp; résultats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659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techniques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1965960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254203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196596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473659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3659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de test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(jeu de référence)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1965960" cy="13716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6858000" y="868680"/>
            <a:ext cx="1965960" cy="1280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6931152" y="1024128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31152" y="166420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cards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4142232" cy="27203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54864" cy="2468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run 50 questions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9077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réussis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2971800"/>
            <a:ext cx="2286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1920240" y="2971800"/>
            <a:ext cx="1331366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3297326" y="297180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015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exceptions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3465576"/>
            <a:ext cx="2286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Shape 28"/>
          <p:cNvSpPr/>
          <p:nvPr/>
        </p:nvSpPr>
        <p:spPr>
          <a:xfrm>
            <a:off x="1920240" y="3465576"/>
            <a:ext cx="1228954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3194914" y="3465576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24/50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8953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génériques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3959352"/>
            <a:ext cx="2286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1920240" y="3959352"/>
            <a:ext cx="118168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3147646" y="395935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précises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920240" y="4453128"/>
            <a:ext cx="2286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Shape 36"/>
          <p:cNvSpPr/>
          <p:nvPr/>
        </p:nvSpPr>
        <p:spPr>
          <a:xfrm>
            <a:off x="1920240" y="4453128"/>
            <a:ext cx="1378634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Text 37"/>
          <p:cNvSpPr/>
          <p:nvPr/>
        </p:nvSpPr>
        <p:spPr>
          <a:xfrm>
            <a:off x="3344594" y="445312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423159"/>
            <a:ext cx="4343400" cy="2720341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4522842" y="2423160"/>
            <a:ext cx="54864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754880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déjà été livré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290779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4736592" y="29077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56048" y="2822023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: ingestion → delivery opérationnel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36592" y="3291840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45"/>
          <p:cNvSpPr/>
          <p:nvPr/>
        </p:nvSpPr>
        <p:spPr>
          <a:xfrm>
            <a:off x="4736592" y="32918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56048" y="3206071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fichiers + PRs/commits intégrés dans la KB 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36592" y="367588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48"/>
          <p:cNvSpPr/>
          <p:nvPr/>
        </p:nvSpPr>
        <p:spPr>
          <a:xfrm>
            <a:off x="4736592" y="36758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56048" y="3590119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50 questions de test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cadré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36592" y="405993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4736592" y="40599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56048" y="3974167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diagnostic cards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36592" y="444398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6" name="Text 54"/>
          <p:cNvSpPr/>
          <p:nvPr/>
        </p:nvSpPr>
        <p:spPr>
          <a:xfrm>
            <a:off x="4736592" y="4443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56048" y="4358215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agents spécialisés définis et opérationnels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36592" y="482803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9" name="Text 57"/>
          <p:cNvSpPr/>
          <p:nvPr/>
        </p:nvSpPr>
        <p:spPr>
          <a:xfrm>
            <a:off x="4736592" y="4828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56048" y="4742263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 ChatGPT — Comparaison A vs 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= Issues uniquement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/>
          <p:nvPr/>
        </p:nvSpPr>
        <p:spPr>
          <a:xfrm>
            <a:off x="4754880" y="8869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= issues + Fichiers techniques</a:t>
            </a:r>
            <a:endParaRPr lang="en-US" sz="1100" dirty="0"/>
          </a:p>
        </p:txBody>
      </p:sp>
      <p:sp>
        <p:nvSpPr>
          <p:cNvPr id="29" name="Shape 7"/>
          <p:cNvSpPr/>
          <p:nvPr/>
        </p:nvSpPr>
        <p:spPr>
          <a:xfrm>
            <a:off x="274320" y="1444752"/>
            <a:ext cx="1445455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8"/>
          <p:cNvSpPr/>
          <p:nvPr/>
        </p:nvSpPr>
        <p:spPr>
          <a:xfrm>
            <a:off x="365760" y="1609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issues</a:t>
            </a:r>
            <a:endParaRPr lang="en-US" sz="1100" dirty="0"/>
          </a:p>
        </p:txBody>
      </p:sp>
      <p:sp>
        <p:nvSpPr>
          <p:cNvPr id="31" name="Shape 9"/>
          <p:cNvSpPr/>
          <p:nvPr/>
        </p:nvSpPr>
        <p:spPr>
          <a:xfrm>
            <a:off x="4663440" y="1444752"/>
            <a:ext cx="1536192" cy="68580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10"/>
          <p:cNvSpPr/>
          <p:nvPr/>
        </p:nvSpPr>
        <p:spPr>
          <a:xfrm>
            <a:off x="4800600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Très bon</a:t>
            </a:r>
            <a:endParaRPr lang="en-US" sz="1200" dirty="0"/>
          </a:p>
        </p:txBody>
      </p:sp>
      <p:sp>
        <p:nvSpPr>
          <p:cNvPr id="33" name="Shape 11"/>
          <p:cNvSpPr/>
          <p:nvPr/>
        </p:nvSpPr>
        <p:spPr>
          <a:xfrm>
            <a:off x="2852928" y="1444752"/>
            <a:ext cx="1536192" cy="68580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12"/>
          <p:cNvSpPr/>
          <p:nvPr/>
        </p:nvSpPr>
        <p:spPr>
          <a:xfrm>
            <a:off x="3309425" y="160793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Très bon</a:t>
            </a:r>
            <a:endParaRPr lang="en-US" sz="1200" dirty="0"/>
          </a:p>
        </p:txBody>
      </p:sp>
      <p:sp>
        <p:nvSpPr>
          <p:cNvPr id="35" name="Shape 13"/>
          <p:cNvSpPr/>
          <p:nvPr/>
        </p:nvSpPr>
        <p:spPr>
          <a:xfrm>
            <a:off x="274320" y="2359152"/>
            <a:ext cx="1445455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14"/>
          <p:cNvSpPr/>
          <p:nvPr/>
        </p:nvSpPr>
        <p:spPr>
          <a:xfrm>
            <a:off x="365760" y="25237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fichiers</a:t>
            </a:r>
            <a:endParaRPr lang="en-US" sz="1100" dirty="0"/>
          </a:p>
        </p:txBody>
      </p:sp>
      <p:sp>
        <p:nvSpPr>
          <p:cNvPr id="37" name="Shape 15"/>
          <p:cNvSpPr/>
          <p:nvPr/>
        </p:nvSpPr>
        <p:spPr>
          <a:xfrm>
            <a:off x="4663440" y="2359152"/>
            <a:ext cx="1536192" cy="68580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16"/>
          <p:cNvSpPr/>
          <p:nvPr/>
        </p:nvSpPr>
        <p:spPr>
          <a:xfrm>
            <a:off x="4800600" y="25237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Gain fort</a:t>
            </a:r>
            <a:endParaRPr lang="en-US" sz="1200" dirty="0"/>
          </a:p>
        </p:txBody>
      </p:sp>
      <p:sp>
        <p:nvSpPr>
          <p:cNvPr id="39" name="Shape 17"/>
          <p:cNvSpPr/>
          <p:nvPr/>
        </p:nvSpPr>
        <p:spPr>
          <a:xfrm>
            <a:off x="2852928" y="2359152"/>
            <a:ext cx="1536192" cy="6858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Text 18"/>
          <p:cNvSpPr/>
          <p:nvPr/>
        </p:nvSpPr>
        <p:spPr>
          <a:xfrm>
            <a:off x="3309425" y="255891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Échoue</a:t>
            </a:r>
            <a:endParaRPr lang="en-US" sz="1200" dirty="0"/>
          </a:p>
        </p:txBody>
      </p:sp>
      <p:sp>
        <p:nvSpPr>
          <p:cNvPr id="41" name="Shape 19"/>
          <p:cNvSpPr/>
          <p:nvPr/>
        </p:nvSpPr>
        <p:spPr>
          <a:xfrm>
            <a:off x="274320" y="3273552"/>
            <a:ext cx="1445455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20"/>
          <p:cNvSpPr/>
          <p:nvPr/>
        </p:nvSpPr>
        <p:spPr>
          <a:xfrm>
            <a:off x="365760" y="3438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mixtes</a:t>
            </a:r>
            <a:endParaRPr lang="en-US" sz="1100" dirty="0"/>
          </a:p>
        </p:txBody>
      </p:sp>
      <p:sp>
        <p:nvSpPr>
          <p:cNvPr id="43" name="Shape 21"/>
          <p:cNvSpPr/>
          <p:nvPr/>
        </p:nvSpPr>
        <p:spPr>
          <a:xfrm>
            <a:off x="4663440" y="3273552"/>
            <a:ext cx="1536192" cy="6858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22"/>
          <p:cNvSpPr/>
          <p:nvPr/>
        </p:nvSpPr>
        <p:spPr>
          <a:xfrm>
            <a:off x="480060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Meilleur</a:t>
            </a:r>
            <a:endParaRPr lang="en-US" sz="1200" dirty="0"/>
          </a:p>
        </p:txBody>
      </p:sp>
      <p:sp>
        <p:nvSpPr>
          <p:cNvPr id="45" name="Shape 23"/>
          <p:cNvSpPr/>
          <p:nvPr/>
        </p:nvSpPr>
        <p:spPr>
          <a:xfrm>
            <a:off x="2852928" y="3273552"/>
            <a:ext cx="1536192" cy="685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Text 24"/>
          <p:cNvSpPr/>
          <p:nvPr/>
        </p:nvSpPr>
        <p:spPr>
          <a:xfrm>
            <a:off x="3309425" y="343181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Partiel</a:t>
            </a:r>
            <a:endParaRPr lang="en-US" sz="1200" dirty="0"/>
          </a:p>
        </p:txBody>
      </p:sp>
      <p:sp>
        <p:nvSpPr>
          <p:cNvPr id="47" name="Shape 25"/>
          <p:cNvSpPr/>
          <p:nvPr/>
        </p:nvSpPr>
        <p:spPr>
          <a:xfrm>
            <a:off x="274320" y="4279392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8" name="Text 26"/>
          <p:cNvSpPr/>
          <p:nvPr/>
        </p:nvSpPr>
        <p:spPr>
          <a:xfrm>
            <a:off x="411480" y="43159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Issues + Fichiers = meilleure couverture globale. Les questions mixtes montrent encore un besoin d'amélioration du retrieval.</a:t>
            </a:r>
            <a:endParaRPr lang="en-US" sz="1050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4D9A9BB-1183-C905-AC11-4203703C8073}"/>
              </a:ext>
            </a:extLst>
          </p:cNvPr>
          <p:cNvSpPr txBox="1"/>
          <p:nvPr/>
        </p:nvSpPr>
        <p:spPr>
          <a:xfrm>
            <a:off x="6473952" y="1659707"/>
            <a:ext cx="463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A ≈ B (déjà bon)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2BFB6F5-8165-E73E-017D-B2689AFC22AC}"/>
              </a:ext>
            </a:extLst>
          </p:cNvPr>
          <p:cNvSpPr txBox="1"/>
          <p:nvPr/>
        </p:nvSpPr>
        <p:spPr>
          <a:xfrm>
            <a:off x="6473952" y="2560279"/>
            <a:ext cx="6010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B &gt;&gt; A (A ne peut pas répondre)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11E32C2-BAC9-116D-954E-AEE00676AC4E}"/>
              </a:ext>
            </a:extLst>
          </p:cNvPr>
          <p:cNvSpPr txBox="1"/>
          <p:nvPr/>
        </p:nvSpPr>
        <p:spPr>
          <a:xfrm>
            <a:off x="6473952" y="3364992"/>
            <a:ext cx="6266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B meilleur mais </a:t>
            </a:r>
            <a:r>
              <a:rPr lang="fr-FR" sz="1400" dirty="0" err="1"/>
              <a:t>retrieval</a:t>
            </a:r>
            <a:r>
              <a:rPr lang="fr-FR" sz="1400" dirty="0"/>
              <a:t> </a:t>
            </a:r>
          </a:p>
          <a:p>
            <a:r>
              <a:rPr lang="fr-FR" sz="1400" dirty="0"/>
              <a:t>encore bruité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faire — Plan concret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9418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3429000" y="9418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Critique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941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Stabiliser le runner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3807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24 exceptions techniques (parsing JSON, timeouts, rate limit)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crash =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2"/>
          <p:cNvSpPr/>
          <p:nvPr/>
        </p:nvSpPr>
        <p:spPr>
          <a:xfrm>
            <a:off x="274320" y="2240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29000" y="23134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4"/>
          <p:cNvSpPr/>
          <p:nvPr/>
        </p:nvSpPr>
        <p:spPr>
          <a:xfrm>
            <a:off x="3429000" y="23134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Critique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2270219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 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837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(board/component/layer)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st_ready_text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keywords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: USB / Ethernet / FDCAN / I2C / ADC / DMA — domaines encore faibles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429000" y="36850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3429000" y="3685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Haut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Durcir le contrat de réponse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1239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+ preuve + action + niveau de confiance explicite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4709160" y="868680"/>
            <a:ext cx="502920" cy="1188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709160" y="8686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863840" y="9418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7863840" y="9418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Haut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03520" y="941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resolver cases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13807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fr-FR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liens issue ↔ PR ↔ commit exploitables</a:t>
            </a:r>
          </a:p>
        </p:txBody>
      </p:sp>
      <p:sp>
        <p:nvSpPr>
          <p:cNvPr id="33" name="Shape 31"/>
          <p:cNvSpPr/>
          <p:nvPr/>
        </p:nvSpPr>
        <p:spPr>
          <a:xfrm>
            <a:off x="4709160" y="22402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709160" y="2240280"/>
            <a:ext cx="50292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4709160" y="22402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863840" y="23134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Text 35"/>
          <p:cNvSpPr/>
          <p:nvPr/>
        </p:nvSpPr>
        <p:spPr>
          <a:xfrm>
            <a:off x="7863840" y="23134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Moyen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03520" y="23134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cycle 50Q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6380" y="2714119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comparer score min par question P0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Text 40"/>
          <p:cNvSpPr/>
          <p:nvPr/>
        </p:nvSpPr>
        <p:spPr>
          <a:xfrm>
            <a:off x="470916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7863840" y="368503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42"/>
          <p:cNvSpPr/>
          <p:nvPr/>
        </p:nvSpPr>
        <p:spPr>
          <a:xfrm>
            <a:off x="7863840" y="3685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Moyen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03520" y="3685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périmètre repos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41239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+ autres séries après stabilisation H7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validation &amp; retours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4864" cy="4023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go / no-go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371600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exception runner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691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d'exécution totale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176272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génériques &lt; 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retrieval acceptable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8094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1148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980944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minimum atteint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39699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Sources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citées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liens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valides</a:t>
            </a: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8561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41148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785616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06240" cy="4023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54864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4828032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retours de </a:t>
            </a:r>
            <a:r>
              <a:rPr lang="en-US" sz="1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la suite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36592" y="1389888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Text 26"/>
          <p:cNvSpPr/>
          <p:nvPr/>
        </p:nvSpPr>
        <p:spPr>
          <a:xfrm>
            <a:off x="4864608" y="1389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support les plus fréquents à couvrir en priorité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01168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4864608" y="2011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STM32 où la réponse est la plus attendue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2633472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Text 30"/>
          <p:cNvSpPr/>
          <p:nvPr/>
        </p:nvSpPr>
        <p:spPr>
          <a:xfrm>
            <a:off x="4864608" y="26334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réponse souhaité (diagnostic, fix, contexte...)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3255264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2"/>
          <p:cNvSpPr/>
          <p:nvPr/>
        </p:nvSpPr>
        <p:spPr>
          <a:xfrm>
            <a:off x="4864608" y="32552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détail acceptable pour usage interne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3877056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34"/>
          <p:cNvSpPr/>
          <p:nvPr/>
        </p:nvSpPr>
        <p:spPr>
          <a:xfrm>
            <a:off x="4864608" y="38770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acceptables d'un tel assistant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7132320" y="2011680"/>
            <a:ext cx="3200400" cy="3200400"/>
          </a:xfrm>
          <a:prstGeom prst="ellipse">
            <a:avLst/>
          </a:prstGeom>
          <a:solidFill>
            <a:srgbClr val="1A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 pipeline complet et opérationnel sur H7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Issues + fichiers + PRs/commits intégrés dans la KB 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18 diagnostic cards livrées, 50 questions de test cadré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runner + renforcement retrieval = prochaine étape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assistant IA utile et traçable pour le support STM32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retours &amp; discussion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1349</Words>
  <Application>Microsoft Office PowerPoint</Application>
  <PresentationFormat>Affichage à l'écran (16:9)</PresentationFormat>
  <Paragraphs>318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de Stage PFE — Pipeline STM32Cube pour RAG</dc:title>
  <dc:subject>PptxGenJS Presentation</dc:subject>
  <dc:creator>Stagiaire PFE — STMicroelectronics Tunis</dc:creator>
  <cp:lastModifiedBy>abir</cp:lastModifiedBy>
  <cp:revision>5</cp:revision>
  <dcterms:created xsi:type="dcterms:W3CDTF">2026-05-01T18:31:44Z</dcterms:created>
  <dcterms:modified xsi:type="dcterms:W3CDTF">2026-05-02T10:32:20Z</dcterms:modified>
</cp:coreProperties>
</file>